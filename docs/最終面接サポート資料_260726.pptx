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docProps/core.xml" ContentType="application/vnd.openxmlformats-package.core-properties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Relationship Id="rIdCore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  <p:sldMasterId id="2147483661" r:id="rId90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0" r:id="rId30"/>
    <p:sldId id="281" r:id="rId31"/>
    <p:sldId id="282" r:id="rId32"/>
    <p:sldId id="276" r:id="rId26"/>
    <p:sldId id="277" r:id="rId27"/>
    <p:sldId id="283" r:id="rId33"/>
    <p:sldId id="278" r:id="rId28"/>
    <p:sldId id="279" r:id="rId29"/>
    <p:sldId id="290" r:id="rId91"/>
    <p:sldId id="291" r:id="rId92"/>
    <p:sldId id="292" r:id="rId93"/>
    <p:sldId id="293" r:id="rId9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69F5A2-0942-4E9E-A437-0BE441E8CB8A}">
  <a:tblStyle styleId="{D669F5A2-0942-4E9E-A437-0BE441E8CB8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30" Type="http://schemas.openxmlformats.org/officeDocument/2006/relationships/slide" Target="slides/slide25.xml"/>
  <Relationship Id="rId31" Type="http://schemas.openxmlformats.org/officeDocument/2006/relationships/slide" Target="slides/slide26.xml"/>
  <Relationship Id="rId32" Type="http://schemas.openxmlformats.org/officeDocument/2006/relationships/slide" Target="slides/slide27.xml"/>
  <Relationship Id="rId33" Type="http://schemas.openxmlformats.org/officeDocument/2006/relationships/slide" Target="slides/slide28.xml"/>
<Relationship Id="rId90" Type="http://schemas.openxmlformats.org/officeDocument/2006/relationships/slideMaster" Target="slideMasters/slideMaster2.xml"/><Relationship Id="rId91" Type="http://schemas.openxmlformats.org/officeDocument/2006/relationships/slide" Target="slides/slide29.xml"/><Relationship Id="rId92" Type="http://schemas.openxmlformats.org/officeDocument/2006/relationships/slide" Target="slides/slide30.xml"/><Relationship Id="rId93" Type="http://schemas.openxmlformats.org/officeDocument/2006/relationships/slide" Target="slides/slide31.xml"/><Relationship Id="rId94" Type="http://schemas.openxmlformats.org/officeDocument/2006/relationships/slide" Target="slides/slide3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9.xml" Id="R31a4f736555d4d97" /><Relationship Type="http://schemas.openxmlformats.org/officeDocument/2006/relationships/notesMaster" Target="/ppt/notesMasters/notesMaster1.xml" Id="R3e91bb044d72498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30.xml" Id="Reee74a8ff1884fd0" /><Relationship Type="http://schemas.openxmlformats.org/officeDocument/2006/relationships/notesMaster" Target="/ppt/notesMasters/notesMaster1.xml" Id="Rd8869d750f90401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31.xml" Id="Rc89102be69d44c6c" /><Relationship Type="http://schemas.openxmlformats.org/officeDocument/2006/relationships/notesMaster" Target="/ppt/notesMasters/notesMaster1.xml" Id="R90ea16d6698f468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32.xml" Id="Ra8fe707275424dfc" /><Relationship Type="http://schemas.openxmlformats.org/officeDocument/2006/relationships/notesMaster" Target="/ppt/notesMasters/notesMaster1.xml" Id="R72f87cbfb0244293"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推奨使用場面：面接冒頭。条件説明の前に、会社選びの視点を切り替えたいとき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着地点：初任給ではなく、長期でどこまで任されるかを見る。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推奨使用場面：会社の将来性、規模、安定性に不安がある候補者へ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着地点：大きくなる過程そのものが、候補者のキャリア機会になる。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推奨使用場面：若手が上がれるのか、年功序列ではないかを気にしている候補者へ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着地点：年齢や社歴ではなく、実際に若手が短期間で任されている。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推奨使用場面：「入社しても席がないのでは」「キャリアアップは本当か」という不安へ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着地点：1年後に必要な席数と空席数を数字で示す。</a:t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推奨使用場面：中長期のキャリア幅を見せたいとき。マネジメント志向の候補者へ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着地点：2年で営業組織が倍増し、部長席を含む上位ポジションが増える。</a:t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推奨使用場面：若手登用の話を「感覚」ではなく実績数字で裏付けたいとき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着地点：23歳・1年・9/11の3数字で、若手登用が例外ではないと示す。</a:t>
            </a:r>
            <a:endParaRPr/>
          </a:p>
        </p:txBody>
      </p:sp>
      <p:sp>
        <p:nvSpPr>
          <p:cNvPr id="201" name="Google Shape;20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推奨使用場面：「将来どこまで行けるのか」を具体化するとき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着地点：個人営業で終わらず、育成・事業戦略へと任される範囲が広がる。</a:t>
            </a:r>
            <a:endParaRPr/>
          </a:p>
        </p:txBody>
      </p:sp>
      <p:sp>
        <p:nvSpPr>
          <p:cNvPr id="226" name="Google Shape;22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推奨使用場面：年収レンジとキャリアの関係を質問されたとき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着地点：報酬だけでなく、上がるほど育成・組織・経営へと責任が広がる。</a:t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推奨使用場面：年収の上限、再現性、リスクを質問されたとき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着地点：高い実績だけでなく下降例も開示し、成果主義の現実を誠実に伝える。</a:t>
            </a:r>
            <a:endParaRPr/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推奨使用場面：研修・教育体制を質問されたとき。受け身の候補者に現実も伝えたいとき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着地点：毎日5本、お手本トークを模倣して自分で録画する。手厚さと同時に、毎日繰り返す厳しさも明確にする。</a:t>
            </a:r>
            <a:endParaRPr/>
          </a:p>
        </p:txBody>
      </p:sp>
      <p:sp>
        <p:nvSpPr>
          <p:cNvPr id="385" name="Google Shape;38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推奨使用場面：給料・成長以外の、仕事の意味や商品への共感を確かめたいとき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着地点：高額商品を売るのではなく、家族の未来の住まいを提案する。</a:t>
            </a:r>
            <a:endParaRPr/>
          </a:p>
        </p:txBody>
      </p:sp>
      <p:sp>
        <p:nvSpPr>
          <p:cNvPr id="424" name="Google Shape;42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推奨使用場面：投資用不動産会社と比較している候補者へ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着地点：商品・顧客関係・営業手法・残る力の4軸で、仕事の性質の違いを示す。</a:t>
            </a:r>
            <a:endParaRPr/>
          </a:p>
        </p:txBody>
      </p:sp>
      <p:sp>
        <p:nvSpPr>
          <p:cNvPr id="443" name="Google Shape;44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推奨使用場面：人材業界との年収差を数字で聞かれたとき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着地点：広すぎる産業分類ではなく、同一データの営業職種比較で答える。建設営業を含む区分である点も口頭で伝える。</a:t>
            </a:r>
            <a:endParaRPr/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推奨使用場面：平均値だけでは違いが伝わりにくいとき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着地点：上位年収帯の厚みを見せる。ただし個人の到達を保証する数字ではない。</a:t>
            </a:r>
            <a:endParaRPr/>
          </a:p>
        </p:txBody>
      </p:sp>
      <p:sp>
        <p:nvSpPr>
          <p:cNvPr id="503" name="Google Shape;50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推奨使用場面：外部統計からTBHの給与制度へ話をつなぐとき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着地点：業界平均ではなく、候補者が入る会社の給与設計と実績レンジを確認する。</a:t>
            </a:r>
            <a:endParaRPr/>
          </a:p>
        </p:txBody>
      </p:sp>
      <p:sp>
        <p:nvSpPr>
          <p:cNvPr id="533" name="Google Shape;53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3" name="Google Shape;56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推奨使用場面：業界の先行きや市場規模を不安視している候補者へ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着地点：GDP比ではなく、住宅数・持ち家率・実際の住宅投資で市場の土台を示す。</a:t>
            </a:r>
            <a:endParaRPr/>
          </a:p>
        </p:txBody>
      </p:sp>
      <p:sp>
        <p:nvSpPr>
          <p:cNvPr id="564" name="Google Shape;56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推奨使用場面：住宅購入を後押しする政策環境を説明するとき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着地点：古い2025年制度ではなく、2026年時点の3制度を要件付きで紹介する。</a:t>
            </a:r>
            <a:endParaRPr/>
          </a:p>
        </p:txBody>
      </p:sp>
      <p:sp>
        <p:nvSpPr>
          <p:cNvPr id="591" name="Google Shape;59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推奨使用場面：20代で高年収を目指したい候補者へ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着地点：22歳に近い20〜24歳の全国実数を示す。到達には、個人差だけでなく業界・商材・報酬設計の選択が要る。</a:t>
            </a:r>
            <a:endParaRPr/>
          </a:p>
        </p:txBody>
      </p:sp>
      <p:sp>
        <p:nvSpPr>
          <p:cNvPr id="619" name="Google Shape;61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推奨使用場面：どの業界なら20代1000万円に届くか聞かれたとき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着地点：会社名の羅列ではなく、高単価・成果可視化・報酬連動の構造で説明する。</a:t>
            </a:r>
            <a:endParaRPr/>
          </a:p>
        </p:txBody>
      </p:sp>
      <p:sp>
        <p:nvSpPr>
          <p:cNvPr id="643" name="Google Shape;64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推奨使用場面：高年収への再現性を確認したい候補者へ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着地点：給与だけでなく、打席と成長支援がそろっているかを確認する。</a:t>
            </a:r>
            <a:endParaRPr/>
          </a:p>
        </p:txBody>
      </p:sp>
      <p:sp>
        <p:nvSpPr>
          <p:cNvPr id="676" name="Google Shape;676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3" name="Google Shape;70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推奨使用場面：AIで営業がなくなるのではと聞かれたとき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着地点：職業ごと消えると言い切らず、まず定型タスクの自動化が進むと説明する。</a:t>
            </a:r>
            <a:endParaRPr/>
          </a:p>
        </p:txBody>
      </p:sp>
      <p:sp>
        <p:nvSpPr>
          <p:cNvPr id="704" name="Google Shape;70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4" name="Google Shape;73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推奨使用場面：AI時代に残るスキルを説明するとき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着地点：対面営業で培う傾聴・影響力・顧客対応は、企業が重視する中核スキルと重なる。</a:t>
            </a:r>
            <a:endParaRPr/>
          </a:p>
        </p:txBody>
      </p:sp>
      <p:sp>
        <p:nvSpPr>
          <p:cNvPr id="735" name="Google Shape;73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推奨使用場面：最後の条件比較を、長期のキャリア選択に戻したいとき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着地点：人材・住宅は同一のdodaデータ。TBHは各役職レンジ下限を使った標準昇格モデルで、保証値ではない。</a:t>
            </a:r>
            <a:endParaRPr/>
          </a:p>
        </p:txBody>
      </p:sp>
      <p:sp>
        <p:nvSpPr>
          <p:cNvPr id="758" name="Google Shape;758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5" name="Google Shape;83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推奨使用場面：面接の最後。その場で承諾を迫らず、考える問いを残したいとき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着地点：候補者自身に2035年の席を想像してもらい、入社前の質問窓口も明確にする。</a:t>
            </a:r>
            <a:endParaRPr/>
          </a:p>
        </p:txBody>
      </p:sp>
      <p:sp>
        <p:nvSpPr>
          <p:cNvPr id="836" name="Google Shape;83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推奨使用場面：学歴による生涯賃金差を補足したいとき</a:t>
            </a:r>
          </a:p>
          <a:p xmlns:a="http://schemas.openxmlformats.org/drawingml/2006/main">
            <a:r>
              <a:t>着地点：学歴差はある。ただし、その後の仕事選びで差は固定されないと前置きする。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推奨使用場面：70歳まで働いた場合の学歴群差を説明するとき</a:t>
            </a:r>
          </a:p>
          <a:p xmlns:a="http://schemas.openxmlformats.org/drawingml/2006/main">
            <a:r>
              <a:t>着地点：大卒全体平均ではなく、G-MARCH・早慶上智の代表6校平均を使った参考推計であることを必ず伝える。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推奨使用場面：高卒・大学群別の差を一枚で見せたいとき</a:t>
            </a:r>
          </a:p>
          <a:p xmlns:a="http://schemas.openxmlformats.org/drawingml/2006/main">
            <a:r>
              <a:t>着地点：大学群別は公的な生涯賃金ではなく参考推計。断定せず、方向感だけに使う。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推奨使用場面：学歴の話を自己効力感につなげたいとき</a:t>
            </a:r>
          </a:p>
          <a:p xmlns:a="http://schemas.openxmlformats.org/drawingml/2006/main">
            <a:r>
              <a:t>着地点：学歴差を否定せず、今から変えられる業界・商材・環境の選択に戻す。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Type="http://schemas.openxmlformats.org/officeDocument/2006/relationships/slideMaster" Target="/ppt/slideMasters/slideMaster2.xml" Id="R111397dd96c54444"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Type="http://schemas.openxmlformats.org/officeDocument/2006/relationships/theme" Target="/ppt/theme/theme3.xml" Id="R47d388ae51494216" /><Relationship Type="http://schemas.openxmlformats.org/officeDocument/2006/relationships/slideLayout" Target="/ppt/slideLayouts/slideLayout2.xml" Id="Rf123b03c99544823"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f123b03c9954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6048caefce4742" /><Relationship Type="http://schemas.openxmlformats.org/officeDocument/2006/relationships/image" Target="/ppt/media/imageA1.jpeg" Id="Rafc0565d679f4f48" /><Relationship Type="http://schemas.openxmlformats.org/officeDocument/2006/relationships/notesSlide" Target="/ppt/notesSlides/notesSlide25.xml" Id="Rffc01df739a4480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416cbfa47048b5" /><Relationship Type="http://schemas.openxmlformats.org/officeDocument/2006/relationships/image" Target="/ppt/media/imageA2.jpeg" Id="R1ffcd7a1ef8f4d12" /><Relationship Type="http://schemas.openxmlformats.org/officeDocument/2006/relationships/notesSlide" Target="/ppt/notesSlides/notesSlide26.xml" Id="Rca77284c0bca4e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179999b714e65" /><Relationship Type="http://schemas.openxmlformats.org/officeDocument/2006/relationships/image" Target="/ppt/media/imageA3.jpeg" Id="R56082b15c9a7424e" /><Relationship Type="http://schemas.openxmlformats.org/officeDocument/2006/relationships/notesSlide" Target="/ppt/notesSlides/notesSlide27.xml" Id="R9800c74efcce48e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7de52a58034f43" /><Relationship Type="http://schemas.openxmlformats.org/officeDocument/2006/relationships/image" Target="/ppt/media/imageA4.jpeg" Id="R9997f381ba144054" /><Relationship Type="http://schemas.openxmlformats.org/officeDocument/2006/relationships/notesSlide" Target="/ppt/notesSlides/notesSlide28.xml" Id="R6e012c7e2e2743cd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7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858250" y="0"/>
            <a:ext cx="3333750" cy="6858000"/>
          </a:xfrm>
          <a:prstGeom prst="rect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410700" y="0"/>
            <a:ext cx="133350" cy="6858000"/>
          </a:xfrm>
          <a:prstGeom prst="rect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85800" y="142875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TOKYO BIG HOUSE 最終面接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85800" y="1962150"/>
            <a:ext cx="7620000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生涯の意思決定の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話をしよう。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85800" y="4000500"/>
            <a:ext cx="1409700" cy="57150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85800" y="4343400"/>
            <a:ext cx="7239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初任給の差は、数万円。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でも、どの山を登るかで「生涯年収」が変わる。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810750" y="4781550"/>
            <a:ext cx="1809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INTERVIEW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 DECK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1010900" y="61912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410150"/>
            <a:ext cx="1946275" cy="4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01｜会社の成長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555億円へ。伸びる会社には、空いている席がある</a:t>
            </a:r>
            <a:endParaRPr/>
          </a:p>
        </p:txBody>
      </p:sp>
      <p:cxnSp>
        <p:nvCxnSpPr>
          <p:cNvPr id="34" name="Google Shape;34;p4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P.02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85800" y="16764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962900" y="16764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2035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85800" y="2114550"/>
            <a:ext cx="2095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6150"/>
              <a:buFont typeface="Arial"/>
              <a:buNone/>
            </a:pPr>
            <a:r>
              <a:rPr b="1" lang="en-US" sz="61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2476500" y="2647950"/>
            <a:ext cx="876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億円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85800" y="321945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売上 26億円／社員 55名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095750" y="2324100"/>
            <a:ext cx="2286000" cy="742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343400" y="2505075"/>
            <a:ext cx="1562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約21倍へ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848600" y="2019300"/>
            <a:ext cx="28575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6900"/>
              <a:buFont typeface="Arial"/>
              <a:buNone/>
            </a:pPr>
            <a:r>
              <a:rPr b="1" lang="en-US" sz="69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555</a:t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0039350" y="2647950"/>
            <a:ext cx="142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億円体制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66750" y="3981450"/>
            <a:ext cx="10839450" cy="1390650"/>
          </a:xfrm>
          <a:prstGeom prst="roundRect">
            <a:avLst>
              <a:gd fmla="val 12329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028700" y="4267200"/>
            <a:ext cx="8477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その幹部の席が、今は空いている。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028700" y="4781550"/>
            <a:ext cx="847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埋めるのは、10年後のあなた。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525000" y="4276725"/>
            <a:ext cx="15716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10 YEARS</a:t>
            </a:r>
            <a:endParaRPr/>
          </a:p>
        </p:txBody>
      </p:sp>
      <p:pic>
        <p:nvPicPr>
          <p:cNvPr id="50" name="Google Shape;5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02｜キャリアの空席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いまのリーダーは、全員が入社1年で登用</a:t>
            </a:r>
            <a:endParaRPr/>
          </a:p>
        </p:txBody>
      </p:sp>
      <p:cxnSp>
        <p:nvCxnSpPr>
          <p:cNvPr id="59" name="Google Shape;59;p5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5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P.03</a:t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2026.09｜販売営業の現在地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47700" y="1933575"/>
            <a:ext cx="104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部長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47700" y="2638425"/>
            <a:ext cx="104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課長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47700" y="3362325"/>
            <a:ext cx="104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リーダー</a:t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47700" y="4238625"/>
            <a:ext cx="104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営業担当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829300" y="1885950"/>
            <a:ext cx="12382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905500" y="1924050"/>
            <a:ext cx="1085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部長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2628900" y="2590800"/>
            <a:ext cx="13525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705100" y="2628900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課長 1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438650" y="2590800"/>
            <a:ext cx="13525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514850" y="2628900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課長 2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248400" y="2590800"/>
            <a:ext cx="13525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324600" y="2628900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課長 3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058150" y="2590800"/>
            <a:ext cx="135255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134350" y="2628900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課長 4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23050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23812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L1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7909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8671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L2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2768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3530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7627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8389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L4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2486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3248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L5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9734550" y="3314700"/>
            <a:ext cx="1219200" cy="381000"/>
          </a:xfrm>
          <a:prstGeom prst="roundRect">
            <a:avLst>
              <a:gd fmla="val 25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810750" y="33528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L6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2076450" y="4114800"/>
            <a:ext cx="9048750" cy="704850"/>
          </a:xfrm>
          <a:prstGeom prst="roundRect">
            <a:avLst>
              <a:gd fmla="val 16216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2381250" y="4238625"/>
            <a:ext cx="8382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営業担当 約15名／平均年齢20代前半</a:t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2000250" y="5219700"/>
            <a:ext cx="9201150" cy="685800"/>
          </a:xfrm>
          <a:prstGeom prst="roundRect">
            <a:avLst>
              <a:gd fmla="val 19444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2305050" y="5343525"/>
            <a:ext cx="866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リーダーの平均年齢 23歳。全員が入社1年で登用。</a:t>
            </a:r>
            <a:endParaRPr/>
          </a:p>
        </p:txBody>
      </p:sp>
      <p:pic>
        <p:nvPicPr>
          <p:cNvPr id="93" name="Google Shape;9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02｜キャリアの空席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1年後、課長6席・リーダー13席が空く</a:t>
            </a:r>
            <a:endParaRPr/>
          </a:p>
        </p:txBody>
      </p:sp>
      <p:cxnSp>
        <p:nvCxnSpPr>
          <p:cNvPr id="102" name="Google Shape;102;p6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P.04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2027.10.01｜55名体制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896100" y="139065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1マス＝1席（営業担当を除く）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9467850" y="1438275"/>
            <a:ext cx="171450" cy="171450"/>
          </a:xfrm>
          <a:prstGeom prst="roundRect">
            <a:avLst>
              <a:gd fmla="val 22222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9696450" y="1390650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0325100" y="1438275"/>
            <a:ext cx="171450" cy="171450"/>
          </a:xfrm>
          <a:prstGeom prst="roundRect">
            <a:avLst>
              <a:gd fmla="val 22222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0553700" y="1390650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33400" y="19812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部長 2席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2000250" y="1952625"/>
            <a:ext cx="16192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2057400" y="2000250"/>
            <a:ext cx="1504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733800" y="1952625"/>
            <a:ext cx="16192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790950" y="2000250"/>
            <a:ext cx="1504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533400" y="27051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課長 10席</a:t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200025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05740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90512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296227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81000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86715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71487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77202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在籍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61975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67690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52462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58177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742950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48665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33437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39152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9239250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9296400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0144125" y="2676525"/>
            <a:ext cx="8191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0201275" y="2724150"/>
            <a:ext cx="70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空席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33400" y="34290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リーダー 16席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20002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25908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31813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37719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3624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9530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5435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1341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7246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3152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9057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84963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90868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96774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1026795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0858500" y="3400425"/>
            <a:ext cx="514350" cy="457200"/>
          </a:xfrm>
          <a:prstGeom prst="roundRect">
            <a:avLst>
              <a:gd fmla="val 16667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33400" y="4333875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営業担当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2000250" y="4305300"/>
            <a:ext cx="3543300" cy="51435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2190750" y="4362450"/>
            <a:ext cx="3162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現在 約20名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77215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29602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81990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734377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86765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839152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91540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943927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9963150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10487025" y="4305300"/>
            <a:ext cx="447675" cy="514350"/>
          </a:xfrm>
          <a:prstGeom prst="roundRect">
            <a:avLst>
              <a:gd fmla="val 17021" name="adj"/>
            </a:avLst>
          </a:prstGeom>
          <a:solidFill>
            <a:srgbClr val="F7F5F0"/>
          </a:solidFill>
          <a:ln cap="flat" cmpd="sng" w="19050">
            <a:solidFill>
              <a:srgbClr val="F4742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772150" y="4895850"/>
            <a:ext cx="5162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採用枠 10〜20名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2000250" y="5314950"/>
            <a:ext cx="8934450" cy="609600"/>
          </a:xfrm>
          <a:prstGeom prst="roundRect">
            <a:avLst>
              <a:gd fmla="val 21875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2247900" y="5410200"/>
            <a:ext cx="84391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この空席を埋めるのは、いまの社員と、あなた。</a:t>
            </a:r>
            <a:endParaRPr/>
          </a:p>
        </p:txBody>
      </p:sp>
      <p:pic>
        <p:nvPicPr>
          <p:cNvPr id="170" name="Google Shape;17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02｜キャリアの空席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2年後、営業40名。部長の席も増える</a:t>
            </a:r>
            <a:endParaRPr/>
          </a:p>
        </p:txBody>
      </p:sp>
      <p:cxnSp>
        <p:nvCxnSpPr>
          <p:cNvPr id="179" name="Google Shape;179;p7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7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P.05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2028.10.01｜2営業部体制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95350" y="2095500"/>
            <a:ext cx="238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6900"/>
              <a:buFont typeface="Arial"/>
              <a:buNone/>
            </a:pPr>
            <a:r>
              <a:rPr b="1" lang="en-US" sz="6900">
                <a:solidFill>
                  <a:srgbClr val="152255"/>
                </a:solidFill>
              </a:rPr>
              <a:t>25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2800350" y="2667000"/>
            <a:ext cx="571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名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914400" y="327660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いまの営業組織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943350" y="2343150"/>
            <a:ext cx="2571750" cy="742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248150" y="2505075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2年で</a:t>
            </a:r>
            <a:r>
              <a:rPr b="1" lang="en-US" sz="1725">
                <a:solidFill>
                  <a:srgbClr val="FFFFFF"/>
                </a:solidFill>
              </a:rPr>
              <a:t>3</a:t>
            </a: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倍へ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7658100" y="2095500"/>
            <a:ext cx="238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6900"/>
              <a:buFont typeface="Arial"/>
              <a:buNone/>
            </a:pPr>
            <a:r>
              <a:rPr b="1" lang="en-US" sz="6900">
                <a:solidFill>
                  <a:srgbClr val="F47421"/>
                </a:solidFill>
              </a:rPr>
              <a:t>75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9563100" y="2667000"/>
            <a:ext cx="571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名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7677150" y="327660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営業体制</a:t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85800" y="4095750"/>
            <a:ext cx="10820400" cy="12573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1009650" y="434340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47421"/>
                </a:solidFill>
              </a:rPr>
              <a:t>５</a:t>
            </a:r>
            <a:r>
              <a:rPr b="1" lang="en-US" sz="18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営業部体制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1009650" y="480060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部長の席が増え</a:t>
            </a:r>
            <a:r>
              <a:rPr b="1" lang="en-US" sz="1800">
                <a:solidFill>
                  <a:srgbClr val="152255"/>
                </a:solidFill>
              </a:rPr>
              <a:t>つづける</a:t>
            </a:r>
            <a:endParaRPr/>
          </a:p>
        </p:txBody>
      </p:sp>
      <p:cxnSp>
        <p:nvCxnSpPr>
          <p:cNvPr id="194" name="Google Shape;194;p7"/>
          <p:cNvCxnSpPr/>
          <p:nvPr/>
        </p:nvCxnSpPr>
        <p:spPr>
          <a:xfrm>
            <a:off x="6381750" y="4305300"/>
            <a:ext cx="0" cy="7810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7"/>
          <p:cNvSpPr/>
          <p:nvPr/>
        </p:nvSpPr>
        <p:spPr>
          <a:xfrm>
            <a:off x="6800850" y="4433888"/>
            <a:ext cx="4000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課長・リーダーも、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組織の成長分だけ必要になる。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85800" y="5600700"/>
            <a:ext cx="10820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あなた</a:t>
            </a:r>
            <a:r>
              <a:rPr b="1" lang="en-US" sz="1875">
                <a:solidFill>
                  <a:srgbClr val="F47421"/>
                </a:solidFill>
              </a:rPr>
              <a:t>にも部長の席を狙ってほしい</a:t>
            </a: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03｜任されるスピード</a:t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任される速さは、実績で見ても速い</a:t>
            </a:r>
            <a:endParaRPr/>
          </a:p>
        </p:txBody>
      </p:sp>
      <p:cxnSp>
        <p:nvCxnSpPr>
          <p:cNvPr id="206" name="Google Shape;206;p8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8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P.06</a:t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33400" y="139065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実測｜2026年7月時点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85800" y="198120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550"/>
              <a:buFont typeface="Arial"/>
              <a:buNone/>
            </a:pPr>
            <a:r>
              <a:rPr b="1" lang="en-US" sz="55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2066925" y="229552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歳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85800" y="276225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営業リーダー7名の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平均年齢</a:t>
            </a:r>
            <a:endParaRPr/>
          </a:p>
        </p:txBody>
      </p:sp>
      <p:cxnSp>
        <p:nvCxnSpPr>
          <p:cNvPr id="213" name="Google Shape;213;p8"/>
          <p:cNvCxnSpPr/>
          <p:nvPr/>
        </p:nvCxnSpPr>
        <p:spPr>
          <a:xfrm>
            <a:off x="3810000" y="1962150"/>
            <a:ext cx="0" cy="27813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8"/>
          <p:cNvSpPr/>
          <p:nvPr/>
        </p:nvSpPr>
        <p:spPr>
          <a:xfrm>
            <a:off x="4438650" y="198120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550"/>
              <a:buFont typeface="Arial"/>
              <a:buNone/>
            </a:pPr>
            <a:r>
              <a:rPr b="1" lang="en-US" sz="55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5448300" y="229552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年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438650" y="2762250"/>
            <a:ext cx="2857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ユニットを任された7名は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全員が入社1年程度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（最短3か月）</a:t>
            </a:r>
            <a:endParaRPr/>
          </a:p>
        </p:txBody>
      </p:sp>
      <p:cxnSp>
        <p:nvCxnSpPr>
          <p:cNvPr id="217" name="Google Shape;217;p8"/>
          <p:cNvCxnSpPr/>
          <p:nvPr/>
        </p:nvCxnSpPr>
        <p:spPr>
          <a:xfrm>
            <a:off x="7562850" y="1962150"/>
            <a:ext cx="0" cy="27813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8"/>
          <p:cNvSpPr/>
          <p:nvPr/>
        </p:nvSpPr>
        <p:spPr>
          <a:xfrm>
            <a:off x="8172450" y="1981200"/>
            <a:ext cx="3143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9/11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8172450" y="2762250"/>
            <a:ext cx="314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課長・リーダー11名のうち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9名が20代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85800" y="5124450"/>
            <a:ext cx="10629900" cy="781050"/>
          </a:xfrm>
          <a:prstGeom prst="roundRect">
            <a:avLst>
              <a:gd fmla="val 17073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990600" y="5276850"/>
            <a:ext cx="10020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「若いからまだ早い」ではなく、</a:t>
            </a:r>
            <a:r>
              <a:rPr b="1" lang="en-US" sz="2025">
                <a:solidFill>
                  <a:srgbClr val="FFFFFF"/>
                </a:solidFill>
              </a:rPr>
              <a:t>どんどん</a:t>
            </a:r>
            <a:r>
              <a:rPr b="1" lang="en-US" sz="20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任せる。</a:t>
            </a:r>
            <a:endParaRPr/>
          </a:p>
        </p:txBody>
      </p:sp>
      <p:pic>
        <p:nvPicPr>
          <p:cNvPr id="222" name="Google Shape;22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03｜任されるスピード</a:t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学歴・社歴ではなく、</a:t>
            </a:r>
            <a:r>
              <a:rPr b="1" lang="en-US" sz="2925">
                <a:solidFill>
                  <a:srgbClr val="152255"/>
                </a:solidFill>
              </a:rPr>
              <a:t>実力次第でどんどん</a:t>
            </a: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上がる</a:t>
            </a:r>
            <a:endParaRPr/>
          </a:p>
        </p:txBody>
      </p:sp>
      <p:cxnSp>
        <p:nvCxnSpPr>
          <p:cNvPr id="231" name="Google Shape;231;p9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9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P.07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完全実力主義｜キャリアの階段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533400" y="3829050"/>
            <a:ext cx="2438400" cy="1981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742950" y="4019550"/>
            <a:ext cx="2019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入社〜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742950" y="4352925"/>
            <a:ext cx="2019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営業担当</a:t>
            </a:r>
            <a:endParaRPr/>
          </a:p>
        </p:txBody>
      </p:sp>
      <p:cxnSp>
        <p:nvCxnSpPr>
          <p:cNvPr id="238" name="Google Shape;238;p9"/>
          <p:cNvCxnSpPr/>
          <p:nvPr/>
        </p:nvCxnSpPr>
        <p:spPr>
          <a:xfrm>
            <a:off x="742950" y="4953000"/>
            <a:ext cx="5334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9"/>
          <p:cNvSpPr/>
          <p:nvPr/>
        </p:nvSpPr>
        <p:spPr>
          <a:xfrm>
            <a:off x="742950" y="5181600"/>
            <a:ext cx="201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初回接点を鍛え、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社会人基礎力を磨く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3238500" y="3181350"/>
            <a:ext cx="2438400" cy="26289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3448050" y="3371850"/>
            <a:ext cx="2019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最短3か月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448050" y="3705225"/>
            <a:ext cx="2019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リーダー</a:t>
            </a:r>
            <a:endParaRPr/>
          </a:p>
        </p:txBody>
      </p:sp>
      <p:cxnSp>
        <p:nvCxnSpPr>
          <p:cNvPr id="243" name="Google Shape;243;p9"/>
          <p:cNvCxnSpPr/>
          <p:nvPr/>
        </p:nvCxnSpPr>
        <p:spPr>
          <a:xfrm>
            <a:off x="3448050" y="4305300"/>
            <a:ext cx="5334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9"/>
          <p:cNvSpPr/>
          <p:nvPr/>
        </p:nvSpPr>
        <p:spPr>
          <a:xfrm>
            <a:off x="3448050" y="4533900"/>
            <a:ext cx="2019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部下2名〜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自分と部下の数字をつくる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5">
              <a:solidFill>
                <a:srgbClr val="3440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7名全員が1年で登用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943600" y="2533650"/>
            <a:ext cx="2438400" cy="32766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153150" y="2724150"/>
            <a:ext cx="2019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新卒4年目〜／27歳</a:t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153150" y="3057525"/>
            <a:ext cx="2019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課長</a:t>
            </a:r>
            <a:endParaRPr/>
          </a:p>
        </p:txBody>
      </p:sp>
      <p:cxnSp>
        <p:nvCxnSpPr>
          <p:cNvPr id="248" name="Google Shape;248;p9"/>
          <p:cNvCxnSpPr/>
          <p:nvPr/>
        </p:nvCxnSpPr>
        <p:spPr>
          <a:xfrm>
            <a:off x="6153150" y="3657600"/>
            <a:ext cx="5334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9"/>
          <p:cNvSpPr/>
          <p:nvPr/>
        </p:nvSpPr>
        <p:spPr>
          <a:xfrm>
            <a:off x="6153150" y="3886200"/>
            <a:ext cx="2019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2チーム／6〜10名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リーダー育成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商談の決定率を上げる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8648700" y="1885950"/>
            <a:ext cx="2438400" cy="3924300"/>
          </a:xfrm>
          <a:prstGeom prst="roundRect">
            <a:avLst>
              <a:gd fmla="val 6250" name="adj"/>
            </a:avLst>
          </a:prstGeom>
          <a:solidFill>
            <a:srgbClr val="152255"/>
          </a:solidFill>
          <a:ln cap="flat" cmpd="sng" w="952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858250" y="2076450"/>
            <a:ext cx="2019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2035年の席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8858250" y="2409825"/>
            <a:ext cx="2019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部長・経営幹部</a:t>
            </a:r>
            <a:endParaRPr/>
          </a:p>
        </p:txBody>
      </p:sp>
      <p:cxnSp>
        <p:nvCxnSpPr>
          <p:cNvPr id="253" name="Google Shape;253;p9"/>
          <p:cNvCxnSpPr/>
          <p:nvPr/>
        </p:nvCxnSpPr>
        <p:spPr>
          <a:xfrm>
            <a:off x="8858250" y="3009900"/>
            <a:ext cx="5334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9"/>
          <p:cNvSpPr/>
          <p:nvPr/>
        </p:nvSpPr>
        <p:spPr>
          <a:xfrm>
            <a:off x="8858250" y="3238500"/>
            <a:ext cx="20193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事業とエリア戦略を設計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新規エリア出店を担う</a:t>
            </a:r>
            <a:endParaRPr/>
          </a:p>
        </p:txBody>
      </p:sp>
      <p:pic>
        <p:nvPicPr>
          <p:cNvPr id="255" name="Google Shape;2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04｜キャリアと報酬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役職が上がるほど、報酬と責任が大きくなる</a:t>
            </a:r>
            <a:endParaRPr/>
          </a:p>
        </p:txBody>
      </p:sp>
      <p:cxnSp>
        <p:nvCxnSpPr>
          <p:cNvPr id="264" name="Google Shape;264;p10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0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P.08</a:t>
            </a:r>
            <a:endParaRPr/>
          </a:p>
        </p:txBody>
      </p:sp>
      <p:graphicFrame>
        <p:nvGraphicFramePr>
          <p:cNvPr id="267" name="Google Shape;267;p10"/>
          <p:cNvGraphicFramePr/>
          <p:nvPr/>
        </p:nvGraphicFramePr>
        <p:xfrm>
          <a:off x="5334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{D669F5A2-0942-4E9E-A437-0BE441E8CB8A}</a:tableStyleId>
              </a:tblPr>
              <a:tblGrid>
                <a:gridCol w="1657350"/>
                <a:gridCol w="1905000"/>
                <a:gridCol w="2381250"/>
                <a:gridCol w="5181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役職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22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到達イメージ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22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年収目安（実績値）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22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任される範囲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5225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営業担当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入社〜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400〜850万円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個人の営業実績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リーダー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半年〜2年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600〜1,200万円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部下1〜3名／自分＋チーム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課長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3〜6年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900〜1,800万円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部下5〜10名／リーダー育成・業績達成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部長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6〜13年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1,200〜2,500万円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部下10〜30名／事業・エリア戦略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本部長・役員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10〜20年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7421"/>
                        </a:buClr>
                        <a:buSzPts val="1125"/>
                        <a:buFont typeface="Arial"/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F474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1,200〜4,200万円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054"/>
                        </a:buClr>
                        <a:buSzPts val="1125"/>
                        <a:buFont typeface="Arial"/>
                        <a:buNone/>
                      </a:pPr>
                      <a:r>
                        <a:rPr b="0" lang="en-US" sz="1125" u="none" cap="none" strike="noStrike">
                          <a:solidFill>
                            <a:srgbClr val="3440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部下30〜200名／経営判断・大きな戦略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8" name="Google Shape;268;p10"/>
          <p:cNvSpPr/>
          <p:nvPr/>
        </p:nvSpPr>
        <p:spPr>
          <a:xfrm>
            <a:off x="533400" y="5657850"/>
            <a:ext cx="11125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注：実在の等級・役職テーブルにもとづく想定レンジであり、到達時期や支給を保証するものではありません。</a:t>
            </a:r>
            <a:endParaRPr/>
          </a:p>
        </p:txBody>
      </p:sp>
      <p:pic>
        <p:nvPicPr>
          <p:cNvPr id="269" name="Google Shape;2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04｜キャリアと報酬</a:t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年収は上がる。ただし、一直線ではない</a:t>
            </a:r>
            <a:endParaRPr/>
          </a:p>
        </p:txBody>
      </p:sp>
      <p:cxnSp>
        <p:nvCxnSpPr>
          <p:cNvPr id="278" name="Google Shape;278;p11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1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P.09</a:t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533400" y="1390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実在5名の年収カーブ／実績・万円</a:t>
            </a:r>
            <a:endParaRPr/>
          </a:p>
        </p:txBody>
      </p:sp>
      <p:cxnSp>
        <p:nvCxnSpPr>
          <p:cNvPr id="282" name="Google Shape;282;p11"/>
          <p:cNvCxnSpPr/>
          <p:nvPr/>
        </p:nvCxnSpPr>
        <p:spPr>
          <a:xfrm>
            <a:off x="952500" y="5162550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1"/>
          <p:cNvSpPr/>
          <p:nvPr/>
        </p:nvSpPr>
        <p:spPr>
          <a:xfrm>
            <a:off x="533400" y="5067300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284" name="Google Shape;284;p11"/>
          <p:cNvCxnSpPr/>
          <p:nvPr/>
        </p:nvCxnSpPr>
        <p:spPr>
          <a:xfrm>
            <a:off x="952500" y="4329113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1"/>
          <p:cNvSpPr/>
          <p:nvPr/>
        </p:nvSpPr>
        <p:spPr>
          <a:xfrm>
            <a:off x="533400" y="4233863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500</a:t>
            </a:r>
            <a:endParaRPr/>
          </a:p>
        </p:txBody>
      </p:sp>
      <p:cxnSp>
        <p:nvCxnSpPr>
          <p:cNvPr id="286" name="Google Shape;286;p11"/>
          <p:cNvCxnSpPr/>
          <p:nvPr/>
        </p:nvCxnSpPr>
        <p:spPr>
          <a:xfrm>
            <a:off x="952500" y="3495675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1"/>
          <p:cNvSpPr/>
          <p:nvPr/>
        </p:nvSpPr>
        <p:spPr>
          <a:xfrm>
            <a:off x="533400" y="3400425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1,000</a:t>
            </a:r>
            <a:endParaRPr/>
          </a:p>
        </p:txBody>
      </p:sp>
      <p:cxnSp>
        <p:nvCxnSpPr>
          <p:cNvPr id="288" name="Google Shape;288;p11"/>
          <p:cNvCxnSpPr/>
          <p:nvPr/>
        </p:nvCxnSpPr>
        <p:spPr>
          <a:xfrm>
            <a:off x="952500" y="2662238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1"/>
          <p:cNvSpPr/>
          <p:nvPr/>
        </p:nvSpPr>
        <p:spPr>
          <a:xfrm>
            <a:off x="533400" y="2566988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1,500</a:t>
            </a:r>
            <a:endParaRPr/>
          </a:p>
        </p:txBody>
      </p:sp>
      <p:cxnSp>
        <p:nvCxnSpPr>
          <p:cNvPr id="290" name="Google Shape;290;p11"/>
          <p:cNvCxnSpPr/>
          <p:nvPr/>
        </p:nvCxnSpPr>
        <p:spPr>
          <a:xfrm>
            <a:off x="952500" y="1828800"/>
            <a:ext cx="66675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1"/>
          <p:cNvSpPr/>
          <p:nvPr/>
        </p:nvSpPr>
        <p:spPr>
          <a:xfrm>
            <a:off x="533400" y="1733550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2,000</a:t>
            </a:r>
            <a:endParaRPr/>
          </a:p>
        </p:txBody>
      </p:sp>
      <p:cxnSp>
        <p:nvCxnSpPr>
          <p:cNvPr id="292" name="Google Shape;292;p11"/>
          <p:cNvCxnSpPr/>
          <p:nvPr/>
        </p:nvCxnSpPr>
        <p:spPr>
          <a:xfrm>
            <a:off x="952500" y="1828800"/>
            <a:ext cx="0" cy="333375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11"/>
          <p:cNvSpPr/>
          <p:nvPr/>
        </p:nvSpPr>
        <p:spPr>
          <a:xfrm>
            <a:off x="8096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14763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21431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28098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34766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1433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48101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4768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1436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81037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7477125" y="5219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cxnSp>
        <p:nvCxnSpPr>
          <p:cNvPr id="304" name="Google Shape;304;p11"/>
          <p:cNvCxnSpPr/>
          <p:nvPr/>
        </p:nvCxnSpPr>
        <p:spPr>
          <a:xfrm rot="-756732">
            <a:off x="936014" y="4429958"/>
            <a:ext cx="1366473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1"/>
          <p:cNvCxnSpPr/>
          <p:nvPr/>
        </p:nvCxnSpPr>
        <p:spPr>
          <a:xfrm rot="-578883">
            <a:off x="2276434" y="4167426"/>
            <a:ext cx="1352632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1"/>
          <p:cNvCxnSpPr/>
          <p:nvPr/>
        </p:nvCxnSpPr>
        <p:spPr>
          <a:xfrm rot="-1741816">
            <a:off x="3571598" y="3869055"/>
            <a:ext cx="762555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11"/>
          <p:cNvCxnSpPr/>
          <p:nvPr/>
        </p:nvCxnSpPr>
        <p:spPr>
          <a:xfrm rot="-4028685">
            <a:off x="3761305" y="2893100"/>
            <a:ext cx="1716639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1"/>
          <p:cNvCxnSpPr/>
          <p:nvPr/>
        </p:nvCxnSpPr>
        <p:spPr>
          <a:xfrm rot="3477260">
            <a:off x="4658071" y="2634734"/>
            <a:ext cx="1256608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11"/>
          <p:cNvCxnSpPr/>
          <p:nvPr/>
        </p:nvCxnSpPr>
        <p:spPr>
          <a:xfrm rot="-1359632">
            <a:off x="5591862" y="3028117"/>
            <a:ext cx="722526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1"/>
          <p:cNvCxnSpPr/>
          <p:nvPr/>
        </p:nvCxnSpPr>
        <p:spPr>
          <a:xfrm rot="-188886">
            <a:off x="6285996" y="2870597"/>
            <a:ext cx="667758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1"/>
          <p:cNvCxnSpPr/>
          <p:nvPr/>
        </p:nvCxnSpPr>
        <p:spPr>
          <a:xfrm rot="-825978">
            <a:off x="6943390" y="2770584"/>
            <a:ext cx="686469" cy="0"/>
          </a:xfrm>
          <a:prstGeom prst="straightConnector1">
            <a:avLst/>
          </a:prstGeom>
          <a:noFill/>
          <a:ln cap="flat" cmpd="sng" w="28575">
            <a:solidFill>
              <a:srgbClr val="1522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1"/>
          <p:cNvSpPr/>
          <p:nvPr/>
        </p:nvSpPr>
        <p:spPr>
          <a:xfrm>
            <a:off x="904875" y="4531519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2238375" y="4233148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3571875" y="4006453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4238625" y="3636407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905375" y="2054543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5572125" y="3119676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6238875" y="2841307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905625" y="2804636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7572375" y="2641283"/>
            <a:ext cx="95250" cy="95250"/>
          </a:xfrm>
          <a:prstGeom prst="ellipse">
            <a:avLst/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" name="Google Shape;321;p11"/>
          <p:cNvCxnSpPr/>
          <p:nvPr/>
        </p:nvCxnSpPr>
        <p:spPr>
          <a:xfrm rot="-2139566">
            <a:off x="875565" y="4189928"/>
            <a:ext cx="820619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1"/>
          <p:cNvCxnSpPr/>
          <p:nvPr/>
        </p:nvCxnSpPr>
        <p:spPr>
          <a:xfrm rot="-317089">
            <a:off x="1617827" y="3919895"/>
            <a:ext cx="669596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1"/>
          <p:cNvCxnSpPr/>
          <p:nvPr/>
        </p:nvCxnSpPr>
        <p:spPr>
          <a:xfrm rot="570526">
            <a:off x="2281356" y="3944898"/>
            <a:ext cx="676039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1"/>
          <p:cNvCxnSpPr/>
          <p:nvPr/>
        </p:nvCxnSpPr>
        <p:spPr>
          <a:xfrm rot="-1864138">
            <a:off x="2896917" y="3799880"/>
            <a:ext cx="778416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1"/>
          <p:cNvCxnSpPr/>
          <p:nvPr/>
        </p:nvCxnSpPr>
        <p:spPr>
          <a:xfrm rot="-2519233">
            <a:off x="3504365" y="3298984"/>
            <a:ext cx="897020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11"/>
          <p:cNvCxnSpPr/>
          <p:nvPr/>
        </p:nvCxnSpPr>
        <p:spPr>
          <a:xfrm rot="-214580">
            <a:off x="4285600" y="2978110"/>
            <a:ext cx="668051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11"/>
          <p:cNvCxnSpPr/>
          <p:nvPr/>
        </p:nvCxnSpPr>
        <p:spPr>
          <a:xfrm rot="137437">
            <a:off x="4952733" y="2970609"/>
            <a:ext cx="667283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1"/>
          <p:cNvSpPr/>
          <p:nvPr/>
        </p:nvSpPr>
        <p:spPr>
          <a:xfrm>
            <a:off x="904875" y="4381500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1571625" y="3903107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2238375" y="3841433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2905125" y="3953113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3571875" y="3551396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4238625" y="2951321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4905375" y="2909649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572125" y="2936319"/>
            <a:ext cx="95250" cy="952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" name="Google Shape;336;p11"/>
          <p:cNvCxnSpPr/>
          <p:nvPr/>
        </p:nvCxnSpPr>
        <p:spPr>
          <a:xfrm rot="-2005489">
            <a:off x="886437" y="4449128"/>
            <a:ext cx="798877" cy="0"/>
          </a:xfrm>
          <a:prstGeom prst="straightConnector1">
            <a:avLst/>
          </a:prstGeom>
          <a:noFill/>
          <a:ln cap="flat" cmpd="sng" w="2857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1"/>
          <p:cNvCxnSpPr/>
          <p:nvPr/>
        </p:nvCxnSpPr>
        <p:spPr>
          <a:xfrm rot="-2717103">
            <a:off x="1478798" y="3892391"/>
            <a:ext cx="947653" cy="0"/>
          </a:xfrm>
          <a:prstGeom prst="straightConnector1">
            <a:avLst/>
          </a:prstGeom>
          <a:noFill/>
          <a:ln cap="flat" cmpd="sng" w="2857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11"/>
          <p:cNvCxnSpPr/>
          <p:nvPr/>
        </p:nvCxnSpPr>
        <p:spPr>
          <a:xfrm rot="-2669655">
            <a:off x="2152019" y="3228142"/>
            <a:ext cx="934713" cy="0"/>
          </a:xfrm>
          <a:prstGeom prst="straightConnector1">
            <a:avLst/>
          </a:prstGeom>
          <a:noFill/>
          <a:ln cap="flat" cmpd="sng" w="2857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11"/>
          <p:cNvCxnSpPr/>
          <p:nvPr/>
        </p:nvCxnSpPr>
        <p:spPr>
          <a:xfrm rot="1559354">
            <a:off x="2915245" y="3063121"/>
            <a:ext cx="741759" cy="0"/>
          </a:xfrm>
          <a:prstGeom prst="straightConnector1">
            <a:avLst/>
          </a:prstGeom>
          <a:noFill/>
          <a:ln cap="flat" cmpd="sng" w="2857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11"/>
          <p:cNvSpPr/>
          <p:nvPr/>
        </p:nvSpPr>
        <p:spPr>
          <a:xfrm>
            <a:off x="904875" y="4621530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1571625" y="4181475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2238375" y="3508058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2905125" y="2852976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3571875" y="3178016"/>
            <a:ext cx="95250" cy="952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5" name="Google Shape;345;p11"/>
          <p:cNvCxnSpPr/>
          <p:nvPr/>
        </p:nvCxnSpPr>
        <p:spPr>
          <a:xfrm rot="-1793934">
            <a:off x="901318" y="4270772"/>
            <a:ext cx="769114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6" name="Google Shape;346;p11"/>
          <p:cNvCxnSpPr/>
          <p:nvPr/>
        </p:nvCxnSpPr>
        <p:spPr>
          <a:xfrm rot="-1233363">
            <a:off x="1596580" y="3954066"/>
            <a:ext cx="712089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7" name="Google Shape;347;p11"/>
          <p:cNvCxnSpPr/>
          <p:nvPr/>
        </p:nvCxnSpPr>
        <p:spPr>
          <a:xfrm rot="-2905776">
            <a:off x="2116956" y="3453170"/>
            <a:ext cx="1004838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8" name="Google Shape;348;p11"/>
          <p:cNvCxnSpPr/>
          <p:nvPr/>
        </p:nvCxnSpPr>
        <p:spPr>
          <a:xfrm rot="2173367">
            <a:off x="2872880" y="3321487"/>
            <a:ext cx="826489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9" name="Google Shape;349;p11"/>
          <p:cNvCxnSpPr/>
          <p:nvPr/>
        </p:nvCxnSpPr>
        <p:spPr>
          <a:xfrm rot="1566291">
            <a:off x="3581629" y="3729038"/>
            <a:ext cx="742491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" name="Google Shape;350;p11"/>
          <p:cNvCxnSpPr/>
          <p:nvPr/>
        </p:nvCxnSpPr>
        <p:spPr>
          <a:xfrm rot="562163">
            <a:off x="4281742" y="3947398"/>
            <a:ext cx="675765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1" name="Google Shape;351;p11"/>
          <p:cNvCxnSpPr/>
          <p:nvPr/>
        </p:nvCxnSpPr>
        <p:spPr>
          <a:xfrm rot="662053">
            <a:off x="4946721" y="4067413"/>
            <a:ext cx="679308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2" name="Google Shape;352;p11"/>
          <p:cNvCxnSpPr/>
          <p:nvPr/>
        </p:nvCxnSpPr>
        <p:spPr>
          <a:xfrm rot="1049066">
            <a:off x="5603602" y="4237434"/>
            <a:ext cx="699047" cy="0"/>
          </a:xfrm>
          <a:prstGeom prst="straightConnector1">
            <a:avLst/>
          </a:prstGeom>
          <a:noFill/>
          <a:ln cap="flat" cmpd="sng" w="19050">
            <a:solidFill>
              <a:srgbClr val="66708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3" name="Google Shape;353;p11"/>
          <p:cNvSpPr/>
          <p:nvPr/>
        </p:nvSpPr>
        <p:spPr>
          <a:xfrm>
            <a:off x="904875" y="4414838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1571625" y="4031456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2238375" y="3781425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2905125" y="3029664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3571875" y="3518059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4238625" y="3844766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4905375" y="3954780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5572125" y="4084796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6238875" y="4294823"/>
            <a:ext cx="95250" cy="952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" name="Google Shape;362;p11"/>
          <p:cNvCxnSpPr/>
          <p:nvPr/>
        </p:nvCxnSpPr>
        <p:spPr>
          <a:xfrm rot="-1981432">
            <a:off x="888263" y="4405789"/>
            <a:ext cx="795223" cy="0"/>
          </a:xfrm>
          <a:prstGeom prst="straightConnector1">
            <a:avLst/>
          </a:prstGeom>
          <a:noFill/>
          <a:ln cap="flat" cmpd="sng" w="19050">
            <a:solidFill>
              <a:srgbClr val="A64B4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3" name="Google Shape;363;p11"/>
          <p:cNvCxnSpPr/>
          <p:nvPr/>
        </p:nvCxnSpPr>
        <p:spPr>
          <a:xfrm rot="-1845159">
            <a:off x="1564701" y="3990737"/>
            <a:ext cx="775848" cy="0"/>
          </a:xfrm>
          <a:prstGeom prst="straightConnector1">
            <a:avLst/>
          </a:prstGeom>
          <a:noFill/>
          <a:ln cap="flat" cmpd="sng" w="19050">
            <a:solidFill>
              <a:srgbClr val="A64B4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4" name="Google Shape;364;p11"/>
          <p:cNvSpPr/>
          <p:nvPr/>
        </p:nvSpPr>
        <p:spPr>
          <a:xfrm>
            <a:off x="904875" y="4574858"/>
            <a:ext cx="95250" cy="95250"/>
          </a:xfrm>
          <a:prstGeom prst="ellipse">
            <a:avLst/>
          </a:prstGeom>
          <a:solidFill>
            <a:srgbClr val="A64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1571625" y="4141470"/>
            <a:ext cx="95250" cy="95250"/>
          </a:xfrm>
          <a:prstGeom prst="ellipse">
            <a:avLst/>
          </a:prstGeom>
          <a:solidFill>
            <a:srgbClr val="A64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2238375" y="3744754"/>
            <a:ext cx="95250" cy="95250"/>
          </a:xfrm>
          <a:prstGeom prst="ellipse">
            <a:avLst/>
          </a:prstGeom>
          <a:solidFill>
            <a:srgbClr val="A64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3429000" y="539115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経過年数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8096250" y="1733550"/>
            <a:ext cx="3409950" cy="3752850"/>
          </a:xfrm>
          <a:prstGeom prst="roundRect">
            <a:avLst>
              <a:gd fmla="val 4469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8362950" y="1981200"/>
            <a:ext cx="2895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成果主義だから、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上がり下がりもある。</a:t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8382000" y="287655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8610600" y="2781300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A｜350万から1,484万（11年目・4.2倍）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8382000" y="3343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8610600" y="3248025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B｜440万から1,307万（8年目・3.0倍）</a:t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8382000" y="381000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8610600" y="3714750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C｜4年目1,357万／5年目で課長</a:t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8382000" y="427672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8610600" y="4181475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D｜4年目1,251万から9年目492万</a:t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8382000" y="474345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A64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8610600" y="4648200"/>
            <a:ext cx="2647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E｜3年目822万</a:t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533400" y="5810250"/>
            <a:ext cx="10972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注：数値は実在5名の社内実績。未集計年は前後の実績値を線で結んで表示。将来の年収を保証するものではありません。</a:t>
            </a:r>
            <a:endParaRPr/>
          </a:p>
        </p:txBody>
      </p:sp>
      <p:pic>
        <p:nvPicPr>
          <p:cNvPr id="381" name="Google Shape;38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05｜育成の現実</a:t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3か月で別人になるために、打席と支援を増やす</a:t>
            </a:r>
            <a:endParaRPr/>
          </a:p>
        </p:txBody>
      </p:sp>
      <p:cxnSp>
        <p:nvCxnSpPr>
          <p:cNvPr id="390" name="Google Shape;390;p12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12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P.10</a:t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533400" y="139065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「手厚いから安心」ではなく、「本気で鍛える修行」。</a:t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533400" y="1885950"/>
            <a:ext cx="5219700" cy="33147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819150" y="21145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819150" y="2419350"/>
            <a:ext cx="2095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250</a:t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2171700" y="27336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時間</a:t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819150" y="3200400"/>
            <a:ext cx="2095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年間の育成時間を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徹底的に確保</a:t>
            </a:r>
            <a:endParaRPr/>
          </a:p>
        </p:txBody>
      </p:sp>
      <p:cxnSp>
        <p:nvCxnSpPr>
          <p:cNvPr id="399" name="Google Shape;399;p12"/>
          <p:cNvCxnSpPr/>
          <p:nvPr/>
        </p:nvCxnSpPr>
        <p:spPr>
          <a:xfrm>
            <a:off x="3067050" y="2457450"/>
            <a:ext cx="0" cy="20955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2"/>
          <p:cNvSpPr/>
          <p:nvPr/>
        </p:nvSpPr>
        <p:spPr>
          <a:xfrm>
            <a:off x="3371850" y="2419350"/>
            <a:ext cx="2000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4457700" y="27336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日</a:t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3371850" y="3200400"/>
            <a:ext cx="2000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入社後の導入研修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会社・営業・商品・業界理解</a:t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819150" y="4248150"/>
            <a:ext cx="4552950" cy="590550"/>
          </a:xfrm>
          <a:prstGeom prst="roundRect">
            <a:avLst>
              <a:gd fmla="val 16129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1028700" y="4362450"/>
            <a:ext cx="4133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毎日：KPI振り返り＋定期的な個別面談</a:t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6019800" y="1885950"/>
            <a:ext cx="5638800" cy="3314700"/>
          </a:xfrm>
          <a:prstGeom prst="roundRect">
            <a:avLst>
              <a:gd fmla="val 5172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6305550" y="2114550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SUPPORT &amp; REPETITION</a:t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6305550" y="2419350"/>
            <a:ext cx="1619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6953250" y="27336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本/日</a:t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6305550" y="3200400"/>
            <a:ext cx="1619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お手本トークを模倣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自分で録画して提出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AI・上長がFB</a:t>
            </a:r>
            <a:endParaRPr/>
          </a:p>
        </p:txBody>
      </p:sp>
      <p:cxnSp>
        <p:nvCxnSpPr>
          <p:cNvPr id="410" name="Google Shape;410;p12"/>
          <p:cNvCxnSpPr/>
          <p:nvPr/>
        </p:nvCxnSpPr>
        <p:spPr>
          <a:xfrm>
            <a:off x="8096250" y="2438400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4250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2"/>
          <p:cNvSpPr/>
          <p:nvPr/>
        </p:nvSpPr>
        <p:spPr>
          <a:xfrm>
            <a:off x="8401050" y="2419350"/>
            <a:ext cx="1428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9010650" y="27336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人</a:t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8401050" y="3200400"/>
            <a:ext cx="1428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1人を支える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サポート人数</a:t>
            </a:r>
            <a:endParaRPr/>
          </a:p>
        </p:txBody>
      </p:sp>
      <p:cxnSp>
        <p:nvCxnSpPr>
          <p:cNvPr id="414" name="Google Shape;414;p12"/>
          <p:cNvCxnSpPr/>
          <p:nvPr/>
        </p:nvCxnSpPr>
        <p:spPr>
          <a:xfrm>
            <a:off x="9982200" y="2438400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4250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12"/>
          <p:cNvSpPr/>
          <p:nvPr/>
        </p:nvSpPr>
        <p:spPr>
          <a:xfrm>
            <a:off x="10210800" y="2419350"/>
            <a:ext cx="12001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2,000</a:t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10210800" y="3200400"/>
            <a:ext cx="120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戸/月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打席に立つ回数</a:t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6324600" y="4191000"/>
            <a:ext cx="5029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リーダー／課長／人事／育成担当／メンター／営業サポート課長</a:t>
            </a:r>
            <a:endParaRPr b="0" sz="1125">
              <a:solidFill>
                <a:srgbClr val="DCE1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125"/>
              <a:buFont typeface="Arial"/>
              <a:buNone/>
            </a:pPr>
            <a:r>
              <a:rPr lang="en-US" sz="1125">
                <a:solidFill>
                  <a:srgbClr val="DCE1F0"/>
                </a:solidFill>
              </a:rPr>
              <a:t>6人体制であなたの成長に本気で関わります</a:t>
            </a:r>
            <a:endParaRPr sz="1125">
              <a:solidFill>
                <a:srgbClr val="DCE1F0"/>
              </a:solidFill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533400" y="5524500"/>
            <a:ext cx="11125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ラクな道はない。3か月で別人になる覚悟があるなら、徹底的に支える。</a:t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10001250" y="6000750"/>
            <a:ext cx="1657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注：数値は社内集計</a:t>
            </a:r>
            <a:endParaRPr/>
          </a:p>
        </p:txBody>
      </p:sp>
      <p:pic>
        <p:nvPicPr>
          <p:cNvPr id="420" name="Google Shape;42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3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06｜仕事の意味</a:t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762000" y="752475"/>
            <a:ext cx="10668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</a:rPr>
              <a:t>誇りが持てる</a:t>
            </a: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商品</a:t>
            </a:r>
            <a:r>
              <a:rPr b="1" lang="en-US" sz="3000">
                <a:solidFill>
                  <a:srgbClr val="152255"/>
                </a:solidFill>
              </a:rPr>
              <a:t>を売る。</a:t>
            </a:r>
            <a:endParaRPr/>
          </a:p>
        </p:txBody>
      </p:sp>
      <p:cxnSp>
        <p:nvCxnSpPr>
          <p:cNvPr id="429" name="Google Shape;429;p13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3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P.11</a:t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533400" y="1543050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WHY NEW HOMES?</a:t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533400" y="2038350"/>
            <a:ext cx="10572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775"/>
              <a:buFont typeface="Arial"/>
              <a:buNone/>
            </a:pPr>
            <a:r>
              <a:rPr b="1" lang="en-US" sz="27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私たち</a:t>
            </a:r>
            <a:r>
              <a:rPr b="1" lang="en-US" sz="2775">
                <a:solidFill>
                  <a:srgbClr val="152255"/>
                </a:solidFill>
              </a:rPr>
              <a:t>の仕事は、その人の「大切な資産を守る」ご提案です。</a:t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533400" y="3371850"/>
            <a:ext cx="10572750" cy="1123950"/>
          </a:xfrm>
          <a:prstGeom prst="roundRect">
            <a:avLst>
              <a:gd fmla="val 13559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857250" y="3600450"/>
            <a:ext cx="990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「家賃、もったいなくないですか」</a:t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533400" y="4819650"/>
            <a:ext cx="914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家賃は人生で一番高い支払い。それなのに、一番考えられていない。</a:t>
            </a:r>
            <a:endParaRPr/>
          </a:p>
        </p:txBody>
      </p:sp>
      <p:cxnSp>
        <p:nvCxnSpPr>
          <p:cNvPr id="437" name="Google Shape;437;p13"/>
          <p:cNvCxnSpPr/>
          <p:nvPr/>
        </p:nvCxnSpPr>
        <p:spPr>
          <a:xfrm>
            <a:off x="533400" y="5314950"/>
            <a:ext cx="8001000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13"/>
          <p:cNvSpPr/>
          <p:nvPr/>
        </p:nvSpPr>
        <p:spPr>
          <a:xfrm>
            <a:off x="533400" y="5486400"/>
            <a:ext cx="857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52255"/>
                </a:solidFill>
              </a:rPr>
              <a:t>この</a:t>
            </a:r>
            <a:r>
              <a:rPr b="1" lang="en-US" sz="18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一言から、仕事が始まる。</a:t>
            </a:r>
            <a:endParaRPr/>
          </a:p>
        </p:txBody>
      </p:sp>
      <p:pic>
        <p:nvPicPr>
          <p:cNvPr id="439" name="Google Shape;43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07｜他の仕事との違い</a:t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投資用不動産との違いは、10年後に残る力</a:t>
            </a:r>
            <a:endParaRPr/>
          </a:p>
        </p:txBody>
      </p:sp>
      <p:cxnSp>
        <p:nvCxnSpPr>
          <p:cNvPr id="448" name="Google Shape;448;p14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14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P.12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2190750" y="142875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投資用不動産の営業（一般的な型）</a:t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6858000" y="142875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</a:rPr>
              <a:t>東京ビッグハウス</a:t>
            </a: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の新築戸建て営業</a:t>
            </a:r>
            <a:endParaRPr/>
          </a:p>
        </p:txBody>
      </p:sp>
      <p:cxnSp>
        <p:nvCxnSpPr>
          <p:cNvPr id="453" name="Google Shape;453;p14"/>
          <p:cNvCxnSpPr/>
          <p:nvPr/>
        </p:nvCxnSpPr>
        <p:spPr>
          <a:xfrm>
            <a:off x="2190750" y="1905000"/>
            <a:ext cx="9334500" cy="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14"/>
          <p:cNvSpPr/>
          <p:nvPr/>
        </p:nvSpPr>
        <p:spPr>
          <a:xfrm>
            <a:off x="533400" y="2000250"/>
            <a:ext cx="1099185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628650" y="2105025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商品</a:t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2190750" y="21050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投資用ワンルーム＝利回りの商品</a:t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6858000" y="21050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家族が何十年も住む新築戸建て</a:t>
            </a:r>
            <a:endParaRPr/>
          </a:p>
        </p:txBody>
      </p:sp>
      <p:cxnSp>
        <p:nvCxnSpPr>
          <p:cNvPr id="458" name="Google Shape;458;p14"/>
          <p:cNvCxnSpPr/>
          <p:nvPr/>
        </p:nvCxnSpPr>
        <p:spPr>
          <a:xfrm>
            <a:off x="1962150" y="2724150"/>
            <a:ext cx="9553575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14"/>
          <p:cNvSpPr/>
          <p:nvPr/>
        </p:nvSpPr>
        <p:spPr>
          <a:xfrm>
            <a:off x="628650" y="2943225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顧客との関係</a:t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2190750" y="29432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利回り提案で完結しやすい</a:t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6858000" y="29432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人生の大きな決断を起こす「決断のパートナー」</a:t>
            </a:r>
            <a:endParaRPr/>
          </a:p>
        </p:txBody>
      </p:sp>
      <p:cxnSp>
        <p:nvCxnSpPr>
          <p:cNvPr id="462" name="Google Shape;462;p14"/>
          <p:cNvCxnSpPr/>
          <p:nvPr/>
        </p:nvCxnSpPr>
        <p:spPr>
          <a:xfrm>
            <a:off x="1962150" y="3562350"/>
            <a:ext cx="9553575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14"/>
          <p:cNvSpPr/>
          <p:nvPr/>
        </p:nvSpPr>
        <p:spPr>
          <a:xfrm>
            <a:off x="533400" y="3676650"/>
            <a:ext cx="1099185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628650" y="3781425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主な手法</a:t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2190750" y="37814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リストへの電話中心／トーク力が問われる</a:t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6858000" y="37814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訪問・対面中心／人間力が問われる</a:t>
            </a:r>
            <a:endParaRPr/>
          </a:p>
        </p:txBody>
      </p:sp>
      <p:cxnSp>
        <p:nvCxnSpPr>
          <p:cNvPr id="467" name="Google Shape;467;p14"/>
          <p:cNvCxnSpPr/>
          <p:nvPr/>
        </p:nvCxnSpPr>
        <p:spPr>
          <a:xfrm>
            <a:off x="1962150" y="4400550"/>
            <a:ext cx="9553575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4"/>
          <p:cNvSpPr/>
          <p:nvPr/>
        </p:nvSpPr>
        <p:spPr>
          <a:xfrm>
            <a:off x="628650" y="4619625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10年後に残る力</a:t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2190750" y="46196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電話営業・利回り計算・投資物件の目利き</a:t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6858000" y="4619625"/>
            <a:ext cx="4362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対面営業・人生に踏み込む力・信頼関係構築</a:t>
            </a:r>
            <a:endParaRPr/>
          </a:p>
        </p:txBody>
      </p:sp>
      <p:cxnSp>
        <p:nvCxnSpPr>
          <p:cNvPr id="471" name="Google Shape;471;p14"/>
          <p:cNvCxnSpPr/>
          <p:nvPr/>
        </p:nvCxnSpPr>
        <p:spPr>
          <a:xfrm>
            <a:off x="1962150" y="5238750"/>
            <a:ext cx="9553575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14"/>
          <p:cNvSpPr/>
          <p:nvPr/>
        </p:nvSpPr>
        <p:spPr>
          <a:xfrm>
            <a:off x="533400" y="5657850"/>
            <a:ext cx="10991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「10年後に、自分に何を残したいか」で選ぶ。</a:t>
            </a:r>
            <a:endParaRPr/>
          </a:p>
        </p:txBody>
      </p:sp>
      <p:pic>
        <p:nvPicPr>
          <p:cNvPr id="473" name="Google Shape;4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08｜年収比較</a:t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</a:rPr>
              <a:t>不動産業VS</a:t>
            </a:r>
            <a:r>
              <a:rPr b="1" lang="en-US" sz="2925">
                <a:solidFill>
                  <a:srgbClr val="152255"/>
                </a:solidFill>
              </a:rPr>
              <a:t>人材業界</a:t>
            </a:r>
            <a:r>
              <a:rPr b="1" lang="en-US" sz="2925">
                <a:solidFill>
                  <a:srgbClr val="152255"/>
                </a:solidFill>
              </a:rPr>
              <a:t>　「稼げる」のリアル</a:t>
            </a:r>
            <a:endParaRPr/>
          </a:p>
        </p:txBody>
      </p:sp>
      <p:cxnSp>
        <p:nvCxnSpPr>
          <p:cNvPr id="482" name="Google Shape;482;p15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p15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P.13</a:t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533400" y="1390650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同じdoda登録者データ・同じ集計期間で比較</a:t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533400" y="1866900"/>
            <a:ext cx="4991100" cy="280035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819150" y="21145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不動産営業</a:t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819150" y="2628900"/>
            <a:ext cx="3333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459.4</a:t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4267200" y="3133725"/>
            <a:ext cx="81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万円</a:t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819150" y="37338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平均年収</a:t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6667500" y="1866900"/>
            <a:ext cx="4991100" cy="280035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6953250" y="21145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人材サービスの営業</a:t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6953250" y="2628900"/>
            <a:ext cx="297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414.8</a:t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10133125" y="3095625"/>
            <a:ext cx="819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万円</a:t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6953250" y="37338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平均年収</a:t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4438650" y="4953000"/>
            <a:ext cx="3314700" cy="704850"/>
          </a:xfrm>
          <a:prstGeom prst="roundRect">
            <a:avLst>
              <a:gd fmla="val 18919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4667250" y="5076825"/>
            <a:ext cx="285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差は 44.6万円</a:t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出典：doda 職種図鑑（2025年12月更新／約60万人、2024年9月〜2025年8月）</a:t>
            </a:r>
            <a:endParaRPr/>
          </a:p>
        </p:txBody>
      </p:sp>
      <p:pic>
        <p:nvPicPr>
          <p:cNvPr id="499" name="Google Shape;4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08｜年収比較</a:t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差が出るのは、平均より「上の年収帯」</a:t>
            </a:r>
            <a:endParaRPr/>
          </a:p>
        </p:txBody>
      </p:sp>
      <p:cxnSp>
        <p:nvCxnSpPr>
          <p:cNvPr id="508" name="Google Shape;508;p16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16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P.14</a:t>
            </a:r>
            <a:endParaRPr/>
          </a:p>
        </p:txBody>
      </p:sp>
      <p:sp>
        <p:nvSpPr>
          <p:cNvPr id="511" name="Google Shape;511;p16"/>
          <p:cNvSpPr/>
          <p:nvPr/>
        </p:nvSpPr>
        <p:spPr>
          <a:xfrm>
            <a:off x="533400" y="146685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年収800万円以上の割合</a:t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762000" y="222885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不動産営業</a:t>
            </a: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3543300" y="2190750"/>
            <a:ext cx="6286500" cy="419100"/>
          </a:xfrm>
          <a:prstGeom prst="roundRect">
            <a:avLst>
              <a:gd fmla="val 22727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10039350" y="21717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2325"/>
              <a:buFont typeface="Arial"/>
              <a:buNone/>
            </a:pPr>
            <a:r>
              <a:rPr b="1" lang="en-US" sz="232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762000" y="306705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人材サービス営業</a:t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3543300" y="3028950"/>
            <a:ext cx="6286500" cy="419100"/>
          </a:xfrm>
          <a:prstGeom prst="roundRect">
            <a:avLst>
              <a:gd fmla="val 22727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3543300" y="3028950"/>
            <a:ext cx="2095500" cy="419100"/>
          </a:xfrm>
          <a:prstGeom prst="roundRect">
            <a:avLst>
              <a:gd fmla="val 2272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10039350" y="30099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325"/>
              <a:buFont typeface="Arial"/>
              <a:buNone/>
            </a:pPr>
            <a:r>
              <a:rPr b="1" lang="en-US" sz="23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533400" y="3962400"/>
            <a:ext cx="11125200" cy="1390650"/>
          </a:xfrm>
          <a:prstGeom prst="roundRect">
            <a:avLst>
              <a:gd fmla="val 12329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857250" y="42100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1000万円以上</a:t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3314700" y="4095750"/>
            <a:ext cx="1428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2990850" y="47625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不動産営業</a:t>
            </a:r>
            <a:endParaRPr/>
          </a:p>
        </p:txBody>
      </p:sp>
      <p:cxnSp>
        <p:nvCxnSpPr>
          <p:cNvPr id="523" name="Google Shape;523;p16"/>
          <p:cNvCxnSpPr/>
          <p:nvPr/>
        </p:nvCxnSpPr>
        <p:spPr>
          <a:xfrm>
            <a:off x="6019800" y="4191000"/>
            <a:ext cx="0" cy="8382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16"/>
          <p:cNvSpPr/>
          <p:nvPr/>
        </p:nvSpPr>
        <p:spPr>
          <a:xfrm>
            <a:off x="7258050" y="4095750"/>
            <a:ext cx="1428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  <a:endParaRPr/>
          </a:p>
        </p:txBody>
      </p:sp>
      <p:sp>
        <p:nvSpPr>
          <p:cNvPr id="525" name="Google Shape;525;p16"/>
          <p:cNvSpPr/>
          <p:nvPr/>
        </p:nvSpPr>
        <p:spPr>
          <a:xfrm>
            <a:off x="6934200" y="47625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人材サービスの営業</a:t>
            </a: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9277350" y="4324350"/>
            <a:ext cx="1809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上位帯は約3倍</a:t>
            </a: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533400" y="5619750"/>
            <a:ext cx="11125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平均年収だけでなく、分布を見ると「どこまで届くか」が分かる。</a:t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出典：doda 職種図鑑。800万円以上は各年収帯の公表割合を合算</a:t>
            </a:r>
            <a:endParaRPr/>
          </a:p>
        </p:txBody>
      </p:sp>
      <p:pic>
        <p:nvPicPr>
          <p:cNvPr id="529" name="Google Shape;52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7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08｜年収比較</a:t>
            </a:r>
            <a:endParaRPr/>
          </a:p>
        </p:txBody>
      </p:sp>
      <p:sp>
        <p:nvSpPr>
          <p:cNvPr id="537" name="Google Shape;537;p17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平均は参考値。最後は会社の「給与設計」を見る</a:t>
            </a:r>
            <a:endParaRPr/>
          </a:p>
        </p:txBody>
      </p:sp>
      <p:cxnSp>
        <p:nvCxnSpPr>
          <p:cNvPr id="538" name="Google Shape;538;p17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17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40" name="Google Shape;540;p17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P.15</a:t>
            </a:r>
            <a:endParaRPr/>
          </a:p>
        </p:txBody>
      </p:sp>
      <p:sp>
        <p:nvSpPr>
          <p:cNvPr id="541" name="Google Shape;541;p17"/>
          <p:cNvSpPr/>
          <p:nvPr/>
        </p:nvSpPr>
        <p:spPr>
          <a:xfrm>
            <a:off x="533400" y="1657350"/>
            <a:ext cx="3028950" cy="360045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819150" y="1924050"/>
            <a:ext cx="2457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</a:rPr>
              <a:t>不動産営業</a:t>
            </a: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平均</a:t>
            </a:r>
            <a:endParaRPr/>
          </a:p>
        </p:txBody>
      </p:sp>
      <p:sp>
        <p:nvSpPr>
          <p:cNvPr id="543" name="Google Shape;543;p17"/>
          <p:cNvSpPr/>
          <p:nvPr/>
        </p:nvSpPr>
        <p:spPr>
          <a:xfrm>
            <a:off x="819150" y="2457450"/>
            <a:ext cx="1866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459.4</a:t>
            </a: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2724150" y="2857500"/>
            <a:ext cx="55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万円</a:t>
            </a:r>
            <a:endParaRPr/>
          </a:p>
        </p:txBody>
      </p:sp>
      <p:cxnSp>
        <p:nvCxnSpPr>
          <p:cNvPr id="545" name="Google Shape;545;p17"/>
          <p:cNvCxnSpPr/>
          <p:nvPr/>
        </p:nvCxnSpPr>
        <p:spPr>
          <a:xfrm>
            <a:off x="952500" y="3457575"/>
            <a:ext cx="22671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17"/>
          <p:cNvSpPr/>
          <p:nvPr/>
        </p:nvSpPr>
        <p:spPr>
          <a:xfrm>
            <a:off x="914475" y="3848100"/>
            <a:ext cx="2343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これは会社も年齢も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混ざった参考値</a:t>
            </a:r>
            <a:endParaRPr/>
          </a:p>
        </p:txBody>
      </p:sp>
      <p:sp>
        <p:nvSpPr>
          <p:cNvPr id="547" name="Google Shape;547;p17"/>
          <p:cNvSpPr/>
          <p:nvPr/>
        </p:nvSpPr>
        <p:spPr>
          <a:xfrm>
            <a:off x="4114800" y="160020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</a:rPr>
              <a:t>東京ビッグハウス</a:t>
            </a: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の社内レンジ</a:t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4114800" y="21907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営業担当</a:t>
            </a: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5810250" y="2133600"/>
            <a:ext cx="5334000" cy="476250"/>
          </a:xfrm>
          <a:prstGeom prst="roundRect">
            <a:avLst>
              <a:gd fmla="val 20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6057900" y="2171700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400〜850万円</a:t>
            </a:r>
            <a:endParaRPr/>
          </a:p>
        </p:txBody>
      </p:sp>
      <p:sp>
        <p:nvSpPr>
          <p:cNvPr id="551" name="Google Shape;551;p17"/>
          <p:cNvSpPr/>
          <p:nvPr/>
        </p:nvSpPr>
        <p:spPr>
          <a:xfrm>
            <a:off x="4114800" y="31813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リーダー</a:t>
            </a: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5810250" y="3124200"/>
            <a:ext cx="5334000" cy="476250"/>
          </a:xfrm>
          <a:prstGeom prst="roundRect">
            <a:avLst>
              <a:gd fmla="val 2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7"/>
          <p:cNvSpPr/>
          <p:nvPr/>
        </p:nvSpPr>
        <p:spPr>
          <a:xfrm>
            <a:off x="6057900" y="3162300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600〜1,200万円</a:t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4114800" y="41719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課長</a:t>
            </a:r>
            <a:endParaRPr/>
          </a:p>
        </p:txBody>
      </p:sp>
      <p:sp>
        <p:nvSpPr>
          <p:cNvPr id="555" name="Google Shape;555;p17"/>
          <p:cNvSpPr/>
          <p:nvPr/>
        </p:nvSpPr>
        <p:spPr>
          <a:xfrm>
            <a:off x="5810250" y="4114800"/>
            <a:ext cx="5334000" cy="476250"/>
          </a:xfrm>
          <a:prstGeom prst="roundRect">
            <a:avLst>
              <a:gd fmla="val 2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6057900" y="4152900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900〜1,800万円</a:t>
            </a: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4114800" y="5143500"/>
            <a:ext cx="7029450" cy="628650"/>
          </a:xfrm>
          <a:prstGeom prst="roundRect">
            <a:avLst>
              <a:gd fmla="val 18182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7"/>
          <p:cNvSpPr/>
          <p:nvPr/>
        </p:nvSpPr>
        <p:spPr>
          <a:xfrm>
            <a:off x="4305300" y="5257800"/>
            <a:ext cx="6648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見るべきは、固定給・歩合・昇格条件・実績分布。</a:t>
            </a: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外部平均：doda／社内レンジ：TBH実績値。到達時期や支給を保証するものではありません</a:t>
            </a:r>
            <a:endParaRPr/>
          </a:p>
        </p:txBody>
      </p:sp>
      <p:pic>
        <p:nvPicPr>
          <p:cNvPr id="560" name="Google Shape;5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09｜住宅市場</a:t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住宅は、生活に根ざした大きな市場</a:t>
            </a:r>
            <a:endParaRPr/>
          </a:p>
        </p:txBody>
      </p:sp>
      <p:cxnSp>
        <p:nvCxnSpPr>
          <p:cNvPr id="569" name="Google Shape;569;p18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18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P.16</a:t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533400" y="139065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「不動産はなくなる？」を、3つの公的数字で見る</a:t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6858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6,502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24955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万戸</a:t>
            </a: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6858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国内の総住宅数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（2023年）</a:t>
            </a:r>
            <a:endParaRPr/>
          </a:p>
        </p:txBody>
      </p:sp>
      <p:cxnSp>
        <p:nvCxnSpPr>
          <p:cNvPr id="576" name="Google Shape;576;p18"/>
          <p:cNvCxnSpPr/>
          <p:nvPr/>
        </p:nvCxnSpPr>
        <p:spPr>
          <a:xfrm>
            <a:off x="39243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18"/>
          <p:cNvSpPr/>
          <p:nvPr/>
        </p:nvSpPr>
        <p:spPr>
          <a:xfrm>
            <a:off x="44577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60.9</a:t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62674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44577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持ち家住宅率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30年間ほぼ60%前後</a:t>
            </a:r>
            <a:endParaRPr/>
          </a:p>
        </p:txBody>
      </p:sp>
      <p:cxnSp>
        <p:nvCxnSpPr>
          <p:cNvPr id="580" name="Google Shape;580;p18"/>
          <p:cNvCxnSpPr/>
          <p:nvPr/>
        </p:nvCxnSpPr>
        <p:spPr>
          <a:xfrm>
            <a:off x="76962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18"/>
          <p:cNvSpPr/>
          <p:nvPr/>
        </p:nvSpPr>
        <p:spPr>
          <a:xfrm>
            <a:off x="8229600" y="2076450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23.2</a:t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1002030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兆円</a:t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8229600" y="2857500"/>
            <a:ext cx="3048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民間住宅投資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（2024年度・名目）</a:t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685800" y="4857750"/>
            <a:ext cx="10629900" cy="781050"/>
          </a:xfrm>
          <a:prstGeom prst="roundRect">
            <a:avLst>
              <a:gd fmla="val 17073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952500" y="5010150"/>
            <a:ext cx="1009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市場が大きい＝誰でも稼げる、ではない。生活に必要な市場で営業力を磨ける。</a:t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出典：総務省 令和5年住宅・土地統計調査／内閣府 2024年度国民経済計算年次推計</a:t>
            </a:r>
            <a:endParaRPr/>
          </a:p>
        </p:txBody>
      </p:sp>
      <p:pic>
        <p:nvPicPr>
          <p:cNvPr id="587" name="Google Shape;5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9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09｜住宅市場</a:t>
            </a:r>
            <a:endParaRPr/>
          </a:p>
        </p:txBody>
      </p:sp>
      <p:sp>
        <p:nvSpPr>
          <p:cNvPr id="595" name="Google Shape;595;p19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2026年も、家を買う人を支える制度がある</a:t>
            </a:r>
            <a:endParaRPr/>
          </a:p>
        </p:txBody>
      </p:sp>
      <p:cxnSp>
        <p:nvCxnSpPr>
          <p:cNvPr id="596" name="Google Shape;596;p19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7" name="Google Shape;597;p19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98" name="Google Shape;598;p19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P.17</a:t>
            </a:r>
            <a:endParaRPr/>
          </a:p>
        </p:txBody>
      </p:sp>
      <p:sp>
        <p:nvSpPr>
          <p:cNvPr id="599" name="Google Shape;599;p19"/>
          <p:cNvSpPr/>
          <p:nvPr/>
        </p:nvSpPr>
        <p:spPr>
          <a:xfrm>
            <a:off x="533400" y="1695450"/>
            <a:ext cx="3467100" cy="3714750"/>
          </a:xfrm>
          <a:prstGeom prst="roundRect">
            <a:avLst>
              <a:gd fmla="val 4945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9"/>
          <p:cNvSpPr/>
          <p:nvPr/>
        </p:nvSpPr>
        <p:spPr>
          <a:xfrm>
            <a:off x="800100" y="1981200"/>
            <a:ext cx="2933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住宅ローン減税</a:t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>
            <a:off x="781050" y="2647950"/>
            <a:ext cx="29718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050"/>
              <a:buFont typeface="Arial"/>
              <a:buNone/>
            </a:pPr>
            <a:r>
              <a:rPr b="1" lang="en-US" sz="40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0.7%</a:t>
            </a:r>
            <a:endParaRPr/>
          </a:p>
        </p:txBody>
      </p:sp>
      <p:cxnSp>
        <p:nvCxnSpPr>
          <p:cNvPr id="602" name="Google Shape;602;p19"/>
          <p:cNvCxnSpPr/>
          <p:nvPr/>
        </p:nvCxnSpPr>
        <p:spPr>
          <a:xfrm>
            <a:off x="990600" y="3733800"/>
            <a:ext cx="25527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19"/>
          <p:cNvSpPr/>
          <p:nvPr/>
        </p:nvSpPr>
        <p:spPr>
          <a:xfrm>
            <a:off x="857250" y="4038600"/>
            <a:ext cx="2819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控除率／新築は最大13年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制度は2030年入居まで延長</a:t>
            </a:r>
            <a:endParaRPr/>
          </a:p>
        </p:txBody>
      </p:sp>
      <p:sp>
        <p:nvSpPr>
          <p:cNvPr id="604" name="Google Shape;604;p19"/>
          <p:cNvSpPr/>
          <p:nvPr/>
        </p:nvSpPr>
        <p:spPr>
          <a:xfrm>
            <a:off x="4286250" y="1695450"/>
            <a:ext cx="3467100" cy="3714750"/>
          </a:xfrm>
          <a:prstGeom prst="roundRect">
            <a:avLst>
              <a:gd fmla="val 4945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9"/>
          <p:cNvSpPr/>
          <p:nvPr/>
        </p:nvSpPr>
        <p:spPr>
          <a:xfrm>
            <a:off x="4552950" y="1981200"/>
            <a:ext cx="2933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省エネ住宅補助</a:t>
            </a:r>
            <a:endParaRPr/>
          </a:p>
        </p:txBody>
      </p:sp>
      <p:sp>
        <p:nvSpPr>
          <p:cNvPr id="606" name="Google Shape;606;p19"/>
          <p:cNvSpPr/>
          <p:nvPr/>
        </p:nvSpPr>
        <p:spPr>
          <a:xfrm>
            <a:off x="4533900" y="2647950"/>
            <a:ext cx="29718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最大125万円</a:t>
            </a:r>
            <a:endParaRPr/>
          </a:p>
        </p:txBody>
      </p:sp>
      <p:cxnSp>
        <p:nvCxnSpPr>
          <p:cNvPr id="607" name="Google Shape;607;p19"/>
          <p:cNvCxnSpPr/>
          <p:nvPr/>
        </p:nvCxnSpPr>
        <p:spPr>
          <a:xfrm>
            <a:off x="4743450" y="3733800"/>
            <a:ext cx="2552700" cy="0"/>
          </a:xfrm>
          <a:prstGeom prst="straightConnector1">
            <a:avLst/>
          </a:prstGeom>
          <a:noFill/>
          <a:ln cap="flat" cmpd="sng" w="9525">
            <a:solidFill>
              <a:srgbClr val="4250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p19"/>
          <p:cNvSpPr/>
          <p:nvPr/>
        </p:nvSpPr>
        <p:spPr>
          <a:xfrm>
            <a:off x="4610100" y="4038600"/>
            <a:ext cx="2819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みらいエコ住宅2026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GX志向型住宅・地域区分1〜4</a:t>
            </a:r>
            <a:endParaRPr/>
          </a:p>
        </p:txBody>
      </p:sp>
      <p:sp>
        <p:nvSpPr>
          <p:cNvPr id="609" name="Google Shape;609;p19"/>
          <p:cNvSpPr/>
          <p:nvPr/>
        </p:nvSpPr>
        <p:spPr>
          <a:xfrm>
            <a:off x="8039100" y="1695450"/>
            <a:ext cx="3467100" cy="3714750"/>
          </a:xfrm>
          <a:prstGeom prst="roundRect">
            <a:avLst>
              <a:gd fmla="val 4945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8305800" y="1981200"/>
            <a:ext cx="2933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贈与税の非課税</a:t>
            </a:r>
            <a:endParaRPr/>
          </a:p>
        </p:txBody>
      </p:sp>
      <p:sp>
        <p:nvSpPr>
          <p:cNvPr id="611" name="Google Shape;611;p19"/>
          <p:cNvSpPr/>
          <p:nvPr/>
        </p:nvSpPr>
        <p:spPr>
          <a:xfrm>
            <a:off x="8286750" y="2647950"/>
            <a:ext cx="29718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最大1,000万円</a:t>
            </a:r>
            <a:endParaRPr/>
          </a:p>
        </p:txBody>
      </p:sp>
      <p:cxnSp>
        <p:nvCxnSpPr>
          <p:cNvPr id="612" name="Google Shape;612;p19"/>
          <p:cNvCxnSpPr/>
          <p:nvPr/>
        </p:nvCxnSpPr>
        <p:spPr>
          <a:xfrm>
            <a:off x="8496300" y="3733800"/>
            <a:ext cx="25527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p19"/>
          <p:cNvSpPr/>
          <p:nvPr/>
        </p:nvSpPr>
        <p:spPr>
          <a:xfrm>
            <a:off x="8362950" y="4038600"/>
            <a:ext cx="2819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省エネ等住宅の取得資金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2026年12月31日まで</a:t>
            </a:r>
            <a:endParaRPr/>
          </a:p>
        </p:txBody>
      </p:sp>
      <p:sp>
        <p:nvSpPr>
          <p:cNvPr id="614" name="Google Shape;614;p19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出典：国土交通省・環境省「みらいエコ住宅2026」／国土交通省 住宅ローン減税／国税庁</a:t>
            </a:r>
            <a:endParaRPr/>
          </a:p>
        </p:txBody>
      </p:sp>
      <p:pic>
        <p:nvPicPr>
          <p:cNvPr id="615" name="Google Shape;6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0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0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10｜20代の1000万円</a:t>
            </a:r>
            <a:endParaRPr/>
          </a:p>
        </p:txBody>
      </p:sp>
      <p:sp>
        <p:nvSpPr>
          <p:cNvPr id="623" name="Google Shape;623;p20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22歳で年収1000万円は、約6,000人に1人</a:t>
            </a:r>
            <a:endParaRPr/>
          </a:p>
        </p:txBody>
      </p:sp>
      <p:cxnSp>
        <p:nvCxnSpPr>
          <p:cNvPr id="624" name="Google Shape;624;p20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20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P.18</a:t>
            </a:r>
            <a:endParaRPr/>
          </a:p>
        </p:txBody>
      </p:sp>
      <p:sp>
        <p:nvSpPr>
          <p:cNvPr id="627" name="Google Shape;627;p20"/>
          <p:cNvSpPr/>
          <p:nvPr/>
        </p:nvSpPr>
        <p:spPr>
          <a:xfrm>
            <a:off x="533400" y="139065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総務省の全国調査｜20〜24歳の雇用者 421.7万人</a:t>
            </a:r>
            <a:endParaRPr/>
          </a:p>
        </p:txBody>
      </p:sp>
      <p:sp>
        <p:nvSpPr>
          <p:cNvPr id="628" name="Google Shape;628;p20"/>
          <p:cNvSpPr/>
          <p:nvPr/>
        </p:nvSpPr>
        <p:spPr>
          <a:xfrm>
            <a:off x="971550" y="2019300"/>
            <a:ext cx="40957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8250"/>
              <a:buFont typeface="Arial"/>
              <a:buNone/>
            </a:pPr>
            <a:r>
              <a:rPr b="1" lang="en-US" sz="82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0.017</a:t>
            </a:r>
            <a:endParaRPr/>
          </a:p>
        </p:txBody>
      </p:sp>
      <p:sp>
        <p:nvSpPr>
          <p:cNvPr id="629" name="Google Shape;629;p20"/>
          <p:cNvSpPr/>
          <p:nvPr/>
        </p:nvSpPr>
        <p:spPr>
          <a:xfrm>
            <a:off x="5067300" y="2914650"/>
            <a:ext cx="66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630" name="Google Shape;630;p20"/>
          <p:cNvSpPr/>
          <p:nvPr/>
        </p:nvSpPr>
        <p:spPr>
          <a:xfrm>
            <a:off x="876300" y="369570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20〜24歳の「年収1000万円以上」</a:t>
            </a:r>
            <a:endParaRPr/>
          </a:p>
        </p:txBody>
      </p:sp>
      <p:sp>
        <p:nvSpPr>
          <p:cNvPr id="631" name="Google Shape;631;p20"/>
          <p:cNvSpPr/>
          <p:nvPr/>
        </p:nvSpPr>
        <p:spPr>
          <a:xfrm>
            <a:off x="876300" y="414337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421.7万人のうち700人</a:t>
            </a:r>
            <a:endParaRPr/>
          </a:p>
        </p:txBody>
      </p:sp>
      <p:cxnSp>
        <p:nvCxnSpPr>
          <p:cNvPr id="632" name="Google Shape;632;p20"/>
          <p:cNvCxnSpPr/>
          <p:nvPr/>
        </p:nvCxnSpPr>
        <p:spPr>
          <a:xfrm>
            <a:off x="6362700" y="1866900"/>
            <a:ext cx="0" cy="28194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20"/>
          <p:cNvSpPr/>
          <p:nvPr/>
        </p:nvSpPr>
        <p:spPr>
          <a:xfrm>
            <a:off x="7067550" y="2095500"/>
            <a:ext cx="342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同世代なら</a:t>
            </a:r>
            <a:endParaRPr/>
          </a:p>
        </p:txBody>
      </p:sp>
      <p:sp>
        <p:nvSpPr>
          <p:cNvPr id="634" name="Google Shape;634;p20"/>
          <p:cNvSpPr/>
          <p:nvPr/>
        </p:nvSpPr>
        <p:spPr>
          <a:xfrm>
            <a:off x="6781800" y="264795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約6,000人に1人</a:t>
            </a:r>
            <a:endParaRPr/>
          </a:p>
        </p:txBody>
      </p:sp>
      <p:sp>
        <p:nvSpPr>
          <p:cNvPr id="635" name="Google Shape;635;p20"/>
          <p:cNvSpPr/>
          <p:nvPr/>
        </p:nvSpPr>
        <p:spPr>
          <a:xfrm>
            <a:off x="7067550" y="37147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くらいの水準</a:t>
            </a:r>
            <a:endParaRPr/>
          </a:p>
        </p:txBody>
      </p:sp>
      <p:sp>
        <p:nvSpPr>
          <p:cNvPr id="636" name="Google Shape;636;p20"/>
          <p:cNvSpPr/>
          <p:nvPr/>
        </p:nvSpPr>
        <p:spPr>
          <a:xfrm>
            <a:off x="685800" y="4953000"/>
            <a:ext cx="10629900" cy="723900"/>
          </a:xfrm>
          <a:prstGeom prst="roundRect">
            <a:avLst>
              <a:gd fmla="val 18421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0"/>
          <p:cNvSpPr/>
          <p:nvPr/>
        </p:nvSpPr>
        <p:spPr>
          <a:xfrm>
            <a:off x="990600" y="5086350"/>
            <a:ext cx="100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業界・商材・報酬設計まで</a:t>
            </a:r>
            <a:r>
              <a:rPr b="1" lang="en-US" sz="1800">
                <a:solidFill>
                  <a:srgbClr val="FFFFFF"/>
                </a:solidFill>
              </a:rPr>
              <a:t>選ばないと、到達できない狭き門。</a:t>
            </a:r>
            <a:endParaRPr/>
          </a:p>
        </p:txBody>
      </p:sp>
      <p:sp>
        <p:nvSpPr>
          <p:cNvPr id="638" name="Google Shape;638;p20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出典：総務省「令和4年就業構造基本調査」第45表（主な仕事からの年間収入1,000万円以上）</a:t>
            </a:r>
            <a:endParaRPr/>
          </a:p>
        </p:txBody>
      </p:sp>
      <p:pic>
        <p:nvPicPr>
          <p:cNvPr id="639" name="Google Shape;6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1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1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10｜20代の1000万円</a:t>
            </a:r>
            <a:endParaRPr/>
          </a:p>
        </p:txBody>
      </p:sp>
      <p:sp>
        <p:nvSpPr>
          <p:cNvPr id="647" name="Google Shape;647;p21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高年収が生まれる仕事には、共通点がある</a:t>
            </a:r>
            <a:endParaRPr/>
          </a:p>
        </p:txBody>
      </p:sp>
      <p:cxnSp>
        <p:nvCxnSpPr>
          <p:cNvPr id="648" name="Google Shape;648;p21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p21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50" name="Google Shape;650;p21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P.19</a:t>
            </a:r>
            <a:endParaRPr/>
          </a:p>
        </p:txBody>
      </p:sp>
      <p:sp>
        <p:nvSpPr>
          <p:cNvPr id="651" name="Google Shape;651;p21"/>
          <p:cNvSpPr/>
          <p:nvPr/>
        </p:nvSpPr>
        <p:spPr>
          <a:xfrm>
            <a:off x="533400" y="161925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52" name="Google Shape;652;p21"/>
          <p:cNvSpPr/>
          <p:nvPr/>
        </p:nvSpPr>
        <p:spPr>
          <a:xfrm>
            <a:off x="533400" y="2019300"/>
            <a:ext cx="3467100" cy="2876550"/>
          </a:xfrm>
          <a:prstGeom prst="roundRect">
            <a:avLst>
              <a:gd fmla="val 596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1"/>
          <p:cNvSpPr/>
          <p:nvPr/>
        </p:nvSpPr>
        <p:spPr>
          <a:xfrm>
            <a:off x="819150" y="2324100"/>
            <a:ext cx="2895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高単価</a:t>
            </a:r>
            <a:endParaRPr/>
          </a:p>
        </p:txBody>
      </p:sp>
      <p:cxnSp>
        <p:nvCxnSpPr>
          <p:cNvPr id="654" name="Google Shape;654;p21"/>
          <p:cNvCxnSpPr/>
          <p:nvPr/>
        </p:nvCxnSpPr>
        <p:spPr>
          <a:xfrm>
            <a:off x="1219200" y="3067050"/>
            <a:ext cx="20955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p21"/>
          <p:cNvSpPr/>
          <p:nvPr/>
        </p:nvSpPr>
        <p:spPr>
          <a:xfrm>
            <a:off x="857250" y="3371850"/>
            <a:ext cx="2819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1件の価値が大きい</a:t>
            </a:r>
            <a:endParaRPr/>
          </a:p>
        </p:txBody>
      </p:sp>
      <p:sp>
        <p:nvSpPr>
          <p:cNvPr id="656" name="Google Shape;656;p21"/>
          <p:cNvSpPr/>
          <p:nvPr/>
        </p:nvSpPr>
        <p:spPr>
          <a:xfrm>
            <a:off x="933450" y="417195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住宅・M&amp;A・金融など</a:t>
            </a:r>
            <a:endParaRPr/>
          </a:p>
        </p:txBody>
      </p:sp>
      <p:sp>
        <p:nvSpPr>
          <p:cNvPr id="657" name="Google Shape;657;p21"/>
          <p:cNvSpPr/>
          <p:nvPr/>
        </p:nvSpPr>
        <p:spPr>
          <a:xfrm>
            <a:off x="4286250" y="161925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58" name="Google Shape;658;p21"/>
          <p:cNvSpPr/>
          <p:nvPr/>
        </p:nvSpPr>
        <p:spPr>
          <a:xfrm>
            <a:off x="4286250" y="2019300"/>
            <a:ext cx="3467100" cy="2876550"/>
          </a:xfrm>
          <a:prstGeom prst="roundRect">
            <a:avLst>
              <a:gd fmla="val 5960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1"/>
          <p:cNvSpPr/>
          <p:nvPr/>
        </p:nvSpPr>
        <p:spPr>
          <a:xfrm>
            <a:off x="4572000" y="2324100"/>
            <a:ext cx="2895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成果</a:t>
            </a:r>
            <a:r>
              <a:rPr b="1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が</a:t>
            </a:r>
            <a:r>
              <a:rPr b="1" lang="en-US" sz="2175">
                <a:solidFill>
                  <a:srgbClr val="FFFFFF"/>
                </a:solidFill>
              </a:rPr>
              <a:t>数字で</a:t>
            </a:r>
            <a:r>
              <a:rPr b="1" lang="en-US" sz="21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見える</a:t>
            </a:r>
            <a:endParaRPr/>
          </a:p>
        </p:txBody>
      </p:sp>
      <p:cxnSp>
        <p:nvCxnSpPr>
          <p:cNvPr id="660" name="Google Shape;660;p21"/>
          <p:cNvCxnSpPr/>
          <p:nvPr/>
        </p:nvCxnSpPr>
        <p:spPr>
          <a:xfrm>
            <a:off x="4972050" y="3067050"/>
            <a:ext cx="20955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1" name="Google Shape;661;p21"/>
          <p:cNvSpPr/>
          <p:nvPr/>
        </p:nvSpPr>
        <p:spPr>
          <a:xfrm>
            <a:off x="4610100" y="3371850"/>
            <a:ext cx="2819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個人やチームの数字が明確</a:t>
            </a:r>
            <a:endParaRPr/>
          </a:p>
        </p:txBody>
      </p:sp>
      <p:sp>
        <p:nvSpPr>
          <p:cNvPr id="662" name="Google Shape;662;p21"/>
          <p:cNvSpPr/>
          <p:nvPr/>
        </p:nvSpPr>
        <p:spPr>
          <a:xfrm>
            <a:off x="4686300" y="417195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営業・コンサルなど</a:t>
            </a:r>
            <a:endParaRPr/>
          </a:p>
        </p:txBody>
      </p:sp>
      <p:sp>
        <p:nvSpPr>
          <p:cNvPr id="663" name="Google Shape;663;p21"/>
          <p:cNvSpPr/>
          <p:nvPr/>
        </p:nvSpPr>
        <p:spPr>
          <a:xfrm>
            <a:off x="8039100" y="161925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64" name="Google Shape;664;p21"/>
          <p:cNvSpPr/>
          <p:nvPr/>
        </p:nvSpPr>
        <p:spPr>
          <a:xfrm>
            <a:off x="8039100" y="2019300"/>
            <a:ext cx="3467100" cy="2876550"/>
          </a:xfrm>
          <a:prstGeom prst="roundRect">
            <a:avLst>
              <a:gd fmla="val 5960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1"/>
          <p:cNvSpPr/>
          <p:nvPr/>
        </p:nvSpPr>
        <p:spPr>
          <a:xfrm>
            <a:off x="8324850" y="2324100"/>
            <a:ext cx="2895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報酬が連動</a:t>
            </a:r>
            <a:endParaRPr/>
          </a:p>
        </p:txBody>
      </p:sp>
      <p:cxnSp>
        <p:nvCxnSpPr>
          <p:cNvPr id="666" name="Google Shape;666;p21"/>
          <p:cNvCxnSpPr/>
          <p:nvPr/>
        </p:nvCxnSpPr>
        <p:spPr>
          <a:xfrm>
            <a:off x="8724900" y="3067050"/>
            <a:ext cx="2095500" cy="0"/>
          </a:xfrm>
          <a:prstGeom prst="straightConnector1">
            <a:avLst/>
          </a:prstGeom>
          <a:noFill/>
          <a:ln cap="flat" cmpd="sng" w="38100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7" name="Google Shape;667;p21"/>
          <p:cNvSpPr/>
          <p:nvPr/>
        </p:nvSpPr>
        <p:spPr>
          <a:xfrm>
            <a:off x="8362950" y="3371850"/>
            <a:ext cx="2819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成果が給与へ反映される</a:t>
            </a:r>
            <a:endParaRPr/>
          </a:p>
        </p:txBody>
      </p:sp>
      <p:sp>
        <p:nvSpPr>
          <p:cNvPr id="668" name="Google Shape;668;p21"/>
          <p:cNvSpPr/>
          <p:nvPr/>
        </p:nvSpPr>
        <p:spPr>
          <a:xfrm>
            <a:off x="8439150" y="417195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7085"/>
                </a:solidFill>
              </a:rPr>
              <a:t>成果給</a:t>
            </a:r>
            <a:r>
              <a:rPr b="0" lang="en-US" sz="12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・賞与・昇格</a:t>
            </a:r>
            <a:endParaRPr/>
          </a:p>
        </p:txBody>
      </p:sp>
      <p:sp>
        <p:nvSpPr>
          <p:cNvPr id="669" name="Google Shape;669;p21"/>
          <p:cNvSpPr/>
          <p:nvPr/>
        </p:nvSpPr>
        <p:spPr>
          <a:xfrm>
            <a:off x="1314450" y="5200650"/>
            <a:ext cx="9563100" cy="628650"/>
          </a:xfrm>
          <a:prstGeom prst="roundRect">
            <a:avLst>
              <a:gd fmla="val 18182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1"/>
          <p:cNvSpPr/>
          <p:nvPr/>
        </p:nvSpPr>
        <p:spPr>
          <a:xfrm>
            <a:off x="1524000" y="5314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</a:rPr>
              <a:t>東京ビッグハウス</a:t>
            </a: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は「数千万円の住宅 × 明確な実績 × 成果連動」の仕事。</a:t>
            </a:r>
            <a:endParaRPr/>
          </a:p>
        </p:txBody>
      </p:sp>
      <p:sp>
        <p:nvSpPr>
          <p:cNvPr id="671" name="Google Shape;671;p21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一般化した仕事構造の整理。特定業界・会社の年収を保証するものではありません</a:t>
            </a:r>
            <a:endParaRPr/>
          </a:p>
        </p:txBody>
      </p:sp>
      <p:pic>
        <p:nvPicPr>
          <p:cNvPr id="672" name="Google Shape;6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2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2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10｜20代の1000万円</a:t>
            </a:r>
            <a:endParaRPr/>
          </a:p>
        </p:txBody>
      </p:sp>
      <p:sp>
        <p:nvSpPr>
          <p:cNvPr id="680" name="Google Shape;680;p22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入社前に、3つの仕組みを確認する</a:t>
            </a:r>
            <a:endParaRPr/>
          </a:p>
        </p:txBody>
      </p:sp>
      <p:cxnSp>
        <p:nvCxnSpPr>
          <p:cNvPr id="681" name="Google Shape;681;p22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p22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83" name="Google Shape;683;p22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P.20</a:t>
            </a:r>
            <a:endParaRPr/>
          </a:p>
        </p:txBody>
      </p:sp>
      <p:sp>
        <p:nvSpPr>
          <p:cNvPr id="684" name="Google Shape;684;p22"/>
          <p:cNvSpPr/>
          <p:nvPr/>
        </p:nvSpPr>
        <p:spPr>
          <a:xfrm>
            <a:off x="590550" y="16192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85" name="Google Shape;685;p22"/>
          <p:cNvSpPr/>
          <p:nvPr/>
        </p:nvSpPr>
        <p:spPr>
          <a:xfrm>
            <a:off x="1657350" y="16192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給与設計</a:t>
            </a:r>
            <a:endParaRPr/>
          </a:p>
        </p:txBody>
      </p:sp>
      <p:sp>
        <p:nvSpPr>
          <p:cNvPr id="686" name="Google Shape;686;p22"/>
          <p:cNvSpPr/>
          <p:nvPr/>
        </p:nvSpPr>
        <p:spPr>
          <a:xfrm>
            <a:off x="4095750" y="1600200"/>
            <a:ext cx="706755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2"/>
          <p:cNvSpPr/>
          <p:nvPr/>
        </p:nvSpPr>
        <p:spPr>
          <a:xfrm>
            <a:off x="4400550" y="1695450"/>
            <a:ext cx="6457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固定給・歩合・賞与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昇格後のレンジ</a:t>
            </a:r>
            <a:endParaRPr/>
          </a:p>
        </p:txBody>
      </p:sp>
      <p:cxnSp>
        <p:nvCxnSpPr>
          <p:cNvPr id="688" name="Google Shape;688;p22"/>
          <p:cNvCxnSpPr/>
          <p:nvPr/>
        </p:nvCxnSpPr>
        <p:spPr>
          <a:xfrm>
            <a:off x="1657350" y="2571750"/>
            <a:ext cx="950595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22"/>
          <p:cNvSpPr/>
          <p:nvPr/>
        </p:nvSpPr>
        <p:spPr>
          <a:xfrm>
            <a:off x="590550" y="28765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90" name="Google Shape;690;p22"/>
          <p:cNvSpPr/>
          <p:nvPr/>
        </p:nvSpPr>
        <p:spPr>
          <a:xfrm>
            <a:off x="1657350" y="28765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打席の数</a:t>
            </a:r>
            <a:endParaRPr/>
          </a:p>
        </p:txBody>
      </p:sp>
      <p:sp>
        <p:nvSpPr>
          <p:cNvPr id="691" name="Google Shape;691;p22"/>
          <p:cNvSpPr/>
          <p:nvPr/>
        </p:nvSpPr>
        <p:spPr>
          <a:xfrm>
            <a:off x="4095750" y="2857500"/>
            <a:ext cx="7067550" cy="685800"/>
          </a:xfrm>
          <a:prstGeom prst="roundRect">
            <a:avLst>
              <a:gd fmla="val 1666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2"/>
          <p:cNvSpPr/>
          <p:nvPr/>
        </p:nvSpPr>
        <p:spPr>
          <a:xfrm>
            <a:off x="4400550" y="2952750"/>
            <a:ext cx="6457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顧客接点・商談数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任される席の数</a:t>
            </a:r>
            <a:endParaRPr/>
          </a:p>
        </p:txBody>
      </p:sp>
      <p:cxnSp>
        <p:nvCxnSpPr>
          <p:cNvPr id="693" name="Google Shape;693;p22"/>
          <p:cNvCxnSpPr/>
          <p:nvPr/>
        </p:nvCxnSpPr>
        <p:spPr>
          <a:xfrm>
            <a:off x="1657350" y="3829050"/>
            <a:ext cx="950595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p22"/>
          <p:cNvSpPr/>
          <p:nvPr/>
        </p:nvSpPr>
        <p:spPr>
          <a:xfrm>
            <a:off x="590550" y="41338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95" name="Google Shape;695;p22"/>
          <p:cNvSpPr/>
          <p:nvPr/>
        </p:nvSpPr>
        <p:spPr>
          <a:xfrm>
            <a:off x="1657350" y="41338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成長支援</a:t>
            </a:r>
            <a:endParaRPr/>
          </a:p>
        </p:txBody>
      </p:sp>
      <p:sp>
        <p:nvSpPr>
          <p:cNvPr id="696" name="Google Shape;696;p22"/>
          <p:cNvSpPr/>
          <p:nvPr/>
        </p:nvSpPr>
        <p:spPr>
          <a:xfrm>
            <a:off x="4095750" y="4114800"/>
            <a:ext cx="706755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2"/>
          <p:cNvSpPr/>
          <p:nvPr/>
        </p:nvSpPr>
        <p:spPr>
          <a:xfrm>
            <a:off x="4400550" y="4210050"/>
            <a:ext cx="6457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研修・即時FB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上司の同行と振り返り</a:t>
            </a:r>
            <a:endParaRPr/>
          </a:p>
        </p:txBody>
      </p:sp>
      <p:sp>
        <p:nvSpPr>
          <p:cNvPr id="698" name="Google Shape;698;p22"/>
          <p:cNvSpPr/>
          <p:nvPr/>
        </p:nvSpPr>
        <p:spPr>
          <a:xfrm>
            <a:off x="1657350" y="5562600"/>
            <a:ext cx="9505950" cy="400050"/>
          </a:xfrm>
          <a:prstGeom prst="roundRect">
            <a:avLst>
              <a:gd fmla="val 2381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2"/>
          <p:cNvSpPr/>
          <p:nvPr/>
        </p:nvSpPr>
        <p:spPr>
          <a:xfrm>
            <a:off x="1885950" y="5619750"/>
            <a:ext cx="904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高い目標ほど、再現するための仕組みが必要。</a:t>
            </a:r>
            <a:endParaRPr/>
          </a:p>
        </p:txBody>
      </p:sp>
      <p:pic>
        <p:nvPicPr>
          <p:cNvPr id="700" name="Google Shape;7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3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3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708" name="Google Shape;708;p23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AIが減らすのは、まず「定型業務」</a:t>
            </a:r>
            <a:endParaRPr/>
          </a:p>
        </p:txBody>
      </p:sp>
      <p:cxnSp>
        <p:nvCxnSpPr>
          <p:cNvPr id="709" name="Google Shape;709;p23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p23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711" name="Google Shape;711;p23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P.24</a:t>
            </a:r>
            <a:endParaRPr/>
          </a:p>
        </p:txBody>
      </p:sp>
      <p:sp>
        <p:nvSpPr>
          <p:cNvPr id="712" name="Google Shape;712;p23"/>
          <p:cNvSpPr/>
          <p:nvPr/>
        </p:nvSpPr>
        <p:spPr>
          <a:xfrm>
            <a:off x="533400" y="1390650"/>
            <a:ext cx="723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WEFが挙げる、2030年までに減少が速い役割の例</a:t>
            </a:r>
            <a:endParaRPr/>
          </a:p>
        </p:txBody>
      </p:sp>
      <p:sp>
        <p:nvSpPr>
          <p:cNvPr id="713" name="Google Shape;713;p23"/>
          <p:cNvSpPr/>
          <p:nvPr/>
        </p:nvSpPr>
        <p:spPr>
          <a:xfrm>
            <a:off x="533400" y="1885950"/>
            <a:ext cx="3467100" cy="16002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3"/>
          <p:cNvSpPr/>
          <p:nvPr/>
        </p:nvSpPr>
        <p:spPr>
          <a:xfrm>
            <a:off x="800100" y="2190750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レジ係・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チケット係</a:t>
            </a:r>
            <a:endParaRPr/>
          </a:p>
        </p:txBody>
      </p:sp>
      <p:sp>
        <p:nvSpPr>
          <p:cNvPr id="715" name="Google Shape;715;p23"/>
          <p:cNvSpPr/>
          <p:nvPr/>
        </p:nvSpPr>
        <p:spPr>
          <a:xfrm>
            <a:off x="4286250" y="1885950"/>
            <a:ext cx="3467100" cy="1600200"/>
          </a:xfrm>
          <a:prstGeom prst="roundRect">
            <a:avLst>
              <a:gd fmla="val 9524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3"/>
          <p:cNvSpPr/>
          <p:nvPr/>
        </p:nvSpPr>
        <p:spPr>
          <a:xfrm>
            <a:off x="4552950" y="2190750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事務アシスタント・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秘書</a:t>
            </a:r>
            <a:endParaRPr/>
          </a:p>
        </p:txBody>
      </p:sp>
      <p:sp>
        <p:nvSpPr>
          <p:cNvPr id="717" name="Google Shape;717;p23"/>
          <p:cNvSpPr/>
          <p:nvPr/>
        </p:nvSpPr>
        <p:spPr>
          <a:xfrm>
            <a:off x="8039100" y="1885950"/>
            <a:ext cx="3467100" cy="16002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3"/>
          <p:cNvSpPr/>
          <p:nvPr/>
        </p:nvSpPr>
        <p:spPr>
          <a:xfrm>
            <a:off x="8305800" y="2190750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データ入力・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記録業務</a:t>
            </a:r>
            <a:endParaRPr/>
          </a:p>
        </p:txBody>
      </p:sp>
      <p:sp>
        <p:nvSpPr>
          <p:cNvPr id="719" name="Google Shape;719;p23"/>
          <p:cNvSpPr/>
          <p:nvPr/>
        </p:nvSpPr>
        <p:spPr>
          <a:xfrm>
            <a:off x="533400" y="394335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営業で置き換わりやすい部分</a:t>
            </a:r>
            <a:endParaRPr/>
          </a:p>
        </p:txBody>
      </p:sp>
      <p:sp>
        <p:nvSpPr>
          <p:cNvPr id="720" name="Google Shape;720;p23"/>
          <p:cNvSpPr/>
          <p:nvPr/>
        </p:nvSpPr>
        <p:spPr>
          <a:xfrm>
            <a:off x="533400" y="4476750"/>
            <a:ext cx="2438400" cy="609600"/>
          </a:xfrm>
          <a:prstGeom prst="roundRect">
            <a:avLst>
              <a:gd fmla="val 1875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3"/>
          <p:cNvSpPr/>
          <p:nvPr/>
        </p:nvSpPr>
        <p:spPr>
          <a:xfrm>
            <a:off x="685800" y="459105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入力</a:t>
            </a:r>
            <a:endParaRPr/>
          </a:p>
        </p:txBody>
      </p:sp>
      <p:sp>
        <p:nvSpPr>
          <p:cNvPr id="722" name="Google Shape;722;p23"/>
          <p:cNvSpPr/>
          <p:nvPr/>
        </p:nvSpPr>
        <p:spPr>
          <a:xfrm>
            <a:off x="3257550" y="4476750"/>
            <a:ext cx="2438400" cy="609600"/>
          </a:xfrm>
          <a:prstGeom prst="roundRect">
            <a:avLst>
              <a:gd fmla="val 1875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3"/>
          <p:cNvSpPr/>
          <p:nvPr/>
        </p:nvSpPr>
        <p:spPr>
          <a:xfrm>
            <a:off x="3409950" y="459105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リスト整理</a:t>
            </a:r>
            <a:endParaRPr/>
          </a:p>
        </p:txBody>
      </p:sp>
      <p:sp>
        <p:nvSpPr>
          <p:cNvPr id="724" name="Google Shape;724;p23"/>
          <p:cNvSpPr/>
          <p:nvPr/>
        </p:nvSpPr>
        <p:spPr>
          <a:xfrm>
            <a:off x="5981700" y="4476750"/>
            <a:ext cx="2438400" cy="609600"/>
          </a:xfrm>
          <a:prstGeom prst="roundRect">
            <a:avLst>
              <a:gd fmla="val 1875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3"/>
          <p:cNvSpPr/>
          <p:nvPr/>
        </p:nvSpPr>
        <p:spPr>
          <a:xfrm>
            <a:off x="6134100" y="459105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定型説明</a:t>
            </a:r>
            <a:endParaRPr/>
          </a:p>
        </p:txBody>
      </p:sp>
      <p:sp>
        <p:nvSpPr>
          <p:cNvPr id="726" name="Google Shape;726;p23"/>
          <p:cNvSpPr/>
          <p:nvPr/>
        </p:nvSpPr>
        <p:spPr>
          <a:xfrm>
            <a:off x="8705850" y="4476750"/>
            <a:ext cx="2438400" cy="609600"/>
          </a:xfrm>
          <a:prstGeom prst="roundRect">
            <a:avLst>
              <a:gd fmla="val 1875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3"/>
          <p:cNvSpPr/>
          <p:nvPr/>
        </p:nvSpPr>
        <p:spPr>
          <a:xfrm>
            <a:off x="8858250" y="459105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日程調整</a:t>
            </a:r>
            <a:endParaRPr/>
          </a:p>
        </p:txBody>
      </p:sp>
      <p:sp>
        <p:nvSpPr>
          <p:cNvPr id="728" name="Google Shape;728;p23"/>
          <p:cNvSpPr/>
          <p:nvPr/>
        </p:nvSpPr>
        <p:spPr>
          <a:xfrm>
            <a:off x="533400" y="5429250"/>
            <a:ext cx="11125200" cy="495300"/>
          </a:xfrm>
          <a:prstGeom prst="roundRect">
            <a:avLst>
              <a:gd fmla="val 23077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3"/>
          <p:cNvSpPr/>
          <p:nvPr/>
        </p:nvSpPr>
        <p:spPr>
          <a:xfrm>
            <a:off x="762000" y="5524500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AIを使って定型作業を短くし、人に向き合う時間を増やす。</a:t>
            </a:r>
            <a:endParaRPr/>
          </a:p>
        </p:txBody>
      </p:sp>
      <p:sp>
        <p:nvSpPr>
          <p:cNvPr id="730" name="Google Shape;730;p23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出典：World Economic Forum, The Future of Jobs Report 2025</a:t>
            </a:r>
            <a:endParaRPr/>
          </a:p>
        </p:txBody>
      </p:sp>
      <p:pic>
        <p:nvPicPr>
          <p:cNvPr id="731" name="Google Shape;7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4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4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739" name="Google Shape;739;p24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AI時代ほど、「人を動かす力」が残る</a:t>
            </a:r>
            <a:endParaRPr/>
          </a:p>
        </p:txBody>
      </p:sp>
      <p:cxnSp>
        <p:nvCxnSpPr>
          <p:cNvPr id="740" name="Google Shape;740;p24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24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742" name="Google Shape;742;p24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P.25</a:t>
            </a:r>
            <a:endParaRPr/>
          </a:p>
        </p:txBody>
      </p:sp>
      <p:sp>
        <p:nvSpPr>
          <p:cNvPr id="743" name="Google Shape;743;p24"/>
          <p:cNvSpPr/>
          <p:nvPr/>
        </p:nvSpPr>
        <p:spPr>
          <a:xfrm>
            <a:off x="533400" y="139065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WEF 2025｜企業が重視する人間中心のスキル</a:t>
            </a:r>
            <a:endParaRPr/>
          </a:p>
        </p:txBody>
      </p:sp>
      <p:sp>
        <p:nvSpPr>
          <p:cNvPr id="744" name="Google Shape;744;p24"/>
          <p:cNvSpPr/>
          <p:nvPr/>
        </p:nvSpPr>
        <p:spPr>
          <a:xfrm>
            <a:off x="647700" y="1943100"/>
            <a:ext cx="3238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  <a:endParaRPr/>
          </a:p>
        </p:txBody>
      </p:sp>
      <p:sp>
        <p:nvSpPr>
          <p:cNvPr id="745" name="Google Shape;745;p24"/>
          <p:cNvSpPr/>
          <p:nvPr/>
        </p:nvSpPr>
        <p:spPr>
          <a:xfrm>
            <a:off x="800100" y="2819400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リーダーシップと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社会的影響力</a:t>
            </a:r>
            <a:endParaRPr/>
          </a:p>
        </p:txBody>
      </p:sp>
      <p:sp>
        <p:nvSpPr>
          <p:cNvPr id="746" name="Google Shape;746;p24"/>
          <p:cNvSpPr/>
          <p:nvPr/>
        </p:nvSpPr>
        <p:spPr>
          <a:xfrm>
            <a:off x="4400550" y="1943100"/>
            <a:ext cx="3238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/>
          </a:p>
        </p:txBody>
      </p:sp>
      <p:sp>
        <p:nvSpPr>
          <p:cNvPr id="747" name="Google Shape;747;p24"/>
          <p:cNvSpPr/>
          <p:nvPr/>
        </p:nvSpPr>
        <p:spPr>
          <a:xfrm>
            <a:off x="4552950" y="2819400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共感と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アクティブリスニング</a:t>
            </a:r>
            <a:endParaRPr/>
          </a:p>
        </p:txBody>
      </p:sp>
      <p:sp>
        <p:nvSpPr>
          <p:cNvPr id="748" name="Google Shape;748;p24"/>
          <p:cNvSpPr/>
          <p:nvPr/>
        </p:nvSpPr>
        <p:spPr>
          <a:xfrm>
            <a:off x="8153400" y="1943100"/>
            <a:ext cx="3238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  <a:endParaRPr/>
          </a:p>
        </p:txBody>
      </p:sp>
      <p:sp>
        <p:nvSpPr>
          <p:cNvPr id="749" name="Google Shape;749;p24"/>
          <p:cNvSpPr/>
          <p:nvPr/>
        </p:nvSpPr>
        <p:spPr>
          <a:xfrm>
            <a:off x="8305800" y="2819400"/>
            <a:ext cx="293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サービス志向と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顧客対応</a:t>
            </a:r>
            <a:endParaRPr/>
          </a:p>
        </p:txBody>
      </p:sp>
      <p:sp>
        <p:nvSpPr>
          <p:cNvPr id="750" name="Google Shape;750;p24"/>
          <p:cNvSpPr/>
          <p:nvPr/>
        </p:nvSpPr>
        <p:spPr>
          <a:xfrm>
            <a:off x="533400" y="3905250"/>
            <a:ext cx="11125200" cy="1352550"/>
          </a:xfrm>
          <a:prstGeom prst="roundRect">
            <a:avLst>
              <a:gd fmla="val 12676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4"/>
          <p:cNvSpPr/>
          <p:nvPr/>
        </p:nvSpPr>
        <p:spPr>
          <a:xfrm>
            <a:off x="876300" y="4133850"/>
            <a:ext cx="104394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住宅営業で鍛えるのは、相手の本音を聴き、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不安をほどき、人生の決断を前に進める力。</a:t>
            </a:r>
            <a:endParaRPr/>
          </a:p>
        </p:txBody>
      </p:sp>
      <p:sp>
        <p:nvSpPr>
          <p:cNvPr id="752" name="Google Shape;752;p24"/>
          <p:cNvSpPr/>
          <p:nvPr/>
        </p:nvSpPr>
        <p:spPr>
          <a:xfrm>
            <a:off x="533400" y="5562600"/>
            <a:ext cx="11125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AIと競争するのではなく、AIを使いながら人にしかできない部分を伸ばす。</a:t>
            </a:r>
            <a:endParaRPr/>
          </a:p>
        </p:txBody>
      </p:sp>
      <p:sp>
        <p:nvSpPr>
          <p:cNvPr id="753" name="Google Shape;753;p24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出典：World Economic Forum, The Future of Jobs Report 2025（世界の主要雇用主1,000社超）</a:t>
            </a:r>
            <a:endParaRPr/>
          </a:p>
        </p:txBody>
      </p:sp>
      <p:pic>
        <p:nvPicPr>
          <p:cNvPr id="754" name="Google Shape;7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5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5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13｜意思決定</a:t>
            </a:r>
            <a:endParaRPr/>
          </a:p>
        </p:txBody>
      </p:sp>
      <p:sp>
        <p:nvSpPr>
          <p:cNvPr id="762" name="Google Shape;762;p25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同じ44年でも、業界と昇格速度で生涯年収は変わる</a:t>
            </a:r>
            <a:endParaRPr/>
          </a:p>
        </p:txBody>
      </p:sp>
      <p:cxnSp>
        <p:nvCxnSpPr>
          <p:cNvPr id="763" name="Google Shape;763;p25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25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765" name="Google Shape;765;p25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P.27</a:t>
            </a:r>
            <a:endParaRPr/>
          </a:p>
        </p:txBody>
      </p:sp>
      <p:sp>
        <p:nvSpPr>
          <p:cNvPr id="766" name="Google Shape;766;p25"/>
          <p:cNvSpPr/>
          <p:nvPr/>
        </p:nvSpPr>
        <p:spPr>
          <a:xfrm>
            <a:off x="533400" y="133350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22〜65歳の累計年収｜単位：億円</a:t>
            </a:r>
            <a:endParaRPr/>
          </a:p>
        </p:txBody>
      </p:sp>
      <p:cxnSp>
        <p:nvCxnSpPr>
          <p:cNvPr id="767" name="Google Shape;767;p25"/>
          <p:cNvCxnSpPr/>
          <p:nvPr/>
        </p:nvCxnSpPr>
        <p:spPr>
          <a:xfrm>
            <a:off x="990600" y="4876800"/>
            <a:ext cx="7239000" cy="0"/>
          </a:xfrm>
          <a:prstGeom prst="straightConnector1">
            <a:avLst/>
          </a:prstGeom>
          <a:noFill/>
          <a:ln cap="flat" cmpd="sng" w="1522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" name="Google Shape;768;p25"/>
          <p:cNvSpPr/>
          <p:nvPr/>
        </p:nvSpPr>
        <p:spPr>
          <a:xfrm>
            <a:off x="533400" y="47625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769" name="Google Shape;769;p25"/>
          <p:cNvCxnSpPr/>
          <p:nvPr/>
        </p:nvCxnSpPr>
        <p:spPr>
          <a:xfrm>
            <a:off x="990600" y="4275992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p25"/>
          <p:cNvSpPr/>
          <p:nvPr/>
        </p:nvSpPr>
        <p:spPr>
          <a:xfrm>
            <a:off x="533400" y="4161692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771" name="Google Shape;771;p25"/>
          <p:cNvCxnSpPr/>
          <p:nvPr/>
        </p:nvCxnSpPr>
        <p:spPr>
          <a:xfrm>
            <a:off x="990600" y="3675185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2" name="Google Shape;772;p25"/>
          <p:cNvSpPr/>
          <p:nvPr/>
        </p:nvSpPr>
        <p:spPr>
          <a:xfrm>
            <a:off x="533400" y="356088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773" name="Google Shape;773;p25"/>
          <p:cNvCxnSpPr/>
          <p:nvPr/>
        </p:nvCxnSpPr>
        <p:spPr>
          <a:xfrm>
            <a:off x="990600" y="3074377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4" name="Google Shape;774;p25"/>
          <p:cNvSpPr/>
          <p:nvPr/>
        </p:nvSpPr>
        <p:spPr>
          <a:xfrm>
            <a:off x="533400" y="2960077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775" name="Google Shape;775;p25"/>
          <p:cNvCxnSpPr/>
          <p:nvPr/>
        </p:nvCxnSpPr>
        <p:spPr>
          <a:xfrm>
            <a:off x="990600" y="2473569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25"/>
          <p:cNvSpPr/>
          <p:nvPr/>
        </p:nvSpPr>
        <p:spPr>
          <a:xfrm>
            <a:off x="533400" y="2359269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777" name="Google Shape;777;p25"/>
          <p:cNvCxnSpPr/>
          <p:nvPr/>
        </p:nvCxnSpPr>
        <p:spPr>
          <a:xfrm>
            <a:off x="990600" y="1872762"/>
            <a:ext cx="72390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25"/>
          <p:cNvSpPr/>
          <p:nvPr/>
        </p:nvSpPr>
        <p:spPr>
          <a:xfrm>
            <a:off x="533400" y="1758462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779" name="Google Shape;779;p25"/>
          <p:cNvCxnSpPr/>
          <p:nvPr/>
        </p:nvCxnSpPr>
        <p:spPr>
          <a:xfrm>
            <a:off x="990600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0" name="Google Shape;780;p25"/>
          <p:cNvSpPr/>
          <p:nvPr/>
        </p:nvSpPr>
        <p:spPr>
          <a:xfrm>
            <a:off x="742950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cxnSp>
        <p:nvCxnSpPr>
          <p:cNvPr id="781" name="Google Shape;781;p25"/>
          <p:cNvCxnSpPr/>
          <p:nvPr/>
        </p:nvCxnSpPr>
        <p:spPr>
          <a:xfrm>
            <a:off x="2169042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2" name="Google Shape;782;p25"/>
          <p:cNvSpPr/>
          <p:nvPr/>
        </p:nvSpPr>
        <p:spPr>
          <a:xfrm>
            <a:off x="1921392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cxnSp>
        <p:nvCxnSpPr>
          <p:cNvPr id="783" name="Google Shape;783;p25"/>
          <p:cNvCxnSpPr/>
          <p:nvPr/>
        </p:nvCxnSpPr>
        <p:spPr>
          <a:xfrm>
            <a:off x="3852530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4" name="Google Shape;784;p25"/>
          <p:cNvSpPr/>
          <p:nvPr/>
        </p:nvSpPr>
        <p:spPr>
          <a:xfrm>
            <a:off x="3604880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cxnSp>
        <p:nvCxnSpPr>
          <p:cNvPr id="785" name="Google Shape;785;p25"/>
          <p:cNvCxnSpPr/>
          <p:nvPr/>
        </p:nvCxnSpPr>
        <p:spPr>
          <a:xfrm>
            <a:off x="5536019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25"/>
          <p:cNvSpPr/>
          <p:nvPr/>
        </p:nvSpPr>
        <p:spPr>
          <a:xfrm>
            <a:off x="5288369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  <p:cxnSp>
        <p:nvCxnSpPr>
          <p:cNvPr id="787" name="Google Shape;787;p25"/>
          <p:cNvCxnSpPr/>
          <p:nvPr/>
        </p:nvCxnSpPr>
        <p:spPr>
          <a:xfrm>
            <a:off x="8229600" y="17526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25"/>
          <p:cNvSpPr/>
          <p:nvPr/>
        </p:nvSpPr>
        <p:spPr>
          <a:xfrm>
            <a:off x="7981950" y="49720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/>
          </a:p>
        </p:txBody>
      </p:sp>
      <p:sp>
        <p:nvSpPr>
          <p:cNvPr id="789" name="Google Shape;789;p25"/>
          <p:cNvSpPr/>
          <p:nvPr/>
        </p:nvSpPr>
        <p:spPr>
          <a:xfrm>
            <a:off x="7962900" y="520065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年齢</a:t>
            </a:r>
            <a:endParaRPr/>
          </a:p>
        </p:txBody>
      </p:sp>
      <p:cxnSp>
        <p:nvCxnSpPr>
          <p:cNvPr id="790" name="Google Shape;790;p25"/>
          <p:cNvCxnSpPr/>
          <p:nvPr/>
        </p:nvCxnSpPr>
        <p:spPr>
          <a:xfrm rot="-480583">
            <a:off x="984795" y="4793889"/>
            <a:ext cx="1190051" cy="0"/>
          </a:xfrm>
          <a:prstGeom prst="straightConnector1">
            <a:avLst/>
          </a:prstGeom>
          <a:noFill/>
          <a:ln cap="flat" cmpd="sng" w="2857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25"/>
          <p:cNvCxnSpPr/>
          <p:nvPr/>
        </p:nvCxnSpPr>
        <p:spPr>
          <a:xfrm rot="-503076">
            <a:off x="2159948" y="4586910"/>
            <a:ext cx="1701677" cy="0"/>
          </a:xfrm>
          <a:prstGeom prst="straightConnector1">
            <a:avLst/>
          </a:prstGeom>
          <a:noFill/>
          <a:ln cap="flat" cmpd="sng" w="2857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p25"/>
          <p:cNvCxnSpPr/>
          <p:nvPr/>
        </p:nvCxnSpPr>
        <p:spPr>
          <a:xfrm rot="-525868">
            <a:off x="3842585" y="4333069"/>
            <a:ext cx="1703379" cy="0"/>
          </a:xfrm>
          <a:prstGeom prst="straightConnector1">
            <a:avLst/>
          </a:prstGeom>
          <a:noFill/>
          <a:ln cap="flat" cmpd="sng" w="2857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p25"/>
          <p:cNvCxnSpPr/>
          <p:nvPr/>
        </p:nvCxnSpPr>
        <p:spPr>
          <a:xfrm rot="-545923">
            <a:off x="5518856" y="3987605"/>
            <a:ext cx="2727906" cy="0"/>
          </a:xfrm>
          <a:prstGeom prst="straightConnector1">
            <a:avLst/>
          </a:prstGeom>
          <a:noFill/>
          <a:ln cap="flat" cmpd="sng" w="28575">
            <a:solidFill>
              <a:srgbClr val="6670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p25"/>
          <p:cNvSpPr/>
          <p:nvPr/>
        </p:nvSpPr>
        <p:spPr>
          <a:xfrm>
            <a:off x="933450" y="4819650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5"/>
          <p:cNvSpPr/>
          <p:nvPr/>
        </p:nvSpPr>
        <p:spPr>
          <a:xfrm>
            <a:off x="2111892" y="4653827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5"/>
          <p:cNvSpPr/>
          <p:nvPr/>
        </p:nvSpPr>
        <p:spPr>
          <a:xfrm>
            <a:off x="3795380" y="4405694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5"/>
          <p:cNvSpPr/>
          <p:nvPr/>
        </p:nvSpPr>
        <p:spPr>
          <a:xfrm>
            <a:off x="5478869" y="4146145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5"/>
          <p:cNvSpPr/>
          <p:nvPr/>
        </p:nvSpPr>
        <p:spPr>
          <a:xfrm>
            <a:off x="8172450" y="3714765"/>
            <a:ext cx="114300" cy="114300"/>
          </a:xfrm>
          <a:prstGeom prst="ellipse">
            <a:avLst/>
          </a:prstGeom>
          <a:solidFill>
            <a:srgbClr val="667085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9" name="Google Shape;799;p25"/>
          <p:cNvCxnSpPr/>
          <p:nvPr/>
        </p:nvCxnSpPr>
        <p:spPr>
          <a:xfrm rot="-559372">
            <a:off x="982713" y="4780070"/>
            <a:ext cx="1194216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25"/>
          <p:cNvCxnSpPr/>
          <p:nvPr/>
        </p:nvCxnSpPr>
        <p:spPr>
          <a:xfrm rot="-598720">
            <a:off x="2156113" y="4535241"/>
            <a:ext cx="1709347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25"/>
          <p:cNvCxnSpPr/>
          <p:nvPr/>
        </p:nvCxnSpPr>
        <p:spPr>
          <a:xfrm rot="-620117">
            <a:off x="3838647" y="4233635"/>
            <a:ext cx="1711254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25"/>
          <p:cNvCxnSpPr/>
          <p:nvPr/>
        </p:nvCxnSpPr>
        <p:spPr>
          <a:xfrm rot="-761746">
            <a:off x="5502265" y="3776721"/>
            <a:ext cx="2761088" cy="0"/>
          </a:xfrm>
          <a:prstGeom prst="straightConnector1">
            <a:avLst/>
          </a:prstGeom>
          <a:noFill/>
          <a:ln cap="flat" cmpd="sng" w="28575">
            <a:solidFill>
              <a:srgbClr val="4D79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25"/>
          <p:cNvSpPr/>
          <p:nvPr/>
        </p:nvSpPr>
        <p:spPr>
          <a:xfrm>
            <a:off x="933450" y="4819650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5"/>
          <p:cNvSpPr/>
          <p:nvPr/>
        </p:nvSpPr>
        <p:spPr>
          <a:xfrm>
            <a:off x="2111892" y="4626190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5"/>
          <p:cNvSpPr/>
          <p:nvPr/>
        </p:nvSpPr>
        <p:spPr>
          <a:xfrm>
            <a:off x="3795380" y="4329992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5"/>
          <p:cNvSpPr/>
          <p:nvPr/>
        </p:nvSpPr>
        <p:spPr>
          <a:xfrm>
            <a:off x="5478869" y="4022979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5"/>
          <p:cNvSpPr/>
          <p:nvPr/>
        </p:nvSpPr>
        <p:spPr>
          <a:xfrm>
            <a:off x="8172450" y="3416163"/>
            <a:ext cx="114300" cy="114300"/>
          </a:xfrm>
          <a:prstGeom prst="ellipse">
            <a:avLst/>
          </a:prstGeom>
          <a:solidFill>
            <a:srgbClr val="4D79C7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8" name="Google Shape;808;p25"/>
          <p:cNvCxnSpPr/>
          <p:nvPr/>
        </p:nvCxnSpPr>
        <p:spPr>
          <a:xfrm rot="-988385">
            <a:off x="965379" y="4702566"/>
            <a:ext cx="1228884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p25"/>
          <p:cNvCxnSpPr/>
          <p:nvPr/>
        </p:nvCxnSpPr>
        <p:spPr>
          <a:xfrm rot="-1359786">
            <a:off x="2098609" y="4176859"/>
            <a:ext cx="1824353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p25"/>
          <p:cNvCxnSpPr/>
          <p:nvPr/>
        </p:nvCxnSpPr>
        <p:spPr>
          <a:xfrm rot="-1391008">
            <a:off x="3778588" y="3464902"/>
            <a:ext cx="1831374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25"/>
          <p:cNvCxnSpPr/>
          <p:nvPr/>
        </p:nvCxnSpPr>
        <p:spPr>
          <a:xfrm rot="-1391008">
            <a:off x="5417710" y="2527642"/>
            <a:ext cx="2930198" cy="0"/>
          </a:xfrm>
          <a:prstGeom prst="straightConnector1">
            <a:avLst/>
          </a:prstGeom>
          <a:noFill/>
          <a:ln cap="flat" cmpd="sng" w="47625">
            <a:solidFill>
              <a:srgbClr val="F474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2" name="Google Shape;812;p25"/>
          <p:cNvSpPr/>
          <p:nvPr/>
        </p:nvSpPr>
        <p:spPr>
          <a:xfrm>
            <a:off x="933450" y="4819650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5"/>
          <p:cNvSpPr/>
          <p:nvPr/>
        </p:nvSpPr>
        <p:spPr>
          <a:xfrm>
            <a:off x="2111892" y="4471182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5"/>
          <p:cNvSpPr/>
          <p:nvPr/>
        </p:nvSpPr>
        <p:spPr>
          <a:xfrm>
            <a:off x="3795380" y="3768237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5"/>
          <p:cNvSpPr/>
          <p:nvPr/>
        </p:nvSpPr>
        <p:spPr>
          <a:xfrm>
            <a:off x="5478869" y="3047267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5"/>
          <p:cNvSpPr/>
          <p:nvPr/>
        </p:nvSpPr>
        <p:spPr>
          <a:xfrm>
            <a:off x="8172450" y="1893717"/>
            <a:ext cx="114300" cy="114300"/>
          </a:xfrm>
          <a:prstGeom prst="ellipse">
            <a:avLst/>
          </a:prstGeom>
          <a:solidFill>
            <a:srgbClr val="F47421"/>
          </a:solidFill>
          <a:ln cap="flat" cmpd="sng" w="13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5"/>
          <p:cNvSpPr/>
          <p:nvPr/>
        </p:nvSpPr>
        <p:spPr>
          <a:xfrm>
            <a:off x="8686800" y="1752600"/>
            <a:ext cx="2819400" cy="31242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5"/>
          <p:cNvSpPr/>
          <p:nvPr/>
        </p:nvSpPr>
        <p:spPr>
          <a:xfrm>
            <a:off x="8953500" y="1981200"/>
            <a:ext cx="2286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65歳までの累計</a:t>
            </a:r>
            <a:endParaRPr/>
          </a:p>
        </p:txBody>
      </p:sp>
      <p:sp>
        <p:nvSpPr>
          <p:cNvPr id="819" name="Google Shape;819;p25"/>
          <p:cNvSpPr/>
          <p:nvPr/>
        </p:nvSpPr>
        <p:spPr>
          <a:xfrm>
            <a:off x="8953500" y="2495550"/>
            <a:ext cx="133350" cy="133350"/>
          </a:xfrm>
          <a:prstGeom prst="ellipse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5"/>
          <p:cNvSpPr/>
          <p:nvPr/>
        </p:nvSpPr>
        <p:spPr>
          <a:xfrm>
            <a:off x="9201150" y="2419350"/>
            <a:ext cx="2019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TBH 標準昇格モデル</a:t>
            </a:r>
            <a:endParaRPr/>
          </a:p>
        </p:txBody>
      </p:sp>
      <p:sp>
        <p:nvSpPr>
          <p:cNvPr id="821" name="Google Shape;821;p25"/>
          <p:cNvSpPr/>
          <p:nvPr/>
        </p:nvSpPr>
        <p:spPr>
          <a:xfrm>
            <a:off x="9201150" y="268605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4.87億</a:t>
            </a:r>
            <a:endParaRPr/>
          </a:p>
        </p:txBody>
      </p:sp>
      <p:sp>
        <p:nvSpPr>
          <p:cNvPr id="822" name="Google Shape;822;p25"/>
          <p:cNvSpPr/>
          <p:nvPr/>
        </p:nvSpPr>
        <p:spPr>
          <a:xfrm>
            <a:off x="8953500" y="3238500"/>
            <a:ext cx="133350" cy="133350"/>
          </a:xfrm>
          <a:prstGeom prst="ellipse">
            <a:avLst/>
          </a:prstGeom>
          <a:solidFill>
            <a:srgbClr val="4D7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5"/>
          <p:cNvSpPr/>
          <p:nvPr/>
        </p:nvSpPr>
        <p:spPr>
          <a:xfrm>
            <a:off x="9201150" y="3162300"/>
            <a:ext cx="2019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住宅（ハウスメーカー）</a:t>
            </a:r>
            <a:endParaRPr/>
          </a:p>
        </p:txBody>
      </p:sp>
      <p:sp>
        <p:nvSpPr>
          <p:cNvPr id="824" name="Google Shape;824;p25"/>
          <p:cNvSpPr/>
          <p:nvPr/>
        </p:nvSpPr>
        <p:spPr>
          <a:xfrm>
            <a:off x="9201150" y="342900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79C7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4D79C7"/>
                </a:solidFill>
                <a:latin typeface="Arial"/>
                <a:ea typeface="Arial"/>
                <a:cs typeface="Arial"/>
                <a:sym typeface="Arial"/>
              </a:rPr>
              <a:t>2.34億</a:t>
            </a:r>
            <a:endParaRPr/>
          </a:p>
        </p:txBody>
      </p:sp>
      <p:sp>
        <p:nvSpPr>
          <p:cNvPr id="825" name="Google Shape;825;p25"/>
          <p:cNvSpPr/>
          <p:nvPr/>
        </p:nvSpPr>
        <p:spPr>
          <a:xfrm>
            <a:off x="8953500" y="3981450"/>
            <a:ext cx="133350" cy="13335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5"/>
          <p:cNvSpPr/>
          <p:nvPr/>
        </p:nvSpPr>
        <p:spPr>
          <a:xfrm>
            <a:off x="9201150" y="3905250"/>
            <a:ext cx="2019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人材サービス</a:t>
            </a:r>
            <a:endParaRPr/>
          </a:p>
        </p:txBody>
      </p:sp>
      <p:sp>
        <p:nvSpPr>
          <p:cNvPr id="827" name="Google Shape;827;p25"/>
          <p:cNvSpPr/>
          <p:nvPr/>
        </p:nvSpPr>
        <p:spPr>
          <a:xfrm>
            <a:off x="9201150" y="417195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1.84億</a:t>
            </a:r>
            <a:endParaRPr/>
          </a:p>
        </p:txBody>
      </p:sp>
      <p:sp>
        <p:nvSpPr>
          <p:cNvPr id="828" name="Google Shape;828;p25"/>
          <p:cNvSpPr/>
          <p:nvPr/>
        </p:nvSpPr>
        <p:spPr>
          <a:xfrm>
            <a:off x="8915400" y="4629150"/>
            <a:ext cx="236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75"/>
              <a:buFont typeface="Arial"/>
              <a:buNone/>
            </a:pPr>
            <a:r>
              <a:rPr b="0" lang="en-US" sz="6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TBH：1年目営業→2年目リーダー→5年目課長→10年目部長。各役職レンジ下限で試算。</a:t>
            </a:r>
            <a:endParaRPr/>
          </a:p>
        </p:txBody>
      </p:sp>
      <p:sp>
        <p:nvSpPr>
          <p:cNvPr id="829" name="Google Shape;829;p25"/>
          <p:cNvSpPr/>
          <p:nvPr/>
        </p:nvSpPr>
        <p:spPr>
          <a:xfrm>
            <a:off x="990600" y="5372100"/>
            <a:ext cx="10515600" cy="476250"/>
          </a:xfrm>
          <a:prstGeom prst="roundRect">
            <a:avLst>
              <a:gd fmla="val 2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5"/>
          <p:cNvSpPr/>
          <p:nvPr/>
        </p:nvSpPr>
        <p:spPr>
          <a:xfrm>
            <a:off x="1200150" y="546735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初任給より、どの業界で・どの速度で役割を上げるかが効く。</a:t>
            </a:r>
            <a:endParaRPr/>
          </a:p>
        </p:txBody>
      </p:sp>
      <p:sp>
        <p:nvSpPr>
          <p:cNvPr id="831" name="Google Shape;831;p25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出典：doda「業種別の平均年収／生涯賃金」2025｜TBHは社内役職テーブルによる試算（昇格・年収を保証しません）</a:t>
            </a:r>
            <a:endParaRPr/>
          </a:p>
        </p:txBody>
      </p:sp>
      <p:pic>
        <p:nvPicPr>
          <p:cNvPr id="832" name="Google Shape;8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73F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6"/>
          <p:cNvSpPr/>
          <p:nvPr/>
        </p:nvSpPr>
        <p:spPr>
          <a:xfrm>
            <a:off x="685800" y="704850"/>
            <a:ext cx="2381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2035</a:t>
            </a:r>
            <a:endParaRPr/>
          </a:p>
        </p:txBody>
      </p:sp>
      <p:sp>
        <p:nvSpPr>
          <p:cNvPr id="840" name="Google Shape;840;p26"/>
          <p:cNvSpPr/>
          <p:nvPr/>
        </p:nvSpPr>
        <p:spPr>
          <a:xfrm>
            <a:off x="685800" y="1600200"/>
            <a:ext cx="990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2035年、あなたは</a:t>
            </a:r>
            <a:endParaRPr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どの席に座っていますか？</a:t>
            </a:r>
            <a:endParaRPr/>
          </a:p>
        </p:txBody>
      </p:sp>
      <p:sp>
        <p:nvSpPr>
          <p:cNvPr id="841" name="Google Shape;841;p26"/>
          <p:cNvSpPr/>
          <p:nvPr/>
        </p:nvSpPr>
        <p:spPr>
          <a:xfrm>
            <a:off x="685800" y="3752850"/>
            <a:ext cx="1409700" cy="66675"/>
          </a:xfrm>
          <a:prstGeom prst="roundRect">
            <a:avLst>
              <a:gd fmla="val 42857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6"/>
          <p:cNvSpPr/>
          <p:nvPr/>
        </p:nvSpPr>
        <p:spPr>
          <a:xfrm>
            <a:off x="685800" y="4171950"/>
            <a:ext cx="8382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875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CE1F0"/>
              </a:buClr>
              <a:buSzPts val="1875"/>
              <a:buFont typeface="Arial"/>
              <a:buNone/>
            </a:pPr>
            <a:r>
              <a:rPr b="0" lang="en-US" sz="1875">
                <a:solidFill>
                  <a:srgbClr val="DCE1F0"/>
                </a:solidFill>
                <a:latin typeface="Arial"/>
                <a:ea typeface="Arial"/>
                <a:cs typeface="Arial"/>
                <a:sym typeface="Arial"/>
              </a:rPr>
              <a:t>入社前の質問は、いつでも私に直接どうぞ。</a:t>
            </a:r>
            <a:endParaRPr/>
          </a:p>
        </p:txBody>
      </p:sp>
      <p:sp>
        <p:nvSpPr>
          <p:cNvPr id="843" name="Google Shape;843;p26"/>
          <p:cNvSpPr/>
          <p:nvPr/>
        </p:nvSpPr>
        <p:spPr>
          <a:xfrm>
            <a:off x="685800" y="54292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—— 人事部長 宮本</a:t>
            </a:r>
            <a:endParaRPr/>
          </a:p>
        </p:txBody>
      </p:sp>
      <p:sp>
        <p:nvSpPr>
          <p:cNvPr id="844" name="Google Shape;844;p26"/>
          <p:cNvSpPr/>
          <p:nvPr/>
        </p:nvSpPr>
        <p:spPr>
          <a:xfrm>
            <a:off x="9239250" y="5295900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FINAL QUESTION</a:t>
            </a:r>
            <a:endParaRPr/>
          </a:p>
        </p:txBody>
      </p:sp>
      <p:cxnSp>
        <p:nvCxnSpPr>
          <p:cNvPr id="845" name="Google Shape;845;p26"/>
          <p:cNvCxnSpPr/>
          <p:nvPr/>
        </p:nvCxnSpPr>
        <p:spPr>
          <a:xfrm>
            <a:off x="685800" y="6181725"/>
            <a:ext cx="10839450" cy="0"/>
          </a:xfrm>
          <a:prstGeom prst="straightConnector1">
            <a:avLst/>
          </a:prstGeom>
          <a:noFill/>
          <a:ln cap="flat" cmpd="sng" w="9525">
            <a:solidFill>
              <a:srgbClr val="4250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6" name="Google Shape;846;p26"/>
          <p:cNvSpPr/>
          <p:nvPr/>
        </p:nvSpPr>
        <p:spPr>
          <a:xfrm>
            <a:off x="685800" y="63627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0DB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B8C0DB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847" name="Google Shape;847;p26"/>
          <p:cNvSpPr/>
          <p:nvPr/>
        </p:nvSpPr>
        <p:spPr>
          <a:xfrm>
            <a:off x="10934700" y="6334125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0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0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623" name="Google Shape;623;p20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AIの“作り手”自身が、こう警告している</a:t>
            </a:r>
            <a:endParaRPr/>
          </a:p>
        </p:txBody>
      </p:sp>
      <p:cxnSp>
        <p:nvCxnSpPr>
          <p:cNvPr id="624" name="Google Shape;624;p20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20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P.21</a:t>
            </a:r>
            <a:endParaRPr/>
          </a:p>
        </p:txBody>
      </p:sp>
      <p:sp>
        <p:nvSpPr>
          <p:cNvPr id="627" name="Google Shape;627;p20"/>
          <p:cNvSpPr/>
          <p:nvPr/>
        </p:nvSpPr>
        <p:spPr>
          <a:xfrm>
            <a:off x="533400" y="139065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Anthropic（Claude開発元）CEO ダリオ・アモデイ｜2025年</a:t>
            </a:r>
            <a:endParaRPr/>
          </a:p>
        </p:txBody>
      </p:sp>
      <p:sp>
        <p:nvSpPr>
          <p:cNvPr id="628" name="Google Shape;628;p20"/>
          <p:cNvSpPr/>
          <p:nvPr/>
        </p:nvSpPr>
        <p:spPr>
          <a:xfrm>
            <a:off x="971550" y="2019300"/>
            <a:ext cx="40957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8250"/>
              <a:buFont typeface="Arial"/>
              <a:buNone/>
            </a:pPr>
            <a:r>
              <a:rPr b="1" lang="en-US" sz="82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半分</a:t>
            </a:r>
            <a:endParaRPr/>
          </a:p>
        </p:txBody>
      </p:sp>
      <p:sp>
        <p:nvSpPr>
          <p:cNvPr id="629" name="Google Shape;629;p20"/>
          <p:cNvSpPr/>
          <p:nvPr/>
        </p:nvSpPr>
        <p:spPr>
          <a:xfrm>
            <a:off x="5067300" y="2914650"/>
            <a:ext cx="666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sp>
        <p:nvSpPr>
          <p:cNvPr id="630" name="Google Shape;630;p20"/>
          <p:cNvSpPr/>
          <p:nvPr/>
        </p:nvSpPr>
        <p:spPr>
          <a:xfrm>
            <a:off x="876300" y="369570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エントリーレベルのホワイトカラー職が</a:t>
            </a:r>
            <a:endParaRPr/>
          </a:p>
        </p:txBody>
      </p:sp>
      <p:sp>
        <p:nvSpPr>
          <p:cNvPr id="631" name="Google Shape;631;p20"/>
          <p:cNvSpPr/>
          <p:nvPr/>
        </p:nvSpPr>
        <p:spPr>
          <a:xfrm>
            <a:off x="876300" y="414337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今後1〜5年で“消え得る”という警告</a:t>
            </a:r>
            <a:endParaRPr/>
          </a:p>
        </p:txBody>
      </p:sp>
      <p:cxnSp>
        <p:nvCxnSpPr>
          <p:cNvPr id="632" name="Google Shape;632;p20"/>
          <p:cNvCxnSpPr/>
          <p:nvPr/>
        </p:nvCxnSpPr>
        <p:spPr>
          <a:xfrm>
            <a:off x="6362700" y="1866900"/>
            <a:ext cx="0" cy="281940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20"/>
          <p:cNvSpPr/>
          <p:nvPr/>
        </p:nvSpPr>
        <p:spPr>
          <a:xfrm>
            <a:off x="7067550" y="2095500"/>
            <a:ext cx="342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そうなれば</a:t>
            </a:r>
            <a:endParaRPr/>
          </a:p>
        </p:txBody>
      </p:sp>
      <p:sp>
        <p:nvSpPr>
          <p:cNvPr id="634" name="Google Shape;634;p20"/>
          <p:cNvSpPr/>
          <p:nvPr/>
        </p:nvSpPr>
        <p:spPr>
          <a:xfrm>
            <a:off x="6781800" y="264795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750"/>
              <a:buFont typeface="Arial"/>
              <a:buNone/>
            </a:pPr>
            <a:r>
              <a:rPr b="1" lang="en-US" sz="37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失業率10〜20%</a:t>
            </a:r>
            <a:endParaRPr/>
          </a:p>
        </p:txBody>
      </p:sp>
      <p:sp>
        <p:nvSpPr>
          <p:cNvPr id="635" name="Google Shape;635;p20"/>
          <p:cNvSpPr/>
          <p:nvPr/>
        </p:nvSpPr>
        <p:spPr>
          <a:xfrm>
            <a:off x="7067550" y="37147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に上がり得る、と</a:t>
            </a:r>
            <a:endParaRPr/>
          </a:p>
        </p:txBody>
      </p:sp>
      <p:sp>
        <p:nvSpPr>
          <p:cNvPr id="636" name="Google Shape;636;p20"/>
          <p:cNvSpPr/>
          <p:nvPr/>
        </p:nvSpPr>
        <p:spPr>
          <a:xfrm>
            <a:off x="685800" y="4953000"/>
            <a:ext cx="10629900" cy="723900"/>
          </a:xfrm>
          <a:prstGeom prst="roundRect">
            <a:avLst>
              <a:gd fmla="val 18421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0"/>
          <p:cNvSpPr/>
          <p:nvPr/>
        </p:nvSpPr>
        <p:spPr>
          <a:xfrm>
            <a:off x="990600" y="5086350"/>
            <a:ext cx="100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IMFも先進国の雇用の約60%が“AIの影響下”と推計。</a:t>
            </a:r>
            <a:r>
              <a:rPr b="1" lang="en-US" sz="1800">
                <a:solidFill>
                  <a:srgbClr val="FFFFFF"/>
                </a:solidFill>
              </a:rPr>
              <a:t>仕事選びの重みが増している。</a:t>
            </a:r>
            <a:endParaRPr/>
          </a:p>
        </p:txBody>
      </p:sp>
      <p:sp>
        <p:nvSpPr>
          <p:cNvPr id="638" name="Google Shape;638;p20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出典：Axios（2025年5月・Anthropic CEOインタビュー）／IMF Staff Discussion Note 2024。“〜し得る（could）”の予測であり確定ではありません</a:t>
            </a:r>
            <a:endParaRPr/>
          </a:p>
        </p:txBody>
      </p:sp>
      <p:pic>
        <p:nvPicPr>
          <p:cNvPr id="639" name="Google Shape;6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米国では、若手の仕事から減り始めた</a:t>
            </a:r>
            <a:endParaRPr/>
          </a:p>
        </p:txBody>
      </p:sp>
      <p:cxnSp>
        <p:nvCxnSpPr>
          <p:cNvPr id="569" name="Google Shape;569;p18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18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P.22</a:t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533400" y="139065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実測データ｜“予測”ではなく、すでに起きていること</a:t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6858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24955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6858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22〜25歳の雇用が相対減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AIに晒されやすい職種（米）</a:t>
            </a:r>
            <a:endParaRPr/>
          </a:p>
        </p:txBody>
      </p:sp>
      <p:cxnSp>
        <p:nvCxnSpPr>
          <p:cNvPr id="576" name="Google Shape;576;p18"/>
          <p:cNvCxnSpPr/>
          <p:nvPr/>
        </p:nvCxnSpPr>
        <p:spPr>
          <a:xfrm>
            <a:off x="39243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18"/>
          <p:cNvSpPr/>
          <p:nvPr/>
        </p:nvSpPr>
        <p:spPr>
          <a:xfrm>
            <a:off x="44577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5.6</a:t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62674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44577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米・新卒の失業率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全体(約4%)を上回る逆転</a:t>
            </a:r>
            <a:endParaRPr/>
          </a:p>
        </p:txBody>
      </p:sp>
      <p:cxnSp>
        <p:nvCxnSpPr>
          <p:cNvPr id="580" name="Google Shape;580;p18"/>
          <p:cNvCxnSpPr/>
          <p:nvPr/>
        </p:nvCxnSpPr>
        <p:spPr>
          <a:xfrm>
            <a:off x="76962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18"/>
          <p:cNvSpPr/>
          <p:nvPr/>
        </p:nvSpPr>
        <p:spPr>
          <a:xfrm>
            <a:off x="8229600" y="2076450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1.4</a:t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1002030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万人</a:t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8229600" y="2857500"/>
            <a:ext cx="3048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Amazonの人員削減(2025)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CEO「AIで少人数で回る」</a:t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685800" y="4857750"/>
            <a:ext cx="10629900" cy="781050"/>
          </a:xfrm>
          <a:prstGeom prst="roundRect">
            <a:avLst>
              <a:gd fmla="val 17073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952500" y="5010150"/>
            <a:ext cx="1009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最初に置き換わったのは“新人が任される定型業務”。カナリアは、若者だった。</a:t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出典：Stanford Digital Economy Lab 2025／NY連銀 2026／Forbes・CNBC。※因果はAIと断定できません（景気要因も併存）</a:t>
            </a:r>
            <a:endParaRPr/>
          </a:p>
        </p:txBody>
      </p:sp>
      <p:pic>
        <p:nvPicPr>
          <p:cNvPr id="587" name="Google Shape;5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日本は“遅れて”来る。しかし、確実に来る</a:t>
            </a:r>
            <a:endParaRPr/>
          </a:p>
        </p:txBody>
      </p:sp>
      <p:cxnSp>
        <p:nvCxnSpPr>
          <p:cNvPr id="569" name="Google Shape;569;p18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18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P.23</a:t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533400" y="139065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日本｜“まだ来ていない”のではなく、“見えにくい”だけ</a:t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6858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26.7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24955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6858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日本の生成AI利用率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米68.8%・中81.2%と急伸中</a:t>
            </a:r>
            <a:endParaRPr/>
          </a:p>
        </p:txBody>
      </p:sp>
      <p:cxnSp>
        <p:nvCxnSpPr>
          <p:cNvPr id="576" name="Google Shape;576;p18"/>
          <p:cNvCxnSpPr/>
          <p:nvPr/>
        </p:nvCxnSpPr>
        <p:spPr>
          <a:xfrm>
            <a:off x="39243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18"/>
          <p:cNvSpPr/>
          <p:nvPr/>
        </p:nvSpPr>
        <p:spPr>
          <a:xfrm>
            <a:off x="4457700" y="2076450"/>
            <a:ext cx="285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▲42</a:t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626745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4457700" y="2857500"/>
            <a:ext cx="285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事務職の需要（2050年推計）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販売職も約▲26%と構造減</a:t>
            </a:r>
            <a:endParaRPr/>
          </a:p>
        </p:txBody>
      </p:sp>
      <p:cxnSp>
        <p:nvCxnSpPr>
          <p:cNvPr id="580" name="Google Shape;580;p18"/>
          <p:cNvCxnSpPr/>
          <p:nvPr/>
        </p:nvCxnSpPr>
        <p:spPr>
          <a:xfrm>
            <a:off x="7696200" y="2038350"/>
            <a:ext cx="0" cy="2381250"/>
          </a:xfrm>
          <a:prstGeom prst="straightConnector1">
            <a:avLst/>
          </a:prstGeom>
          <a:noFill/>
          <a:ln cap="flat" cmpd="sng" w="1905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18"/>
          <p:cNvSpPr/>
          <p:nvPr/>
        </p:nvSpPr>
        <p:spPr>
          <a:xfrm>
            <a:off x="8229600" y="2076450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1,100</a:t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10020300" y="2390775"/>
            <a:ext cx="66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万人</a:t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8229600" y="2857500"/>
            <a:ext cx="3048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2040年の労働供給不足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AIは“省人化”として歓迎</a:t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685800" y="4857750"/>
            <a:ext cx="10629900" cy="781050"/>
          </a:xfrm>
          <a:prstGeom prst="roundRect">
            <a:avLst>
              <a:gd fmla="val 17073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952500" y="5010150"/>
            <a:ext cx="1009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人手不足が打撃を“見えなくする”間に、備えた人とそうでない人の差がつく。</a:t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出典：総務省 情報通信白書 令和7年版／経産省 未来人材ビジョン2022（高成長シナリオ・約値）／リクルートワークス研究所 未来予測2040</a:t>
            </a:r>
            <a:endParaRPr/>
          </a:p>
        </p:txBody>
      </p:sp>
      <p:pic>
        <p:nvPicPr>
          <p:cNvPr id="587" name="Google Shape;5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"/>
          <p:cNvSpPr/>
          <p:nvPr/>
        </p:nvSpPr>
        <p:spPr>
          <a:xfrm>
            <a:off x="533400" y="276225"/>
            <a:ext cx="76200" cy="238125"/>
          </a:xfrm>
          <a:prstGeom prst="roundRect">
            <a:avLst>
              <a:gd fmla="val 50000" name="adj"/>
            </a:avLst>
          </a:prstGeom>
          <a:solidFill>
            <a:srgbClr val="F47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742950" y="2667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11｜AI時代の営業</a:t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533400" y="7239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52255"/>
                </a:solidFill>
              </a:rPr>
              <a:t>結論：住宅営業は、</a:t>
            </a:r>
            <a:r>
              <a:rPr b="1" lang="en-US" sz="2925">
                <a:solidFill>
                  <a:srgbClr val="152255"/>
                </a:solidFill>
              </a:rPr>
              <a:t>AIに“奪われる側”</a:t>
            </a:r>
            <a:r>
              <a:rPr b="1" lang="en-US" sz="2925">
                <a:solidFill>
                  <a:srgbClr val="152255"/>
                </a:solidFill>
              </a:rPr>
              <a:t>　ではなく“使う側”</a:t>
            </a:r>
            <a:endParaRPr/>
          </a:p>
        </p:txBody>
      </p:sp>
      <p:cxnSp>
        <p:nvCxnSpPr>
          <p:cNvPr id="482" name="Google Shape;482;p15"/>
          <p:cNvCxnSpPr/>
          <p:nvPr/>
        </p:nvCxnSpPr>
        <p:spPr>
          <a:xfrm>
            <a:off x="533400" y="6315075"/>
            <a:ext cx="111252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p15"/>
          <p:cNvSpPr/>
          <p:nvPr/>
        </p:nvSpPr>
        <p:spPr>
          <a:xfrm>
            <a:off x="533400" y="6448425"/>
            <a:ext cx="885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TOKYO BIG HOUSE 最終面接資料｜社外秘・面接時のみ提示</a:t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10744200" y="6419850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P.26</a:t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533400" y="1390650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公的調査と営業実態データ｜この仕事の“残り方”</a:t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533400" y="1866900"/>
            <a:ext cx="4991100" cy="280035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819150" y="21145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事業者を選んだ理由 第1位</a:t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819150" y="2628900"/>
            <a:ext cx="3333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7421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F47421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4267200" y="3133725"/>
            <a:ext cx="81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819150" y="37338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「信頼できる会社・担当者だから」</a:t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6667500" y="1866900"/>
            <a:ext cx="4991100" cy="280035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6953250" y="21145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営業が“売る”ことに使えている時間</a:t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6953250" y="2628900"/>
            <a:ext cx="297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10133125" y="3095625"/>
            <a:ext cx="819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5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5225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6953250" y="37338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44054"/>
                </a:solidFill>
                <a:latin typeface="Arial"/>
                <a:ea typeface="Arial"/>
                <a:cs typeface="Arial"/>
                <a:sym typeface="Arial"/>
              </a:rPr>
              <a:t>残り60%は事務・入力など定型業務</a:t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4438650" y="4953000"/>
            <a:ext cx="3314700" cy="704850"/>
          </a:xfrm>
          <a:prstGeom prst="roundRect">
            <a:avLst>
              <a:gd fmla="val 18919" name="adj"/>
            </a:avLst>
          </a:prstGeom>
          <a:solidFill>
            <a:srgbClr val="152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4667250" y="5076825"/>
            <a:ext cx="285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定型はAIへ、人は商談へ</a:t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533400" y="60198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出典：国交省 住宅市場動向調査 令和6年度（事業者選択理由1位・約55%）／Salesforce State of Sales 第7版 2026</a:t>
            </a:r>
            <a:endParaRPr/>
          </a:p>
        </p:txBody>
      </p:sp>
      <p:pic>
        <p:nvPicPr>
          <p:cNvPr id="499" name="Google Shape;4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1399" y="119051"/>
            <a:ext cx="2095500" cy="44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D17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93B8F3-C570-490D-ADBA-93BFFEB2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5855D-55A5-42A1-A026-881AB1C2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8E6E3-7C41-40F9-BE2F-CCDED99D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FCF69-66B8-48F8-8C02-865A928C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95300"/>
            <a:ext cx="24765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0565d679f4f48"/>
          <a:stretch xmlns:a="http://schemas.openxmlformats.org/drawingml/2006/main"/>
        </p:blipFill>
        <p:spPr>
          <a:xfrm xmlns:a="http://schemas.openxmlformats.org/drawingml/2006/main">
            <a:off x="1072014" y="581025"/>
            <a:ext cx="1704071" cy="36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D62B4-1007-4A83-81DE-F092270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別紙｜学歴と生涯賃金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A5D2B-9003-47C8-B9CD-4F676822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94310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学歴で平均は変わる。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だからこそ、仕事選びが効く。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3FC42-197E-4645-9D4C-A7B5F6C2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0"/>
            <a:ext cx="1409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2C069-51F3-4418-A40B-7BEBFF0C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4340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CE1F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DCE1F0"/>
                </a:solidFill>
                <a:latin typeface="Yu Gothic"/>
                <a:ea typeface="Yu Gothic"/>
                <a:cs typeface="Yu Gothic"/>
              </a:rPr>
              <a:t>文系就職を想定した参考比較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CE1F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DCE1F0"/>
                </a:solidFill>
                <a:latin typeface="Yu Gothic"/>
                <a:ea typeface="Yu Gothic"/>
                <a:cs typeface="Yu Gothic"/>
              </a:rPr>
              <a:t>高卒／G-MARCH未満／G-MARCH／早慶上智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E05BA-F323-40FA-90CD-755A1B6A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762500"/>
            <a:ext cx="1847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EDUCATION ×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LIFETIME EARNINGS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5B3D6-F746-4252-9C13-BBF0980F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0" y="61912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A.01</a:t>
            </a:r>
          </a:p>
        </p:txBody>
      </p:sp>
    </p:spTree>
    <p:extLst>
      <p:ext uri="{BB962C8B-B14F-4D97-AF65-F5344CB8AC3E}">
        <p14:creationId xmlns:p14="http://schemas.microsoft.com/office/powerpoint/2010/main" val="6648344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B63DEF-3311-43F3-B389-BDBE1B2A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76225"/>
            <a:ext cx="76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FB80D-508E-487E-9176-4D0C7406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01｜70歳までの参考推計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cd7a1ef8f4d12"/>
          <a:stretch xmlns:a="http://schemas.openxmlformats.org/drawingml/2006/main"/>
        </p:blipFill>
        <p:spPr>
          <a:xfrm xmlns:a="http://schemas.openxmlformats.org/drawingml/2006/main">
            <a:off x="9749289" y="295275"/>
            <a:ext cx="1704071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3094B-0D91-4A27-9421-17DF2343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70歳まで働くと、高卒とG-MARCH以上で約1.3億円差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CA881-E34E-48F9-8BD2-2E43D841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43F07-45D4-4BA3-BA98-496FE1DF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4842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TOKYO BIG HOUSE 最終面接資料｜別紙・社外秘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34B6E-28A3-45A3-8FD8-7025FD00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0" y="6419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A.02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317E4-4088-4FFE-992C-F067DBA8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381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男性｜70歳まで（20〜69歳）・退職金なし｜G-MARCH以上は代表6校の参考推計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370F8-B87D-4C0E-8512-08EC8E3D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943100"/>
            <a:ext cx="104394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5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3DA8A-6F05-4FB1-9996-A9961D1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0383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比較項目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F2792-D206-4640-A862-752A63A3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20383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0EBCA-7A78-4F24-99AD-F817DE48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20383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G-MARCH以上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C1F98-D792-49D3-A546-ED868FD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2038350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53FFA-CF66-466C-81BB-7281D98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67000"/>
            <a:ext cx="104394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EFB61-ADF1-4EA9-AF67-CD452A1D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8384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30歳前後年収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E1760-2486-4A27-AD33-CAA93CDD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20040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高卒30〜34歳／大学群30歳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E087F-3BC3-4C8A-815A-D73D7900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28956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44054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44054"/>
                </a:solidFill>
                <a:latin typeface="Yu Gothic"/>
                <a:ea typeface="Yu Gothic"/>
                <a:cs typeface="Yu Gothic"/>
              </a:rPr>
              <a:t>約470万円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8F5DD-D6CF-4452-8694-F5ECEFE6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28956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4D79C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4D79C7"/>
                </a:solidFill>
                <a:latin typeface="Yu Gothic"/>
                <a:ea typeface="Yu Gothic"/>
                <a:cs typeface="Yu Gothic"/>
              </a:rPr>
              <a:t>約591万円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BB821-B12B-4066-8AA2-CD7B0418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28956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+約121万円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8350C-C222-4FC6-BA27-7215B663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813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DA118-D5CC-401D-979D-890900C6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18194-891C-4CF7-AA10-9B63AF25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C1EAA-E813-465B-8A8B-19008A6B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829050"/>
            <a:ext cx="104394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47B19-6398-46DB-A2B7-D8EA5FC1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0005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生涯賃金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6A4AF-1F50-4155-B609-F663BEB8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36245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70歳まで・退職金なし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DEC91-0D58-4ABB-B22E-A7A9A135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40576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4405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44054"/>
                </a:solidFill>
                <a:latin typeface="Yu Gothic"/>
                <a:ea typeface="Yu Gothic"/>
                <a:cs typeface="Yu Gothic"/>
              </a:rPr>
              <a:t>約2.56億円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C9AF8-C1F6-43DF-A022-15EC22B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40576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rPr>
              <a:t>約3.86億円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9A383-A8A2-475E-A126-2887DE47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40576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+約1.29億円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955BF-D763-44BB-BB5E-B7122C62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433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03BF9F-30DB-4CFF-B9A2-CF3F50CA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433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71481-3D8E-42A0-93E7-23EAB794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433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8C7750-8CE3-40CD-97FC-5804860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62550"/>
            <a:ext cx="10439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23CC0-71A0-4C4D-8102-889D0DE1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27685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注：右列は大卒全体平均ではなく、G-MARCH以上・代表6校の参考推計。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78660E-C10E-441D-8CE3-279EC18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1980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出典：厚生労働省「令和6年賃金構造基本統計調査」／JILPT「ユースフル労働統計2025」／OpenWork「出身大学別年収ランキング2022」</a:t>
            </a:r>
          </a:p>
        </p:txBody>
      </p:sp>
    </p:spTree>
    <p:extLst>
      <p:ext uri="{BB962C8B-B14F-4D97-AF65-F5344CB8AC3E}">
        <p14:creationId xmlns:p14="http://schemas.microsoft.com/office/powerpoint/2010/main" val="17816454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066D0-9539-4379-BA99-C1E5BE5D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76225"/>
            <a:ext cx="76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14384-2444-4DC7-8ED4-01768F7E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02｜大学群別の参考推計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82b15c9a7424e"/>
          <a:stretch xmlns:a="http://schemas.openxmlformats.org/drawingml/2006/main"/>
        </p:blipFill>
        <p:spPr>
          <a:xfrm xmlns:a="http://schemas.openxmlformats.org/drawingml/2006/main">
            <a:off x="9749289" y="295275"/>
            <a:ext cx="1704071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F128C-A520-4BE2-A636-9AA8E697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70歳まで働くと、大学群の差は1億円単位になる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FD5AC-4A31-4368-B2DD-65F574BE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B750D-B208-453A-B948-FDE45FF7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4842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TOKYO BIG HOUSE 最終面接資料｜別紙・社外秘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F1D82-5ABA-41B2-B246-A245F546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0" y="6419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A.03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E609D-21B1-4CDE-8F48-2915BE79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3811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男性・退職金なし｜20〜69歳累計｜大学群別は30歳想定年収比から換算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6F7E6-48A4-4136-9CF9-E3A1870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69AEB-7CD2-40C1-929B-16F0E6C0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3365205"/>
            <a:ext cx="1428750" cy="158779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C28FB-2D87-4EFE-9520-7D16F101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94610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2.56億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84BD8-95ED-428A-820C-F930DBFE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43053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30代前半平均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470万円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AB2A7-642E-428B-917F-8B44CF4D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高卒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4FA6B-9CDC-4C47-8C83-238D3A5C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548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厚労省＋JILPT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FBA17-040F-4567-A908-0A484CB3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2968256"/>
            <a:ext cx="1428750" cy="1984744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8FA"/>
          </a:solidFill>
          <a:ln xmlns:a="http://schemas.openxmlformats.org/drawingml/2006/main" w="9525">
            <a:solidFill>
              <a:srgbClr val="4D79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63B63-5E7C-4533-A508-D764E7E6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2549156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rPr>
              <a:t>3.20億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9AC74-CB49-4CE6-AA89-02C8E8FC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43053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30歳参考年収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490万円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8C85F-800B-4CDF-92BF-F5A49ECB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G-MARCH未満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1F099-7580-4876-A7B8-3F9ED867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548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大卒平均を代用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D236E-B908-422D-9DFB-2E874528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707758"/>
            <a:ext cx="1428750" cy="2245242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D7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92265-A237-4BD6-ABB0-8EA2AC7B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288658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4D79C7"/>
                </a:solidFill>
                <a:latin typeface="Yu Gothic"/>
                <a:ea typeface="Yu Gothic"/>
                <a:cs typeface="Yu Gothic"/>
              </a:rPr>
              <a:t>3.62億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630B8-A3A9-4E10-AD48-BA372D0E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43053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30歳参考年収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554万円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27B68-509E-408C-BF0A-A8EC0843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525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G-MARCH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68BED-5FD8-4DE6-BBC8-B339190A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525" y="548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代表3校で換算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3A753-0B24-4D55-9BB4-AC37D880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8275" y="2410047"/>
            <a:ext cx="1428750" cy="2542953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F6513-D524-4BD3-B10B-89A37378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43053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30歳参考年収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628万円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46BF8-92F4-48C0-9111-26E03A5A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早慶上智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54DCC3-CBDD-4B57-8701-0F760DE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548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3校平均で換算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3DBB9-0487-45FB-BA14-8E6C686A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657350"/>
            <a:ext cx="2800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798994-7255-4AC1-8263-44F8093B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7526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早慶上智 4.10億円｜高卒差 +1.54億円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30歳参考年収 約628万円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15F4ED-9CB6-487A-AA1E-53F59C5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8102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70歳まで：JILPTの60歳までの生涯賃金に、厚労省2024年の60〜64歳・65〜69歳年収を各5年加算。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6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6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大学群は大卒3.20億円を基準にOpenWorkの30歳年収比で換算。退職金なし・20〜69歳・継続就業を仮定した参考推計です。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14900-E579-4385-988F-5240AA21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1980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出典：厚生労働省「令和6年賃金構造基本統計調査」／JILPT「ユースフル労働統計2025」／OpenWork「出身大学別年収ランキング2022」「30歳の推定平均年収」</a:t>
            </a:r>
          </a:p>
        </p:txBody>
      </p:sp>
    </p:spTree>
    <p:extLst>
      <p:ext uri="{BB962C8B-B14F-4D97-AF65-F5344CB8AC3E}">
        <p14:creationId xmlns:p14="http://schemas.microsoft.com/office/powerpoint/2010/main" val="19189072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D17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14AD2-3243-4C66-A76E-BAB1FE4D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76225"/>
            <a:ext cx="76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BF69F-5334-4FA5-90EF-6EB02ED2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03｜今から選べるもの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0F0BA-E2EE-4B70-9ADF-1A8FCCE6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47650"/>
            <a:ext cx="1962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7f381ba144054"/>
          <a:stretch xmlns:a="http://schemas.openxmlformats.org/drawingml/2006/main"/>
        </p:blipFill>
        <p:spPr>
          <a:xfrm xmlns:a="http://schemas.openxmlformats.org/drawingml/2006/main">
            <a:off x="9749289" y="295275"/>
            <a:ext cx="1704071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73E66-0B22-43E6-BB10-649867D4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0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学歴に頼らず稼ぐなら、3つを間違えない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C6EEE-3D71-4EB8-B040-148B938B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50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8265F-2888-484D-BD43-C6EE7AA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4842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TOKYO BIG HOUSE 最終面接資料｜別紙・社外秘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D3844-1CAB-4271-8B0E-3BC663E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0" y="6419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A.04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1419F-B061-4806-B05F-81EC9BEC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3716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CE1F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DCE1F0"/>
                </a:solidFill>
                <a:latin typeface="Yu Gothic"/>
                <a:ea typeface="Yu Gothic"/>
                <a:cs typeface="Yu Gothic"/>
              </a:rPr>
              <a:t>学歴は過去。業界・商材・環境は、今から選べる。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9CFE1-6147-43C9-9B63-D4E2E2DC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038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F9DEA-E624-4014-A650-1D92F803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419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業界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355C6-9F36-46D9-A99D-31A47B04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086100"/>
            <a:ext cx="1047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C7BEB-86BC-4BF3-A21D-6F8B21B0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3718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年齢とともに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年収曲線が伸びるか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F14D0-E6D0-424B-BD32-9DF081F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457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同じ仕事量でも、業界の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賃金水準は違う。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791E3-AD04-4AC0-8F96-0FF7EA25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0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507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77D22-D97A-43F3-83E9-0C67FEED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038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5BB9A-B68A-412A-BADE-63D0CA24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419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商材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D16C2-59EF-437D-A040-ACF4452C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086100"/>
            <a:ext cx="1047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73E18-4FD4-4EB3-B765-F51C8489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3718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単価が高く、成果が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報酬につながるか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89CAA-C6C4-42CF-8464-1FF2E87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457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住宅のように、1件の価値が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大きい商材を選ぶ。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FF72F-573A-4FE6-B936-08707DB4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0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50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90E8E-8F38-4DBC-A486-99EF8BB6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038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4742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86CEE-6A6B-4495-A031-0835E472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419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環境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EEBCC-3003-4167-BFA7-839AFBA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086100"/>
            <a:ext cx="1047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4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AD8CF-F976-406B-AF17-94D63B67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3718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席・打席・育成が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本当に用意されているか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68483-B462-4A97-8268-5E63423D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4457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昇格の席と、毎日の反復量で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8C0DB"/>
                </a:solidFill>
                <a:latin typeface="Yu Gothic"/>
                <a:ea typeface="Yu Gothic"/>
                <a:cs typeface="Yu Gothic"/>
              </a:rPr>
              <a:t>成長速度が変わる。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908F3-1CEB-44D0-92CF-7296D51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102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7BD7B-62F1-4486-96EB-F94E2DE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52450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52255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2255"/>
                </a:solidFill>
                <a:latin typeface="Yu Gothic"/>
                <a:ea typeface="Yu Gothic"/>
                <a:cs typeface="Yu Gothic"/>
              </a:rPr>
              <a:t>学歴で決まるのは平均。あなたの上限は、これからの選択で変えられる。</a:t>
            </a:r>
          </a:p>
        </p:txBody>
      </p:sp>
    </p:spTree>
    <p:extLst>
      <p:ext uri="{BB962C8B-B14F-4D97-AF65-F5344CB8AC3E}">
        <p14:creationId xmlns:p14="http://schemas.microsoft.com/office/powerpoint/2010/main" val="1510823044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最終面接サポート資料（AI時代・学歴と生涯年収 統合版）</dc:title>
  <dc:creator>TOKYO BIG HOUSE</dc:creator>
</cp:coreProperties>
</file>