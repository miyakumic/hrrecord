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035040" cy="603504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1F305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東京ビッグハウス株式会社  ／  採用説明資料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1828800"/>
            <a:ext cx="10607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AI時代に、なぜ</a:t>
            </a:r>
            <a:pPr algn="l"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“人の営業”</a:t>
            </a:r>
            <a:pPr algn="l"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の</a:t>
            </a:r>
            <a:endParaRPr lang="en-US" sz="5200" dirty="0"/>
          </a:p>
          <a:p>
            <a:pPr algn="l" indent="0" marL="0">
              <a:lnSpc>
                <a:spcPts val="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価値が上がるのか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42976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 データで考える、住宅営業という仕事の10年後 ―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6172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本資料の数字はすべて出典付き（末尾一覧）。社内実績データは差し込み欄あり。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VOICE ／ まず、正直に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「AIで仕事、なくなるかも」その不安は正しい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6002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就活生のあなたが</a:t>
            </a:r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AIと仕事の関係を意識するのは、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むしろ当然です。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66928" y="306324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この資料は、その不安に“会社の宣伝”ではなく「事実」で向き合うために作りました。まず、いまの学生のリアルなデータから。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53949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出典：マイナビキャリアリサーチLab「2027年卒 大学生キャリア意向調査（AI利用）」2026年5月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55448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691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84.9%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006840" y="1691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の27卒が就活でAIを利用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（前年比 +18ポイント）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26480" y="365760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37947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11.4%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9006840" y="379476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が「AIに代替されにくい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業界・職種を選ぶようになった」</a:t>
            </a:r>
            <a:endParaRPr lang="en-US" sz="14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と回答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／ 作り手たちの警告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AIを“作っている当事者”が、こう言っている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08760"/>
            <a:ext cx="5623560" cy="4160520"/>
          </a:xfrm>
          <a:prstGeom prst="roundRect">
            <a:avLst>
              <a:gd name="adj" fmla="val 1978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178308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Anthropic（Claude開発元）CEO　ダリオ・アモデイ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219456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「AIは今後1〜5年で、
</a:t>
            </a:r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エントリーレベルの
ホワイトカラー職の“半分”
</a:t>
            </a:r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を消し得る。</a:t>
            </a:r>
            <a:endParaRPr lang="en-US" sz="23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失業率は10〜20%になり得る」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32688" y="48006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金融・法律・コンサル・ITの初級職を名指し。“技術の作り手には、何が来るのかを正直に語る義務がある”（2025年）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1508760"/>
            <a:ext cx="517550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39128" y="1618488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 / 60%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778240" y="1636776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世界の雇用がAIの影響下に。先進国は約60%（＝日本も含む）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0" y="2496312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IMF, 2024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46520" y="2935224"/>
            <a:ext cx="5175504" cy="1298448"/>
          </a:xfrm>
          <a:prstGeom prst="roundRect">
            <a:avLst>
              <a:gd name="adj" fmla="val 6338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39128" y="3044952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9,200万件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778240" y="3063240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が2030年までに消失。1.7億件が新たに生まれる裏で“大転換”が起きる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778240" y="392277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WEF Future of Jobs 2025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46520" y="4361688"/>
            <a:ext cx="5175504" cy="1298448"/>
          </a:xfrm>
          <a:prstGeom prst="roundRect">
            <a:avLst>
              <a:gd name="adj" fmla="val 6338"/>
            </a:avLst>
          </a:prstGeom>
          <a:solidFill>
            <a:srgbClr val="F7EBE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39128" y="4471416"/>
            <a:ext cx="22860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B35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“全員”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778240" y="4489704"/>
            <a:ext cx="25694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「単調な知的労働は、AIが全員を置き換える」― J.ヒントン（ノーベル賞・AIのゴッドファーザー）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78240" y="5349240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報道, 2024-25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出典：Axios(D.アモデイ,2025) ／ IMF(2024) ／ WEF Future of Jobs 2025 ／ 報道(G.ヒントン)。数値は“影響・〜し得る”であり確定した消滅数ではない。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 ／ 米国の現実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「予測」ではない。米国では“若手から”減り始めた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77393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41248" y="25968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AIに晒されやすい職種で、22〜25歳の雇用が相対的に減少（若手ソフト開発者はピーク比約20%減）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33924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スタンフォード大, 2025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15968" y="1572768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0288" y="177393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90288" y="25968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米・新卒(22〜27歳)の失業率。全体(約4%)を上回る“歴史的逆転”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90288" y="33924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NY連銀,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65008" y="1572768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7EBE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39328" y="177393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B352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14,000人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339328" y="2596896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Amazonが2025年に削減。CEO「AIで、今より少ない人数で仕事が回る」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39328" y="33924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Forbes/CNBC, 2025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005072"/>
            <a:ext cx="11064240" cy="1572768"/>
          </a:xfrm>
          <a:prstGeom prst="roundRect">
            <a:avLst>
              <a:gd name="adj" fmla="val 523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8408" y="416966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最初に消えたのは、“経験の浅い若手が最初に任される定型業務”。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78408" y="46634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データ入力・一次リサーチ・下書き・テンプレ的な作業…AIは“新人の仕事”から置き換える。だから今、米国で最も打撃を受けているのは20代前半。“炭鉱のカナリア”は、若者だった。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出典：Stanford Digital Economy Lab「Canaries in the Coal Mine?」2025 ／ NY連銀 ／ Forbes/CNBC。※因果をAIと断定はできない（景気要因も併存）。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／ 時間差はある、しかし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日本で危機が“遅れて”見えるのは、少子高齢化のせい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E9F1F4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6824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なぜ“遅れて”見えるか ― 時間の猶予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32688" y="224028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3055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2040年に約1,100万人の労働供給不足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532888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だからAIは“失業”でなく“省人化”として歓迎される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" y="3410712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300984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終身・メンバーシップ型雇用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7033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職務をAIが代替しても別職務へ移れ、失業として表面化しにくい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0488" y="1481328"/>
            <a:ext cx="5440680" cy="3200400"/>
          </a:xfrm>
          <a:prstGeom prst="roundRect">
            <a:avLst>
              <a:gd name="adj" fmla="val 2571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10528" y="1682496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なぜ“確実に”来るか ― 不可逆のトレンド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56248" y="2203704"/>
            <a:ext cx="146304" cy="146304"/>
          </a:xfrm>
          <a:prstGeom prst="ellipse">
            <a:avLst/>
          </a:prstGeom>
          <a:solidFill>
            <a:srgbClr val="C9871F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209397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生成AI利用率：日本26.7% / 米68.8% / 中81.2%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12280" y="24231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各国は急伸中。日本が追いつくのは時間の問題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56248" y="3026664"/>
            <a:ext cx="146304" cy="146304"/>
          </a:xfrm>
          <a:prstGeom prst="ellipse">
            <a:avLst/>
          </a:prstGeom>
          <a:solidFill>
            <a:srgbClr val="C9871F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291693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事務職の需要 約▲42%・販売 約▲26%（2050年）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324612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AI導入の遅れは一時的でも、需要減は“構造的”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56248" y="3849624"/>
            <a:ext cx="146304" cy="146304"/>
          </a:xfrm>
          <a:prstGeom prst="ellipse">
            <a:avLst/>
          </a:prstGeom>
          <a:solidFill>
            <a:srgbClr val="C9871F"/>
          </a:solidFill>
          <a:ln/>
        </p:spPr>
      </p:sp>
      <p:sp>
        <p:nvSpPr>
          <p:cNvPr id="23" name="Text 21"/>
          <p:cNvSpPr/>
          <p:nvPr/>
        </p:nvSpPr>
        <p:spPr>
          <a:xfrm>
            <a:off x="6812280" y="3739896"/>
            <a:ext cx="4526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生産年齢人口 7,509万→5,540万人（2020→2050）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406908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働き手そのものが約▲26%。若者はさらに希少に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4864608"/>
            <a:ext cx="11064240" cy="896112"/>
          </a:xfrm>
          <a:prstGeom prst="roundRect">
            <a:avLst>
              <a:gd name="adj" fmla="val 9184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78408" y="4864608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猶予があるうちに </a:t>
            </a:r>
            <a:pPr algn="l"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“AIに代替されない力”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を身につけた人だけが、次の10年で強い。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出典：リクルートワークス研究所「未来予測2040」／総務省「情報通信白書」令和7年版／経産省「未来人材ビジョン」／社人研 令和5年推計。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PIVOT ／ 何が消えて、何が残るか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では、AIに“残る”のはどんな仕事か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分かれ目は「職業名」ではなく仕事の中身が「定型」か「創造性・信頼・交渉を要する対人」か。ここに、危機を“チャンス”に変える鍵がある。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267712"/>
            <a:ext cx="544068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66928" y="2267712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B3524C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2551176"/>
            <a:ext cx="5440680" cy="283464"/>
          </a:xfrm>
          <a:prstGeom prst="rect">
            <a:avLst/>
          </a:prstGeom>
          <a:solidFill>
            <a:srgbClr val="B3524C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6771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AIに代替されやすい（高リスク）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968" y="31089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テレアポ／電話勧誘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1688" y="31089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代替確率 0.99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86968" y="3657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レジ・定型販売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61688" y="3657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86968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小売販売員（定型接客）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61688" y="42062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86968" y="47548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定型的な事務・データ入力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61688" y="4754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高リスク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90488" y="2267712"/>
            <a:ext cx="5440680" cy="31546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0488" y="2267712"/>
            <a:ext cx="5440680" cy="566928"/>
          </a:xfrm>
          <a:prstGeom prst="roundRect">
            <a:avLst>
              <a:gd name="adj" fmla="val 14516"/>
            </a:avLst>
          </a:prstGeom>
          <a:solidFill>
            <a:srgbClr val="2E7D57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0488" y="2551176"/>
            <a:ext cx="5440680" cy="283464"/>
          </a:xfrm>
          <a:prstGeom prst="rect">
            <a:avLst/>
          </a:prstGeom>
          <a:solidFill>
            <a:srgbClr val="2E7D57"/>
          </a:solidFill>
          <a:ln/>
        </p:spPr>
      </p:sp>
      <p:sp>
        <p:nvSpPr>
          <p:cNvPr id="22" name="Text 20"/>
          <p:cNvSpPr/>
          <p:nvPr/>
        </p:nvSpPr>
        <p:spPr>
          <a:xfrm>
            <a:off x="6464808" y="226771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残る＝価値が上がる（低リスク）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10528" y="3108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創造性・提案力を要する仕事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社会的知性・信頼構築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10528" y="4206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交渉・折衝を伴う対人商談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10528" y="4754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＝住宅の高額・対面コンサル営業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305288" y="47548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★当社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出典：Frey &amp; Osborne (2013) / 野村総合研究所×オックスフォード大学 (2015)。確率は米国O*NETベース・要現物確認。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 ／ 伸びる力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AI時代に“需要が伸びるスキル”の上位は、営業の力そのもの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53619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世界経済フォーラム『Future of Jobs 2025』が挙げる“いま最重要の中核スキル”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286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リーダーシップ・社会的影響力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138928" y="22860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5394960" cy="201168"/>
          </a:xfrm>
          <a:prstGeom prst="roundRect">
            <a:avLst>
              <a:gd name="adj" fmla="val 50000"/>
            </a:avLst>
          </a:prstGeom>
          <a:solidFill>
            <a:srgbClr val="DCE3EC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2615184"/>
            <a:ext cx="4639666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3127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共感と傾聴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138928" y="31272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3456432"/>
            <a:ext cx="5394960" cy="201168"/>
          </a:xfrm>
          <a:prstGeom prst="roundRect">
            <a:avLst>
              <a:gd name="adj" fmla="val 50000"/>
            </a:avLst>
          </a:prstGeom>
          <a:solidFill>
            <a:srgbClr val="DCE3EC"/>
          </a:solidFill>
          <a:ln/>
        </p:spPr>
      </p:sp>
      <p:sp>
        <p:nvSpPr>
          <p:cNvPr id="14" name="Shape 12"/>
          <p:cNvSpPr/>
          <p:nvPr/>
        </p:nvSpPr>
        <p:spPr>
          <a:xfrm>
            <a:off x="566928" y="3456432"/>
            <a:ext cx="3884371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9684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サービス志向・顧客対応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138928" y="39684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4297680"/>
            <a:ext cx="5394960" cy="201168"/>
          </a:xfrm>
          <a:prstGeom prst="roundRect">
            <a:avLst>
              <a:gd name="adj" fmla="val 50000"/>
            </a:avLst>
          </a:prstGeom>
          <a:solidFill>
            <a:srgbClr val="DCE3EC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4297680"/>
            <a:ext cx="3398825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8097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レジリエンス・柔軟性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38928" y="48097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2位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5138928"/>
            <a:ext cx="5394960" cy="201168"/>
          </a:xfrm>
          <a:prstGeom prst="roundRect">
            <a:avLst>
              <a:gd name="adj" fmla="val 50000"/>
            </a:avLst>
          </a:prstGeom>
          <a:solidFill>
            <a:srgbClr val="DCE3EC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" y="5138928"/>
            <a:ext cx="4855464" cy="20116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6355080" y="1874520"/>
            <a:ext cx="5257800" cy="3840480"/>
          </a:xfrm>
          <a:prstGeom prst="roundRect">
            <a:avLst>
              <a:gd name="adj" fmla="val 2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0840" y="21031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いまのAIが“届いていない”領域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25146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AI利用は「コンピュータ・数学」タスクに集中。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身体・対面・関係性を要する仕事の利用は極端に低い。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342900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「</a:t>
            </a:r>
            <a:pPr indent="0" marL="0">
              <a:lnSpc>
                <a:spcPts val="2400"/>
              </a:lnSpc>
              <a:buNone/>
            </a:pPr>
            <a:r>
              <a:rPr lang="en-US" sz="17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信頼構築や人間関係のマネジメントは、AIが再現しにくい</a:t>
            </a:r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」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20840" y="470916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 Anthropic Economic Index / OpenAI「GPTs are GPTs」より（対人・身体を伴う仕事ほどAIの影響・利用が小さい）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出典：WEF Future of Jobs Report 2025 ／ Anthropic Economic Index (2025-) ／ OpenAI (2023)。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／ 事業の土台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住宅は“人生最大の買い物”。だから最後は人に相談する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41248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約2.2倍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4124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販売職の有効求人倍率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全職種平均1.2倍の約2倍＝人材の希少性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90288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12万人超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59028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東京圏への転入超過（2025年）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当社商圏に人と世帯が集まり続ける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65008" y="1600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39328" y="182880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2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約55%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8339328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注文住宅の事業者選択理由 第1位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31729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「信頼できる住宅メーカー／不動産業者」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02336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8408" y="42062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情報収集は「ネット」。でも最終判断は「人（担当者）」。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8408" y="47091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数千万円・一生に一度・一件ごとに条件が違う買い物では、AIやネットで調べ尽くした人ほど、最後は「この人から買いたい」で決める。この“決めさせる力”こそ住宅営業の中核価値。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出典：厚労省 一般職業紹介状況 ／ 総務省 住民基本台帳人口移動報告2025 ／ 国交省 住宅市場動向調査 令和6年度。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WAY ／ AIは敵ではなく武器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AIが“雑務”を巻き取り、人は「商談」に集中する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営業担当者が実際に「売る」ことに使えている時間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DCE3EC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57400"/>
            <a:ext cx="4425696" cy="868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057400"/>
            <a:ext cx="41513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売る時間 40%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221224" y="2057400"/>
            <a:ext cx="6272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残り 60% ＝ 事務・データ入力・社内会議など“非営業業務”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4290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1248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-34% / -36%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41248" y="4142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AIで見込み客リサーチ・メール作成の時間を削減できると営業が期待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5968" y="34290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90288" y="36118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90288" y="41422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国内営業が顧客対応に使えている業務時間。「もっと商談に時間を使いたい」が本音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65008" y="3429000"/>
            <a:ext cx="3566160" cy="1371600"/>
          </a:xfrm>
          <a:prstGeom prst="roundRect">
            <a:avLst>
              <a:gd name="adj" fmla="val 6000"/>
            </a:avLst>
          </a:prstGeom>
          <a:solidFill>
            <a:srgbClr val="E9F1F4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9328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【差し込み】当社のAI活用の実例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39328" y="39959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反響一次対応・提案資料作成・追客・図面/パース生成 等、自社で実際に使っている場面を1つ以上ここに（実態のある事例のみ）。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AIは営業を“消す”のではなく、営業から“雑務を消す”。空いた時間はすべて、人にしかできない商談と信頼構築へ。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出典：Salesforce「State of Sales」第7版(2026) ／ HubSpot「日本の営業実態調査」2024。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GAIN ／ あなたが得るもの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AI時代に価値が上がる力を、稼ぎながら身につける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6002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報酬：若いうちから、正当に稼げる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286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20代で年収 </a:t>
            </a:r>
            <a:pPr indent="0" marL="0">
              <a:buNone/>
            </a:pPr>
            <a:r>
              <a:rPr lang="en-US" sz="26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1,000万円</a:t>
            </a:r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の実例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86968" y="28803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営業メンバー平均年収 750万円以上。【差し込み：年次・年齢別の給与実例（平均とトップを明示区分）】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0488" y="160020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BEFD9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10528" y="18288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成長：ゼロから、体系的に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0528" y="228600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未経験入社 </a:t>
            </a:r>
            <a:pPr indent="0" marL="0">
              <a:buNone/>
            </a:pPr>
            <a:r>
              <a:rPr lang="en-US" sz="2600" b="1" dirty="0">
                <a:solidFill>
                  <a:srgbClr val="2E7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10528" y="288036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研修で対人折衝・交渉・信頼構築を基礎から。AI時代に“需要が伸びるスキル”（S.6）を、仕事を通じて毎日鍛えられる環境。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9476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1B2A4A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8408" y="3977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ここで身につく力は、会社を越えて価値が上がり続ける“個人資産”。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978408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対人折衝・交渉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30168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課題発見・提案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81928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信頼構築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933688" y="4709160"/>
            <a:ext cx="2514600" cy="566928"/>
          </a:xfrm>
          <a:prstGeom prst="roundRect">
            <a:avLst>
              <a:gd name="adj" fmla="val 50000"/>
            </a:avLst>
          </a:prstGeom>
          <a:solidFill>
            <a:srgbClr val="24365E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33688" y="470916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レジリエンス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※給与実績は既存採用媒体の公表値。平均とトップ層を明確に区分して提示すること。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／ 正直であること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第三者評価と、きつい部分の“正直な開示”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E9F1F4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86968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第三者評価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22860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働きがいのある会社ランキング
</a:t>
            </a:r>
            <a:pPr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C987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7年連続入賞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190488" y="164592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10528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5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正直に言う、きつい部分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10528" y="228600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成果主義で、立ち上がり期は大変。だから固定給の下支え・研修・メンターで支える。都合の悪いことを先に言える会社かどうかを見てほしい。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6928" y="3840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1800" b="1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数字を盛らない。ネガも隠さない。</a:t>
            </a:r>
            <a:pPr algn="ctr"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3D475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　― それが、口コミの時代にいちばん強い採用ブランドだから。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【差し込み】口コミサイト（OpenWork等）の現状スコア／休日・残業・離職率の実数を、改善の取り組みとセットで開示。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108960"/>
            <a:ext cx="5852160" cy="5852160"/>
          </a:xfrm>
          <a:prstGeom prst="ellipse">
            <a:avLst/>
          </a:prstGeom>
          <a:solidFill>
            <a:srgbClr val="2436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960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AIは確実に来る。だから、AIに奪われない場所を選ぶ。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08176" y="16276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AIに残るのは創造性・信頼・交渉を要する対人業務。住宅の高額対面コンサル営業はその中核。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66928" y="2670048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6700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08176" y="25603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当社はAIを“武器”として使う側。AIが雑務を巻き取り、人は商談と信頼構築に集中する。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66928" y="3602736"/>
            <a:ext cx="566928" cy="56692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6027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08176" y="349300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だからここで得る力（対人折衝・交渉・信頼構築）は、AI時代に価値が上がり続ける個人資産になる。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66928" y="475488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8A33D"/>
          </a:solidFill>
          <a:ln/>
          <a:effectLst>
            <a:outerShdw sx="100000" sy="100000" kx="0" ky="0" algn="bl" rotWithShape="0" blurRad="114300" dist="38100" dir="5400000">
              <a:srgbClr val="9AA6B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24128" y="4754880"/>
            <a:ext cx="10149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まずは、話を聞きに来ませんか。</a:t>
            </a:r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3A2E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　応募当日連絡・現場同行あり・最短1週間で内定。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◎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25296" y="45720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225296" y="71323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出典一覧（掲載前に原典を目視確認すること）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66928" y="1554480"/>
            <a:ext cx="11064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マイナビキャリアリサーチLab「2027年卒 大学生キャリア意向調査（AI利用）」2026年5月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Axios「A white-collar bloodbath」（D.アモデイ発言）2025年5月 ／ IMF「Gen-AI and the Future of Work」2024年1月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Economic Forum「Future of Jobs Report 2025」2025年1月 ／ Goldman Sachs 2023 ／ McKinsey・OECD 2023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Stanford Digital Economy Lab「Canaries in the Coal Mine?」2025年8月（Brynjolfsson et al.）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NY連銀「The Labor Market for Recent College Graduates」2026 ／ Challenger, Gray &amp; Christmas 2025 ／ Forbes・CNBC（Amazon/Microsoft）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 &amp; Osborne (2013) ／ 野村総合研究所×オックスフォード大学 (2015)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Economic Index (2025-) ／ OpenAI「GPTs are GPTs」(2023)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Salesforce「State of Sales」第7版, 2026 ／ HubSpot「日本の営業実態調査」2024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リクルートワークス研究所「未来予測2040」2023 ／ 総務省「情報通信白書」令和7年版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国立社会保障・人口問題研究所「将来推計人口（令和5年推計）」／ 経済産業省「未来人材ビジョン」2022</a:t>
            </a:r>
            <a:endParaRPr lang="en-US" sz="115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D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厚生労働省「一般職業紹介状況」／ 総務省「住民基本台帳人口移動報告2025」／ 国交省「住宅市場動向調査 令和6年度」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66928" y="5623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外部データは検索結果の一次ソース引用に基づく。確定時に各原典URLで数値・調査年・母数を最終確認。数値の多くは“影響／〜し得る”であり確定した消滅数ではない点、社内実績（【差し込み】欄）は実データで置換する点に留意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AI時代に、なぜ人の営業の価値が上がるのか</dc:title>
  <dc:subject>PptxGenJS Presentation</dc:subject>
  <dc:creator>Tokyo Big House</dc:creator>
  <cp:lastModifiedBy>Tokyo Big House</cp:lastModifiedBy>
  <cp:revision>1</cp:revision>
  <dcterms:created xsi:type="dcterms:W3CDTF">2026-07-19T15:13:50Z</dcterms:created>
  <dcterms:modified xsi:type="dcterms:W3CDTF">2026-07-19T15:13:50Z</dcterms:modified>
</cp:coreProperties>
</file>