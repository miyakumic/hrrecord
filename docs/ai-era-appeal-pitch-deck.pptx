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035040" cy="6035040"/>
          </a:xfrm>
          <a:prstGeom prst="ellipse">
            <a:avLst/>
          </a:prstGeom>
          <a:solidFill>
            <a:srgbClr val="24365E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206240" cy="4206240"/>
          </a:xfrm>
          <a:prstGeom prst="ellipse">
            <a:avLst/>
          </a:prstGeom>
          <a:solidFill>
            <a:srgbClr val="1F305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東京ビッグハウス株式会社  ／  採用説明資料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1828800"/>
            <a:ext cx="10607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AI時代に、なぜ</a:t>
            </a:r>
            <a:pPr algn="l"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“人の営業”</a:t>
            </a:r>
            <a:pPr algn="l"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の</a:t>
            </a:r>
            <a:endParaRPr lang="en-US" sz="5200" dirty="0"/>
          </a:p>
          <a:p>
            <a:pPr algn="l"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価値が上がるのか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66928" y="4297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― データで考える、住宅営業という仕事の10年後 ―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722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本資料の数字はすべて出典付き（末尾一覧）。社内実績データは差し込み欄あり。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VOICE ／ まず、正直に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「AIで仕事、なくなるかも」その不安は正しい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160020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就活生のあなたが</a:t>
            </a:r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AIと仕事の関係を意識するのは、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むしろ当然です。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3063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この資料は、その不安に“会社の宣伝”ではなく「事実」で向き合うために作りました。まず、いまの学生のリアルなデータから。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53949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出典：マイナビキャリアリサーチLab「2027年卒 大学生キャリア意向調査（AI利用）」2026年5月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55448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6916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84.9%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9006840" y="16916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の27卒が就活でAIを利用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（前年比 +18ポイント）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365760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BEFD9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37947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11.4%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9006840" y="37947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が「AIに代替されにくい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業界・職種を選ぶようになった」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と回答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 ／ 何が消えて、何が残るか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AIが消すのは「職業」ではなく「定型タスク」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研究が示すのは “営業という職業の安泰/消滅” ではありません。分かれ目は仕事の中身が「定型」か「創造性・信頼・交渉を要する対人」か、です。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54406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2286000"/>
            <a:ext cx="5440680" cy="566928"/>
          </a:xfrm>
          <a:prstGeom prst="roundRect">
            <a:avLst>
              <a:gd name="adj" fmla="val 14516"/>
            </a:avLst>
          </a:prstGeom>
          <a:solidFill>
            <a:srgbClr val="B3524C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569464"/>
            <a:ext cx="5440680" cy="283464"/>
          </a:xfrm>
          <a:prstGeom prst="rect">
            <a:avLst/>
          </a:prstGeom>
          <a:solidFill>
            <a:srgbClr val="B3524C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28600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AIに代替されやすい（高リスク）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86968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テレアポ／電話勧誘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61688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35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代替確率 0.99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86968" y="3657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レジ・定型販売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361688" y="3657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35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86968" y="4206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小売販売員（定型接客）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61688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35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86968" y="4754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定型的な事務・データ入力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61688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35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高リスク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81928" y="2286000"/>
            <a:ext cx="54406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81928" y="2286000"/>
            <a:ext cx="5440680" cy="566928"/>
          </a:xfrm>
          <a:prstGeom prst="roundRect">
            <a:avLst>
              <a:gd name="adj" fmla="val 14516"/>
            </a:avLst>
          </a:prstGeom>
          <a:solidFill>
            <a:srgbClr val="2E7D57"/>
          </a:solidFill>
          <a:ln/>
        </p:spPr>
      </p:sp>
      <p:sp>
        <p:nvSpPr>
          <p:cNvPr id="21" name="Shape 19"/>
          <p:cNvSpPr/>
          <p:nvPr/>
        </p:nvSpPr>
        <p:spPr>
          <a:xfrm>
            <a:off x="6281928" y="2569464"/>
            <a:ext cx="5440680" cy="283464"/>
          </a:xfrm>
          <a:prstGeom prst="rect">
            <a:avLst/>
          </a:prstGeom>
          <a:solidFill>
            <a:srgbClr val="2E7D57"/>
          </a:solidFill>
          <a:ln/>
        </p:spPr>
      </p:sp>
      <p:sp>
        <p:nvSpPr>
          <p:cNvPr id="22" name="Text 20"/>
          <p:cNvSpPr/>
          <p:nvPr/>
        </p:nvSpPr>
        <p:spPr>
          <a:xfrm>
            <a:off x="6556248" y="228600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残る＝価値が上がる（低リスク）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0196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創造性・提案力を要する仕事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01968" y="36576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社会的知性・信頼構築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01968" y="4206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交渉・折衝を伴う対人商談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601968" y="4754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＝住宅の高額・対面コンサル営業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396728" y="4754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★当社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出典：Frey &amp; Osborne (2013) / 野村総合研究所×オックスフォード大学 (2015)。確率は米国O*NETベース・要現物確認。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／ 伸びる力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AI時代に“需要が伸びるスキル”の上位は、営業の力そのもの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153619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世界経済フォーラム『Future of Jobs 2025』が挙げる“いま最重要の中核スキル”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2860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リーダーシップ・社会的影響力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138928" y="22860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615184"/>
            <a:ext cx="5394960" cy="201168"/>
          </a:xfrm>
          <a:prstGeom prst="roundRect">
            <a:avLst>
              <a:gd name="adj" fmla="val 50000"/>
            </a:avLst>
          </a:prstGeom>
          <a:solidFill>
            <a:srgbClr val="DCE3EC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2615184"/>
            <a:ext cx="4639666" cy="20116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31272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共感と傾聴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38928" y="31272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7位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456432"/>
            <a:ext cx="5394960" cy="201168"/>
          </a:xfrm>
          <a:prstGeom prst="roundRect">
            <a:avLst>
              <a:gd name="adj" fmla="val 50000"/>
            </a:avLst>
          </a:prstGeom>
          <a:solidFill>
            <a:srgbClr val="DCE3EC"/>
          </a:solidFill>
          <a:ln/>
        </p:spPr>
      </p:sp>
      <p:sp>
        <p:nvSpPr>
          <p:cNvPr id="14" name="Shape 12"/>
          <p:cNvSpPr/>
          <p:nvPr/>
        </p:nvSpPr>
        <p:spPr>
          <a:xfrm>
            <a:off x="566928" y="3456432"/>
            <a:ext cx="3884371" cy="20116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9684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サービス志向・顧客対応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138928" y="396849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297680"/>
            <a:ext cx="5394960" cy="201168"/>
          </a:xfrm>
          <a:prstGeom prst="roundRect">
            <a:avLst>
              <a:gd name="adj" fmla="val 50000"/>
            </a:avLst>
          </a:prstGeom>
          <a:solidFill>
            <a:srgbClr val="DCE3EC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4297680"/>
            <a:ext cx="3398825" cy="20116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80974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レジリエンス・柔軟性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38928" y="480974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2位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5138928"/>
            <a:ext cx="5394960" cy="201168"/>
          </a:xfrm>
          <a:prstGeom prst="roundRect">
            <a:avLst>
              <a:gd name="adj" fmla="val 50000"/>
            </a:avLst>
          </a:prstGeom>
          <a:solidFill>
            <a:srgbClr val="DCE3EC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5138928"/>
            <a:ext cx="4855464" cy="20116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3" name="Shape 21"/>
          <p:cNvSpPr/>
          <p:nvPr/>
        </p:nvSpPr>
        <p:spPr>
          <a:xfrm>
            <a:off x="6355080" y="1874520"/>
            <a:ext cx="5257800" cy="3840480"/>
          </a:xfrm>
          <a:prstGeom prst="roundRect">
            <a:avLst>
              <a:gd name="adj" fmla="val 2143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20840" y="21031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いまのAIが“届いていない”領域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20840" y="251460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AI利用は「コンピュータ・数学」タスクに集中。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身体・対面・関係性を要する仕事の利用は極端に低い。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20840" y="342900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</a:t>
            </a:r>
            <a:pPr indent="0" marL="0">
              <a:lnSpc>
                <a:spcPts val="2400"/>
              </a:lnSpc>
              <a:buNone/>
            </a:pPr>
            <a:r>
              <a:rPr lang="en-US" sz="1700" b="1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信頼構築や人間関係のマネジメントは、AIが再現しにくい</a:t>
            </a:r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」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720840" y="470916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― Anthropic Economic Index / OpenAI「GPTs are GPTs」より（対人・身体を伴う仕事ほどAIの影響・利用が小さい）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出典：WEF Future of Jobs Report 2025 ／ Anthropic Economic Index (2025-) ／ OpenAI (2023)。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／ 事業の土台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住宅は“人生最大の買い物”。だから最後は人に相談する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41248" y="1828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約2.2倍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41248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販売職の有効求人倍率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全職種平均1.2倍の約2倍＝人材の希少性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0288" y="1828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12万人超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90288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東京圏への転入超過（2025年）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当社商圏に人と世帯が集まり続ける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5008" y="160020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FBEFD9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39328" y="1828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約55%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8339328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注文住宅の事業者選択理由 第1位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39328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「信頼できる住宅メーカー／不動産業者」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23360"/>
            <a:ext cx="11064240" cy="1600200"/>
          </a:xfrm>
          <a:prstGeom prst="roundRect">
            <a:avLst>
              <a:gd name="adj" fmla="val 5143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78408" y="42062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情報収集は「ネット」。でも最終判断は「人（担当者）」。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78408" y="47091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数千万円・一生に一度・一件ごとに条件が違う買い物では、AIやネットで調べ尽くした人ほど、最後は「この人から買いたい」で決める。この“決めさせる力”こそ住宅営業の中核価値。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出典：厚労省 一般職業紹介状況 ／ 総務省 住民基本台帳人口移動報告2025 ／ 国交省 住宅市場動向調査 令和6年度。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WAY ／ AIは敵ではなく武器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AIが“雑務”を巻き取り、人は「商談」に集中する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営業担当者が実際に「売る」ことに使えている時間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0574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DCE3E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2057400"/>
            <a:ext cx="4425696" cy="868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057400"/>
            <a:ext cx="4151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売る時間 40%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21224" y="2057400"/>
            <a:ext cx="6272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 60% ＝ 事務・データ入力・社内会議など“非営業業務”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4290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" y="36118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-34% / -36%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41248" y="414223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AIで見込み客リサーチ・メール作成の時間を削減できると営業が期待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15968" y="34290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90288" y="36118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90288" y="414223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国内営業が顧客対応に使えている業務時間。「もっと商談に時間を使いたい」が本音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65008" y="34290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E9F1F4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39328" y="3611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【差し込み】当社のAI活用の実例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9328" y="39959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反響一次対応・提案資料作成・追客・図面/パース生成 等、自社で実際に使っている場面を1つ以上ここに（実態のある事例のみ）。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66928" y="50749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AIは営業を“消す”のではなく、営業から“雑務を消す”。空いた時間はすべて、人にしかできない商談と信頼構築へ。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出典：Salesforce「State of Sales」第7版(2026) ／ HubSpot「日本の営業実態調査」2024。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GAIN ／ あなたが得るもの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AI時代に価値が上がる力を、稼ぎながら身につける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54406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報酬：若いうちから、正当に稼げる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6968" y="22860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20代で年収 </a:t>
            </a:r>
            <a:pPr indent="0" marL="0">
              <a:buNone/>
            </a:pPr>
            <a:r>
              <a:rPr lang="en-US" sz="26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1,000万円</a:t>
            </a:r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の実例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86968" y="2880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営業メンバー平均年収 750万円以上。【差し込み：年次・年齢別の給与実例（平均とトップを明示区分）】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600200"/>
            <a:ext cx="5440680" cy="1965960"/>
          </a:xfrm>
          <a:prstGeom prst="roundRect">
            <a:avLst>
              <a:gd name="adj" fmla="val 4186"/>
            </a:avLst>
          </a:prstGeom>
          <a:solidFill>
            <a:srgbClr val="FBEFD9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10528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成長：ゼロから、体系的に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0528" y="22860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未経験入社 </a:t>
            </a:r>
            <a:pPr indent="0" marL="0">
              <a:buNone/>
            </a:pPr>
            <a:r>
              <a:rPr lang="en-US" sz="26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510528" y="2880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研修で対人折衝・交渉・信頼構築を基礎から。AI時代に“需要が伸びるスキル”（S.3）を、仕事を通じて毎日鍛えられる環境。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94760"/>
            <a:ext cx="11064240" cy="1828800"/>
          </a:xfrm>
          <a:prstGeom prst="roundRect">
            <a:avLst>
              <a:gd name="adj" fmla="val 4500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977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ここで身につく力は、会社を越えて価値が上がり続ける“個人資産”。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978408" y="4709160"/>
            <a:ext cx="2514600" cy="566928"/>
          </a:xfrm>
          <a:prstGeom prst="roundRect">
            <a:avLst>
              <a:gd name="adj" fmla="val 50000"/>
            </a:avLst>
          </a:prstGeom>
          <a:solidFill>
            <a:srgbClr val="24365E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" y="47091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対人折衝・交渉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30168" y="4709160"/>
            <a:ext cx="2514600" cy="566928"/>
          </a:xfrm>
          <a:prstGeom prst="roundRect">
            <a:avLst>
              <a:gd name="adj" fmla="val 50000"/>
            </a:avLst>
          </a:prstGeom>
          <a:solidFill>
            <a:srgbClr val="24365E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30168" y="47091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課題発見・提案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81928" y="4709160"/>
            <a:ext cx="2514600" cy="566928"/>
          </a:xfrm>
          <a:prstGeom prst="roundRect">
            <a:avLst>
              <a:gd name="adj" fmla="val 50000"/>
            </a:avLst>
          </a:prstGeom>
          <a:solidFill>
            <a:srgbClr val="24365E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81928" y="47091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信頼構築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933688" y="4709160"/>
            <a:ext cx="2514600" cy="566928"/>
          </a:xfrm>
          <a:prstGeom prst="roundRect">
            <a:avLst>
              <a:gd name="adj" fmla="val 50000"/>
            </a:avLst>
          </a:prstGeom>
          <a:solidFill>
            <a:srgbClr val="24365E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47091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レジリエンス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※給与実績は既存採用媒体の公表値。平均とトップ層を明確に区分して提示すること。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／ 正直であること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第三者評価と、きつい部分の“正直な開示”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5440680" cy="1828800"/>
          </a:xfrm>
          <a:prstGeom prst="roundRect">
            <a:avLst>
              <a:gd name="adj" fmla="val 4500"/>
            </a:avLst>
          </a:prstGeom>
          <a:solidFill>
            <a:srgbClr val="E9F1F4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第三者評価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22860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働きがいのある会社ランキング
</a:t>
            </a:r>
            <a:pPr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7年連続入賞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190488" y="1645920"/>
            <a:ext cx="54406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1052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正直に言う、きつい部分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10528" y="2286000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成果主義で、立ち上がり期は大変。だから固定給の下支え・研修・メンターで支える。都合の悪いことを先に言える会社かどうかを見てほしい。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66928" y="3840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b="1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数字を盛らない。ネガも隠さない。</a:t>
            </a:r>
            <a:pPr algn="ctr" indent="0" marL="0">
              <a:lnSpc>
                <a:spcPts val="2600"/>
              </a:lnSpc>
              <a:buNone/>
            </a:pPr>
            <a:r>
              <a:rPr lang="en-US" sz="1800" i="1" dirty="0">
                <a:solidFill>
                  <a:srgbClr val="3D4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　― それが、口コミの時代にいちばん強い採用ブランドだから。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66928" y="4892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【差し込み】口コミサイト（OpenWork等）の現状スコア／休日・残業・離職率の実数を、改善の取り組みとセットで開示。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108960"/>
            <a:ext cx="5852160" cy="5852160"/>
          </a:xfrm>
          <a:prstGeom prst="ellipse">
            <a:avLst/>
          </a:prstGeom>
          <a:solidFill>
            <a:srgbClr val="2436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685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481328" y="12801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AIに残るのは創造性・信頼・交渉を要する対人業務。住宅の高額対面コンサル営業はその中核。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566928" y="24231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481328" y="2331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当社はAIを“武器”として使う側。AIが雑務を巻き取り、人は商談と信頼構築に集中する。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566928" y="347472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481328" y="3383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だからここで得る力（対人折衝・交渉・信頼構築）は、AI時代に価値が上がり続ける個人資産になる。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566928" y="480060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E8A33D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24128" y="480060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まずは、話を聞きに来ませんか。</a:t>
            </a:r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3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　応募当日連絡・現場同行あり・最短1週間で内定。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◎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出典一覧（掲載前に原典を目視確認すること）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16002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マイナビキャリアリサーチLab「2027年卒 大学生キャリア意向調査（AI利用）」2026年5月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Frey &amp; Osborne, “The Future of Employment”, Oxford Martin School, 2013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野村総合研究所×オックスフォード大学「日本の労働人口の49%が代替可能」2015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Economic Forum, “Future of Jobs Report 2025”, 2025年1月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Economic Index (2025-) ／ OpenAI “GPTs are GPTs” (2023)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Salesforce「State of Sales」第7版, 2026 ／ HubSpot「日本の営業実態調査」2024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厚生労働省「一般職業紹介状況（職業別参考統計表）」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総務省統計局「住民基本台帳人口移動報告 2025年」2026年2月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国土交通省「住宅市場動向調査 令和6年度」2025年6月／建築着工統計 令和7年計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注：本資料の外部データは検索結果の一次ソース引用に基づく。スライド確定時に各原典URLで数値・調査年・母数を最終確認すること。社内実績（【差し込み】欄）は実データで置換すること。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AI時代に、なぜ人の営業の価値が上がるのか</dc:title>
  <dc:subject>PptxGenJS Presentation</dc:subject>
  <dc:creator>Tokyo Big House</dc:creator>
  <cp:lastModifiedBy>Tokyo Big House</cp:lastModifiedBy>
  <cp:revision>1</cp:revision>
  <dcterms:created xsi:type="dcterms:W3CDTF">2026-07-19T14:41:12Z</dcterms:created>
  <dcterms:modified xsi:type="dcterms:W3CDTF">2026-07-19T14:41:12Z</dcterms:modified>
</cp:coreProperties>
</file>