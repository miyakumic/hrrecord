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Masters/slideMaster2.xml" ContentType="application/vnd.openxmlformats-officedocument.presentationml.slideMaster+xml"/>
  <Override PartName="/ppt/slideLayouts/slideLayout2.xml" ContentType="application/vnd.openxmlformats-officedocument.presentationml.slideLayout+xml"/>
  <Override PartName="/ppt/theme/theme3.xml" ContentType="application/vnd.openxmlformats-officedocument.them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Default Extension="jpeg" ContentType="image/jpeg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4"/>
    <p:sldMasterId id="2147483661" r:id="rId90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80" r:id="rId30"/>
    <p:sldId id="281" r:id="rId31"/>
    <p:sldId id="282" r:id="rId32"/>
    <p:sldId id="276" r:id="rId26"/>
    <p:sldId id="277" r:id="rId27"/>
    <p:sldId id="283" r:id="rId33"/>
    <p:sldId id="278" r:id="rId28"/>
    <p:sldId id="279" r:id="rId29"/>
    <p:sldId id="290" r:id="rId91"/>
    <p:sldId id="291" r:id="rId92"/>
    <p:sldId id="292" r:id="rId93"/>
    <p:sldId id="293" r:id="rId94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669F5A2-0942-4E9E-A437-0BE441E8CB8A}">
  <a:tblStyle styleId="{D669F5A2-0942-4E9E-A437-0BE441E8CB8A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
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  <Relationship Id="rId30" Type="http://schemas.openxmlformats.org/officeDocument/2006/relationships/slide" Target="slides/slide25.xml"/>
  <Relationship Id="rId31" Type="http://schemas.openxmlformats.org/officeDocument/2006/relationships/slide" Target="slides/slide26.xml"/>
  <Relationship Id="rId32" Type="http://schemas.openxmlformats.org/officeDocument/2006/relationships/slide" Target="slides/slide27.xml"/>
  <Relationship Id="rId33" Type="http://schemas.openxmlformats.org/officeDocument/2006/relationships/slide" Target="slides/slide28.xml"/>
<Relationship Id="rId90" Type="http://schemas.openxmlformats.org/officeDocument/2006/relationships/slideMaster" Target="slideMasters/slideMaster2.xml"/><Relationship Id="rId91" Type="http://schemas.openxmlformats.org/officeDocument/2006/relationships/slide" Target="slides/slide29.xml"/><Relationship Id="rId92" Type="http://schemas.openxmlformats.org/officeDocument/2006/relationships/slide" Target="slides/slide30.xml"/><Relationship Id="rId93" Type="http://schemas.openxmlformats.org/officeDocument/2006/relationships/slide" Target="slides/slide31.xml"/><Relationship Id="rId94" Type="http://schemas.openxmlformats.org/officeDocument/2006/relationships/slide" Target="slides/slide3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9.xml" Id="R31a4f736555d4d97" /><Relationship Type="http://schemas.openxmlformats.org/officeDocument/2006/relationships/notesMaster" Target="/ppt/notesMasters/notesMaster1.xml" Id="R3e91bb044d724982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30.xml" Id="Reee74a8ff1884fd0" /><Relationship Type="http://schemas.openxmlformats.org/officeDocument/2006/relationships/notesMaster" Target="/ppt/notesMasters/notesMaster1.xml" Id="Rd8869d750f90401d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31.xml" Id="Rc89102be69d44c6c" /><Relationship Type="http://schemas.openxmlformats.org/officeDocument/2006/relationships/notesMaster" Target="/ppt/notesMasters/notesMaster1.xml" Id="R90ea16d6698f4686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32.xml" Id="Ra8fe707275424dfc" /><Relationship Type="http://schemas.openxmlformats.org/officeDocument/2006/relationships/notesMaster" Target="/ppt/notesMasters/notesMaster1.xml" Id="R72f87cbfb0244293" 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推奨使用場面：面接冒頭。条件説明の前に、会社選びの視点を切り替えたいとき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着地点：初任給ではなく、長期でどこまで任されるかを見る。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" name="Google Shape;28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推奨使用場面：会社の将来性、規模、安定性に不安がある候補者へ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着地点：大きくなる過程そのものが、候補者のキャリア機会になる。</a:t>
            </a:r>
            <a:endParaRPr/>
          </a:p>
        </p:txBody>
      </p:sp>
      <p:sp>
        <p:nvSpPr>
          <p:cNvPr id="29" name="Google Shape;29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3" name="Google Shape;53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推奨使用場面：若手が上がれるのか、年功序列ではないかを気にしている候補者へ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着地点：年齢や社歴ではなく、実際に若手が短期間で任されている。</a:t>
            </a:r>
            <a:endParaRPr/>
          </a:p>
        </p:txBody>
      </p:sp>
      <p:sp>
        <p:nvSpPr>
          <p:cNvPr id="54" name="Google Shape;54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6" name="Google Shape;96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推奨使用場面：「入社しても席がないのでは」「キャリアアップは本当か」という不安へ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着地点：1年後に必要な席数と空席数を数字で示す。</a:t>
            </a:r>
            <a:endParaRPr/>
          </a:p>
        </p:txBody>
      </p:sp>
      <p:sp>
        <p:nvSpPr>
          <p:cNvPr id="97" name="Google Shape;97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3" name="Google Shape;173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推奨使用場面：中長期のキャリア幅を見せたいとき。マネジメント志向の候補者へ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着地点：2年で営業組織が倍増し、部長席を含む上位ポジションが増える。</a:t>
            </a:r>
            <a:endParaRPr/>
          </a:p>
        </p:txBody>
      </p:sp>
      <p:sp>
        <p:nvSpPr>
          <p:cNvPr id="174" name="Google Shape;174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0" name="Google Shape;200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推奨使用場面：若手登用の話を「感覚」ではなく実績数字で裏付けたいとき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着地点：23歳・1年・9/11の3数字で、若手登用が例外ではないと示す。</a:t>
            </a:r>
            <a:endParaRPr/>
          </a:p>
        </p:txBody>
      </p:sp>
      <p:sp>
        <p:nvSpPr>
          <p:cNvPr id="201" name="Google Shape;201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5" name="Google Shape;225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推奨使用場面：「将来どこまで行けるのか」を具体化するとき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着地点：個人営業で終わらず、育成・事業戦略へと任される範囲が広がる。</a:t>
            </a:r>
            <a:endParaRPr/>
          </a:p>
        </p:txBody>
      </p:sp>
      <p:sp>
        <p:nvSpPr>
          <p:cNvPr id="226" name="Google Shape;226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8" name="Google Shape;258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推奨使用場面：年収レンジとキャリアの関係を質問されたとき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着地点：報酬だけでなく、上がるほど育成・組織・経営へと責任が広がる。</a:t>
            </a:r>
            <a:endParaRPr/>
          </a:p>
        </p:txBody>
      </p:sp>
      <p:sp>
        <p:nvSpPr>
          <p:cNvPr id="259" name="Google Shape;259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2" name="Google Shape;272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推奨使用場面：年収の上限、再現性、リスクを質問されたとき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着地点：高い実績だけでなく下降例も開示し、成果主義の現実を誠実に伝える。</a:t>
            </a:r>
            <a:endParaRPr/>
          </a:p>
        </p:txBody>
      </p:sp>
      <p:sp>
        <p:nvSpPr>
          <p:cNvPr id="273" name="Google Shape;273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4" name="Google Shape;384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推奨使用場面：研修・教育体制を質問されたとき。受け身の候補者に現実も伝えたいとき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着地点：毎日5本、お手本トークを模倣して自分で録画する。手厚さと同時に、毎日繰り返す厳しさも明確にする。</a:t>
            </a:r>
            <a:endParaRPr/>
          </a:p>
        </p:txBody>
      </p:sp>
      <p:sp>
        <p:nvSpPr>
          <p:cNvPr id="385" name="Google Shape;385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23" name="Google Shape;423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推奨使用場面：給料・成長以外の、仕事の意味や商品への共感を確かめたいとき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着地点：高額商品を売るのではなく、家族の未来の住まいを提案する。</a:t>
            </a:r>
            <a:endParaRPr/>
          </a:p>
        </p:txBody>
      </p:sp>
      <p:sp>
        <p:nvSpPr>
          <p:cNvPr id="424" name="Google Shape;424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42" name="Google Shape;442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推奨使用場面：投資用不動産会社と比較している候補者へ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着地点：商品・顧客関係・営業手法・残る力の4軸で、仕事の性質の違いを示す。</a:t>
            </a:r>
            <a:endParaRPr/>
          </a:p>
        </p:txBody>
      </p:sp>
      <p:sp>
        <p:nvSpPr>
          <p:cNvPr id="443" name="Google Shape;443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1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76" name="Google Shape;476;p1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推奨使用場面：人材業界との年収差を数字で聞かれたとき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着地点：広すぎる産業分類ではなく、同一データの営業職種比較で答える。建設営業を含む区分である点も口頭で伝える。</a:t>
            </a:r>
            <a:endParaRPr/>
          </a:p>
        </p:txBody>
      </p:sp>
      <p:sp>
        <p:nvSpPr>
          <p:cNvPr id="477" name="Google Shape;477;p1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1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02" name="Google Shape;502;p1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推奨使用場面：平均値だけでは違いが伝わりにくいとき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着地点：上位年収帯の厚みを見せる。ただし個人の到達を保証する数字ではない。</a:t>
            </a:r>
            <a:endParaRPr/>
          </a:p>
        </p:txBody>
      </p:sp>
      <p:sp>
        <p:nvSpPr>
          <p:cNvPr id="503" name="Google Shape;503;p1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1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32" name="Google Shape;532;p1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推奨使用場面：外部統計からTBHの給与制度へ話をつなぐとき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着地点：業界平均ではなく、候補者が入る会社の給与設計と実績レンジを確認する。</a:t>
            </a:r>
            <a:endParaRPr/>
          </a:p>
        </p:txBody>
      </p:sp>
      <p:sp>
        <p:nvSpPr>
          <p:cNvPr id="533" name="Google Shape;533;p1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1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63" name="Google Shape;563;p1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推奨使用場面：業界の先行きや市場規模を不安視している候補者へ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着地点：GDP比ではなく、住宅数・持ち家率・実際の住宅投資で市場の土台を示す。</a:t>
            </a:r>
            <a:endParaRPr/>
          </a:p>
        </p:txBody>
      </p:sp>
      <p:sp>
        <p:nvSpPr>
          <p:cNvPr id="564" name="Google Shape;564;p1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1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90" name="Google Shape;590;p1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推奨使用場面：住宅購入を後押しする政策環境を説明するとき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着地点：古い2025年制度ではなく、2026年時点の3制度を要件付きで紹介する。</a:t>
            </a:r>
            <a:endParaRPr/>
          </a:p>
        </p:txBody>
      </p:sp>
      <p:sp>
        <p:nvSpPr>
          <p:cNvPr id="591" name="Google Shape;591;p1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2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18" name="Google Shape;618;p2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推奨使用場面：20代で高年収を目指したい候補者へ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着地点：22歳に近い20〜24歳の全国実数を示す。到達には、個人差だけでなく業界・商材・報酬設計の選択が要る。</a:t>
            </a:r>
            <a:endParaRPr/>
          </a:p>
        </p:txBody>
      </p:sp>
      <p:sp>
        <p:nvSpPr>
          <p:cNvPr id="619" name="Google Shape;619;p2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2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42" name="Google Shape;642;p2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推奨使用場面：どの業界なら20代1000万円に届くか聞かれたとき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着地点：会社名の羅列ではなく、高単価・成果可視化・報酬連動の構造で説明する。</a:t>
            </a:r>
            <a:endParaRPr/>
          </a:p>
        </p:txBody>
      </p:sp>
      <p:sp>
        <p:nvSpPr>
          <p:cNvPr id="643" name="Google Shape;643;p2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p2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75" name="Google Shape;675;p2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推奨使用場面：高年収への再現性を確認したい候補者へ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着地点：給与だけでなく、打席と成長支援がそろっているかを確認する。</a:t>
            </a:r>
            <a:endParaRPr/>
          </a:p>
        </p:txBody>
      </p:sp>
      <p:sp>
        <p:nvSpPr>
          <p:cNvPr id="676" name="Google Shape;676;p2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2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03" name="Google Shape;703;p2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推奨使用場面：AIで営業がなくなるのではと聞かれたとき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着地点：職業ごと消えると言い切らず、まず定型タスクの自動化が進むと説明する。</a:t>
            </a:r>
            <a:endParaRPr/>
          </a:p>
        </p:txBody>
      </p:sp>
      <p:sp>
        <p:nvSpPr>
          <p:cNvPr id="704" name="Google Shape;704;p2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2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p2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34" name="Google Shape;734;p2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推奨使用場面：AI時代に残るスキルを説明するとき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着地点：対面営業で培う傾聴・影響力・顧客対応は、企業が重視する中核スキルと重なる。</a:t>
            </a:r>
            <a:endParaRPr/>
          </a:p>
        </p:txBody>
      </p:sp>
      <p:sp>
        <p:nvSpPr>
          <p:cNvPr id="735" name="Google Shape;735;p2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p2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57" name="Google Shape;757;p2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推奨使用場面：最後の条件比較を、長期のキャリア選択に戻したいとき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着地点：人材・住宅は同一のdodaデータ。TBHは各役職レンジ下限を使った標準昇格モデルで、保証値ではない。</a:t>
            </a:r>
            <a:endParaRPr/>
          </a:p>
        </p:txBody>
      </p:sp>
      <p:sp>
        <p:nvSpPr>
          <p:cNvPr id="758" name="Google Shape;758;p2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3" name="Shape 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Google Shape;834;p2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35" name="Google Shape;835;p2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推奨使用場面：面接の最後。その場で承諾を迫らず、考える問いを残したいとき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着地点：候補者自身に2035年の席を想像してもらい、入社前の質問窓口も明確にする。</a:t>
            </a:r>
            <a:endParaRPr/>
          </a:p>
        </p:txBody>
      </p:sp>
      <p:sp>
        <p:nvSpPr>
          <p:cNvPr id="836" name="Google Shape;836;p2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推奨使用場面：学歴による生涯賃金差を補足したいとき</a:t>
            </a:r>
          </a:p>
          <a:p xmlns:a="http://schemas.openxmlformats.org/drawingml/2006/main">
            <a:r>
              <a:t>着地点：学歴差はある。ただし、その後の仕事選びで差は固定されないと前置きする。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推奨使用場面：70歳まで働いた場合の学歴群差を説明するとき</a:t>
            </a:r>
          </a:p>
          <a:p xmlns:a="http://schemas.openxmlformats.org/drawingml/2006/main">
            <a:r>
              <a:t>着地点：大卒全体平均ではなく、G-MARCH・早慶上智の代表6校平均を使った参考推計であることを必ず伝える。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推奨使用場面：高卒・大学群別の差を一枚で見せたいとき</a:t>
            </a:r>
          </a:p>
          <a:p xmlns:a="http://schemas.openxmlformats.org/drawingml/2006/main">
            <a:r>
              <a:t>着地点：大学群別は公的な生涯賃金ではなく参考推計。断定せず、方向感だけに使う。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推奨使用場面：学歴の話を自己効力感につなげたいとき</a:t>
            </a:r>
          </a:p>
          <a:p xmlns:a="http://schemas.openxmlformats.org/drawingml/2006/main">
            <a:r>
              <a:t>着地点：学歴差を否定せず、今から変えられる業界・商材・環境の選択に戻す。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Type="http://schemas.openxmlformats.org/officeDocument/2006/relationships/slideMaster" Target="/ppt/slideMasters/slideMaster2.xml" Id="R111397dd96c54444" 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_rels/slideMaster2.xml.rels><?xml version="1.0" encoding="UTF-8" standalone="yes"?><Relationships xmlns="http://schemas.openxmlformats.org/package/2006/relationships"><Relationship Type="http://schemas.openxmlformats.org/officeDocument/2006/relationships/theme" Target="/ppt/theme/theme3.xml" Id="R47d388ae51494216" /><Relationship Type="http://schemas.openxmlformats.org/officeDocument/2006/relationships/slideLayout" Target="/ppt/slideLayouts/slideLayout2.xml" Id="Rf123b03c99544823" 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0" r:id="Rf123b03c9954482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jpg"/></Relationships>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jpg"/></Relationships>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jpg"/></Relationships>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jpg"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36048caefce4742" /><Relationship Type="http://schemas.openxmlformats.org/officeDocument/2006/relationships/image" Target="/ppt/media/imageA1.jpeg" Id="Rafc0565d679f4f48" /><Relationship Type="http://schemas.openxmlformats.org/officeDocument/2006/relationships/notesSlide" Target="/ppt/notesSlides/notesSlide25.xml" Id="Rffc01df739a44807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4416cbfa47048b5" /><Relationship Type="http://schemas.openxmlformats.org/officeDocument/2006/relationships/image" Target="/ppt/media/imageA2.jpeg" Id="R1ffcd7a1ef8f4d12" /><Relationship Type="http://schemas.openxmlformats.org/officeDocument/2006/relationships/notesSlide" Target="/ppt/notesSlides/notesSlide26.xml" Id="Rca77284c0bca4eab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ff179999b714e65" /><Relationship Type="http://schemas.openxmlformats.org/officeDocument/2006/relationships/image" Target="/ppt/media/imageA3.jpeg" Id="R56082b15c9a7424e" /><Relationship Type="http://schemas.openxmlformats.org/officeDocument/2006/relationships/notesSlide" Target="/ppt/notesSlides/notesSlide27.xml" Id="R9800c74efcce48ec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27de52a58034f43" /><Relationship Type="http://schemas.openxmlformats.org/officeDocument/2006/relationships/image" Target="/ppt/media/imageA4.jpeg" Id="R9997f381ba144054" /><Relationship Type="http://schemas.openxmlformats.org/officeDocument/2006/relationships/notesSlide" Target="/ppt/notesSlides/notesSlide28.xml" Id="R6e012c7e2e2743cd" 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73F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F474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8858250" y="0"/>
            <a:ext cx="3333750" cy="6858000"/>
          </a:xfrm>
          <a:prstGeom prst="rect">
            <a:avLst/>
          </a:prstGeom>
          <a:solidFill>
            <a:srgbClr val="1522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9410700" y="0"/>
            <a:ext cx="133350" cy="6858000"/>
          </a:xfrm>
          <a:prstGeom prst="rect">
            <a:avLst/>
          </a:prstGeom>
          <a:solidFill>
            <a:srgbClr val="F474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3"/>
          <p:cNvSpPr/>
          <p:nvPr/>
        </p:nvSpPr>
        <p:spPr>
          <a:xfrm>
            <a:off x="685800" y="1428750"/>
            <a:ext cx="6667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8C0DB"/>
              </a:buClr>
              <a:buSzPts val="1275"/>
              <a:buFont typeface="Arial"/>
              <a:buNone/>
            </a:pPr>
            <a:r>
              <a:rPr b="1" lang="en-US" sz="1275">
                <a:solidFill>
                  <a:srgbClr val="B8C0DB"/>
                </a:solidFill>
                <a:latin typeface="Arial"/>
                <a:ea typeface="Arial"/>
                <a:cs typeface="Arial"/>
                <a:sym typeface="Arial"/>
              </a:rPr>
              <a:t>TOKYO BIG HOUSE 最終面接</a:t>
            </a:r>
            <a:endParaRPr/>
          </a:p>
        </p:txBody>
      </p:sp>
      <p:sp>
        <p:nvSpPr>
          <p:cNvPr id="20" name="Google Shape;20;p3"/>
          <p:cNvSpPr/>
          <p:nvPr/>
        </p:nvSpPr>
        <p:spPr>
          <a:xfrm>
            <a:off x="685800" y="1962150"/>
            <a:ext cx="7620000" cy="1695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Arial"/>
              <a:buNone/>
            </a:pPr>
            <a:r>
              <a:rPr b="1" lang="en-US" sz="4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生涯の意思決定の</a:t>
            </a:r>
            <a:endParaRPr/>
          </a:p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Arial"/>
              <a:buNone/>
            </a:pPr>
            <a:r>
              <a:rPr b="1" lang="en-US" sz="4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話をしよう。</a:t>
            </a:r>
            <a:endParaRPr/>
          </a:p>
        </p:txBody>
      </p:sp>
      <p:sp>
        <p:nvSpPr>
          <p:cNvPr id="21" name="Google Shape;21;p3"/>
          <p:cNvSpPr/>
          <p:nvPr/>
        </p:nvSpPr>
        <p:spPr>
          <a:xfrm>
            <a:off x="685800" y="4000500"/>
            <a:ext cx="1409700" cy="57150"/>
          </a:xfrm>
          <a:prstGeom prst="roundRect">
            <a:avLst>
              <a:gd fmla="val 50000" name="adj"/>
            </a:avLst>
          </a:prstGeom>
          <a:solidFill>
            <a:srgbClr val="F474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3"/>
          <p:cNvSpPr/>
          <p:nvPr/>
        </p:nvSpPr>
        <p:spPr>
          <a:xfrm>
            <a:off x="685800" y="4343400"/>
            <a:ext cx="72390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DCE1F0"/>
              </a:buClr>
              <a:buSzPts val="1800"/>
              <a:buFont typeface="Arial"/>
              <a:buNone/>
            </a:pPr>
            <a:r>
              <a:rPr b="0" lang="en-US" sz="1800">
                <a:solidFill>
                  <a:srgbClr val="DCE1F0"/>
                </a:solidFill>
                <a:latin typeface="Arial"/>
                <a:ea typeface="Arial"/>
                <a:cs typeface="Arial"/>
                <a:sym typeface="Arial"/>
              </a:rPr>
              <a:t>初任給の差は、数万円。</a:t>
            </a:r>
            <a:endParaRPr/>
          </a:p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DCE1F0"/>
              </a:buClr>
              <a:buSzPts val="1800"/>
              <a:buFont typeface="Arial"/>
              <a:buNone/>
            </a:pPr>
            <a:r>
              <a:rPr b="0" lang="en-US" sz="1800">
                <a:solidFill>
                  <a:srgbClr val="DCE1F0"/>
                </a:solidFill>
                <a:latin typeface="Arial"/>
                <a:ea typeface="Arial"/>
                <a:cs typeface="Arial"/>
                <a:sym typeface="Arial"/>
              </a:rPr>
              <a:t>でも、どの山を登るかで「生涯年収」が変わる。</a:t>
            </a:r>
            <a:endParaRPr/>
          </a:p>
        </p:txBody>
      </p:sp>
      <p:sp>
        <p:nvSpPr>
          <p:cNvPr id="23" name="Google Shape;23;p3"/>
          <p:cNvSpPr/>
          <p:nvPr/>
        </p:nvSpPr>
        <p:spPr>
          <a:xfrm>
            <a:off x="9810750" y="4781550"/>
            <a:ext cx="1809750" cy="81915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FINAL INTERVIEW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SUPPORT DECK</a:t>
            </a:r>
            <a:endParaRPr/>
          </a:p>
        </p:txBody>
      </p:sp>
      <p:sp>
        <p:nvSpPr>
          <p:cNvPr id="24" name="Google Shape;24;p3"/>
          <p:cNvSpPr/>
          <p:nvPr/>
        </p:nvSpPr>
        <p:spPr>
          <a:xfrm>
            <a:off x="11010900" y="6191250"/>
            <a:ext cx="60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/>
          </a:p>
        </p:txBody>
      </p:sp>
      <p:pic>
        <p:nvPicPr>
          <p:cNvPr id="25" name="Google Shape;25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5800" y="410150"/>
            <a:ext cx="1946275" cy="41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F0"/>
        </a:soli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4"/>
          <p:cNvSpPr/>
          <p:nvPr/>
        </p:nvSpPr>
        <p:spPr>
          <a:xfrm>
            <a:off x="533400" y="276225"/>
            <a:ext cx="76200" cy="238125"/>
          </a:xfrm>
          <a:prstGeom prst="roundRect">
            <a:avLst>
              <a:gd fmla="val 50000" name="adj"/>
            </a:avLst>
          </a:prstGeom>
          <a:solidFill>
            <a:srgbClr val="F474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4"/>
          <p:cNvSpPr/>
          <p:nvPr/>
        </p:nvSpPr>
        <p:spPr>
          <a:xfrm>
            <a:off x="742950" y="2667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125"/>
              <a:buFont typeface="Arial"/>
              <a:buNone/>
            </a:pPr>
            <a:r>
              <a:rPr b="1" lang="en-US" sz="1125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01｜会社の成長</a:t>
            </a:r>
            <a:endParaRPr/>
          </a:p>
        </p:txBody>
      </p:sp>
      <p:sp>
        <p:nvSpPr>
          <p:cNvPr id="33" name="Google Shape;33;p4"/>
          <p:cNvSpPr/>
          <p:nvPr/>
        </p:nvSpPr>
        <p:spPr>
          <a:xfrm>
            <a:off x="533400" y="723900"/>
            <a:ext cx="106680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55"/>
              </a:buClr>
              <a:buSzPts val="3000"/>
              <a:buFont typeface="Arial"/>
              <a:buNone/>
            </a:pPr>
            <a:r>
              <a:rPr b="1" lang="en-US" sz="3000">
                <a:solidFill>
                  <a:srgbClr val="152255"/>
                </a:solidFill>
                <a:latin typeface="Arial"/>
                <a:ea typeface="Arial"/>
                <a:cs typeface="Arial"/>
                <a:sym typeface="Arial"/>
              </a:rPr>
              <a:t>555億円へ。伸びる会社には、空いている席がある</a:t>
            </a:r>
            <a:endParaRPr/>
          </a:p>
        </p:txBody>
      </p:sp>
      <p:cxnSp>
        <p:nvCxnSpPr>
          <p:cNvPr id="34" name="Google Shape;34;p4"/>
          <p:cNvCxnSpPr/>
          <p:nvPr/>
        </p:nvCxnSpPr>
        <p:spPr>
          <a:xfrm>
            <a:off x="533400" y="6315075"/>
            <a:ext cx="11125200" cy="0"/>
          </a:xfrm>
          <a:prstGeom prst="straightConnector1">
            <a:avLst/>
          </a:prstGeom>
          <a:noFill/>
          <a:ln cap="flat" cmpd="sng" w="9525">
            <a:solidFill>
              <a:srgbClr val="D9DE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" name="Google Shape;35;p4"/>
          <p:cNvSpPr/>
          <p:nvPr/>
        </p:nvSpPr>
        <p:spPr>
          <a:xfrm>
            <a:off x="533400" y="6448425"/>
            <a:ext cx="88582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825"/>
              <a:buFont typeface="Arial"/>
              <a:buNone/>
            </a:pPr>
            <a:r>
              <a:rPr b="0" lang="en-US" sz="825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TOKYO BIG HOUSE 最終面接資料｜社外秘・面接時のみ提示</a:t>
            </a:r>
            <a:endParaRPr/>
          </a:p>
        </p:txBody>
      </p:sp>
      <p:sp>
        <p:nvSpPr>
          <p:cNvPr id="36" name="Google Shape;36;p4"/>
          <p:cNvSpPr/>
          <p:nvPr/>
        </p:nvSpPr>
        <p:spPr>
          <a:xfrm>
            <a:off x="10744200" y="6419850"/>
            <a:ext cx="9144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55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152255"/>
                </a:solidFill>
                <a:latin typeface="Arial"/>
                <a:ea typeface="Arial"/>
                <a:cs typeface="Arial"/>
                <a:sym typeface="Arial"/>
              </a:rPr>
              <a:t>P.02</a:t>
            </a:r>
            <a:endParaRPr/>
          </a:p>
        </p:txBody>
      </p:sp>
      <p:sp>
        <p:nvSpPr>
          <p:cNvPr id="37" name="Google Shape;37;p4"/>
          <p:cNvSpPr/>
          <p:nvPr/>
        </p:nvSpPr>
        <p:spPr>
          <a:xfrm>
            <a:off x="685800" y="1676400"/>
            <a:ext cx="1905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125"/>
              <a:buFont typeface="Arial"/>
              <a:buNone/>
            </a:pPr>
            <a:r>
              <a:rPr b="1" lang="en-US" sz="1125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NOW</a:t>
            </a:r>
            <a:endParaRPr/>
          </a:p>
        </p:txBody>
      </p:sp>
      <p:sp>
        <p:nvSpPr>
          <p:cNvPr id="38" name="Google Shape;38;p4"/>
          <p:cNvSpPr/>
          <p:nvPr/>
        </p:nvSpPr>
        <p:spPr>
          <a:xfrm>
            <a:off x="7962900" y="1676400"/>
            <a:ext cx="1905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7421"/>
              </a:buClr>
              <a:buSzPts val="1125"/>
              <a:buFont typeface="Arial"/>
              <a:buNone/>
            </a:pPr>
            <a:r>
              <a:rPr b="1" lang="en-US" sz="1125">
                <a:solidFill>
                  <a:srgbClr val="F47421"/>
                </a:solidFill>
                <a:latin typeface="Arial"/>
                <a:ea typeface="Arial"/>
                <a:cs typeface="Arial"/>
                <a:sym typeface="Arial"/>
              </a:rPr>
              <a:t>2035</a:t>
            </a:r>
            <a:endParaRPr/>
          </a:p>
        </p:txBody>
      </p:sp>
      <p:sp>
        <p:nvSpPr>
          <p:cNvPr id="39" name="Google Shape;39;p4"/>
          <p:cNvSpPr/>
          <p:nvPr/>
        </p:nvSpPr>
        <p:spPr>
          <a:xfrm>
            <a:off x="685800" y="2114550"/>
            <a:ext cx="20955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55"/>
              </a:buClr>
              <a:buSzPts val="6150"/>
              <a:buFont typeface="Arial"/>
              <a:buNone/>
            </a:pPr>
            <a:r>
              <a:rPr b="1" lang="en-US" sz="6150">
                <a:solidFill>
                  <a:srgbClr val="152255"/>
                </a:solidFill>
                <a:latin typeface="Arial"/>
                <a:ea typeface="Arial"/>
                <a:cs typeface="Arial"/>
                <a:sym typeface="Arial"/>
              </a:rPr>
              <a:t>26</a:t>
            </a:r>
            <a:endParaRPr/>
          </a:p>
        </p:txBody>
      </p:sp>
      <p:sp>
        <p:nvSpPr>
          <p:cNvPr id="40" name="Google Shape;40;p4"/>
          <p:cNvSpPr/>
          <p:nvPr/>
        </p:nvSpPr>
        <p:spPr>
          <a:xfrm>
            <a:off x="2476500" y="2647950"/>
            <a:ext cx="8763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55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152255"/>
                </a:solidFill>
                <a:latin typeface="Arial"/>
                <a:ea typeface="Arial"/>
                <a:cs typeface="Arial"/>
                <a:sym typeface="Arial"/>
              </a:rPr>
              <a:t>億円</a:t>
            </a:r>
            <a:endParaRPr/>
          </a:p>
        </p:txBody>
      </p:sp>
      <p:sp>
        <p:nvSpPr>
          <p:cNvPr id="41" name="Google Shape;41;p4"/>
          <p:cNvSpPr/>
          <p:nvPr/>
        </p:nvSpPr>
        <p:spPr>
          <a:xfrm>
            <a:off x="685800" y="3219450"/>
            <a:ext cx="30480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4054"/>
              </a:buClr>
              <a:buSzPts val="1425"/>
              <a:buFont typeface="Arial"/>
              <a:buNone/>
            </a:pPr>
            <a:r>
              <a:rPr b="0" lang="en-US" sz="1425">
                <a:solidFill>
                  <a:srgbClr val="344054"/>
                </a:solidFill>
                <a:latin typeface="Arial"/>
                <a:ea typeface="Arial"/>
                <a:cs typeface="Arial"/>
                <a:sym typeface="Arial"/>
              </a:rPr>
              <a:t>売上 26億円／社員 55名</a:t>
            </a:r>
            <a:endParaRPr/>
          </a:p>
        </p:txBody>
      </p:sp>
      <p:sp>
        <p:nvSpPr>
          <p:cNvPr id="42" name="Google Shape;42;p4"/>
          <p:cNvSpPr/>
          <p:nvPr/>
        </p:nvSpPr>
        <p:spPr>
          <a:xfrm>
            <a:off x="4095750" y="2324100"/>
            <a:ext cx="2286000" cy="74295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474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4"/>
          <p:cNvSpPr/>
          <p:nvPr/>
        </p:nvSpPr>
        <p:spPr>
          <a:xfrm>
            <a:off x="4343400" y="2505075"/>
            <a:ext cx="1562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約21倍へ</a:t>
            </a:r>
            <a:endParaRPr/>
          </a:p>
        </p:txBody>
      </p:sp>
      <p:sp>
        <p:nvSpPr>
          <p:cNvPr id="44" name="Google Shape;44;p4"/>
          <p:cNvSpPr/>
          <p:nvPr/>
        </p:nvSpPr>
        <p:spPr>
          <a:xfrm>
            <a:off x="7848600" y="2019300"/>
            <a:ext cx="2857500" cy="112395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7421"/>
              </a:buClr>
              <a:buSzPts val="6900"/>
              <a:buFont typeface="Arial"/>
              <a:buNone/>
            </a:pPr>
            <a:r>
              <a:rPr b="1" lang="en-US" sz="6900">
                <a:solidFill>
                  <a:srgbClr val="F47421"/>
                </a:solidFill>
                <a:latin typeface="Arial"/>
                <a:ea typeface="Arial"/>
                <a:cs typeface="Arial"/>
                <a:sym typeface="Arial"/>
              </a:rPr>
              <a:t>555</a:t>
            </a:r>
            <a:endParaRPr/>
          </a:p>
        </p:txBody>
      </p:sp>
      <p:sp>
        <p:nvSpPr>
          <p:cNvPr id="45" name="Google Shape;45;p4"/>
          <p:cNvSpPr/>
          <p:nvPr/>
        </p:nvSpPr>
        <p:spPr>
          <a:xfrm>
            <a:off x="10039350" y="2647950"/>
            <a:ext cx="14287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55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152255"/>
                </a:solidFill>
                <a:latin typeface="Arial"/>
                <a:ea typeface="Arial"/>
                <a:cs typeface="Arial"/>
                <a:sym typeface="Arial"/>
              </a:rPr>
              <a:t>億円体制</a:t>
            </a:r>
            <a:endParaRPr/>
          </a:p>
        </p:txBody>
      </p:sp>
      <p:sp>
        <p:nvSpPr>
          <p:cNvPr id="46" name="Google Shape;46;p4"/>
          <p:cNvSpPr/>
          <p:nvPr/>
        </p:nvSpPr>
        <p:spPr>
          <a:xfrm>
            <a:off x="666750" y="3981450"/>
            <a:ext cx="10839450" cy="1390650"/>
          </a:xfrm>
          <a:prstGeom prst="roundRect">
            <a:avLst>
              <a:gd fmla="val 12329" name="adj"/>
            </a:avLst>
          </a:prstGeom>
          <a:solidFill>
            <a:srgbClr val="FFFFFF"/>
          </a:solidFill>
          <a:ln cap="flat" cmpd="sng" w="9525">
            <a:solidFill>
              <a:srgbClr val="D9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4"/>
          <p:cNvSpPr/>
          <p:nvPr/>
        </p:nvSpPr>
        <p:spPr>
          <a:xfrm>
            <a:off x="1028700" y="4267200"/>
            <a:ext cx="84772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55"/>
              </a:buClr>
              <a:buSzPts val="2175"/>
              <a:buFont typeface="Arial"/>
              <a:buNone/>
            </a:pPr>
            <a:r>
              <a:rPr b="1" lang="en-US" sz="2175">
                <a:solidFill>
                  <a:srgbClr val="152255"/>
                </a:solidFill>
                <a:latin typeface="Arial"/>
                <a:ea typeface="Arial"/>
                <a:cs typeface="Arial"/>
                <a:sym typeface="Arial"/>
              </a:rPr>
              <a:t>その幹部の席が、今は空いている。</a:t>
            </a:r>
            <a:endParaRPr/>
          </a:p>
        </p:txBody>
      </p:sp>
      <p:sp>
        <p:nvSpPr>
          <p:cNvPr id="48" name="Google Shape;48;p4"/>
          <p:cNvSpPr/>
          <p:nvPr/>
        </p:nvSpPr>
        <p:spPr>
          <a:xfrm>
            <a:off x="1028700" y="4781550"/>
            <a:ext cx="84772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4054"/>
              </a:buClr>
              <a:buSzPts val="1650"/>
              <a:buFont typeface="Arial"/>
              <a:buNone/>
            </a:pPr>
            <a:r>
              <a:rPr b="0" lang="en-US" sz="1650">
                <a:solidFill>
                  <a:srgbClr val="344054"/>
                </a:solidFill>
                <a:latin typeface="Arial"/>
                <a:ea typeface="Arial"/>
                <a:cs typeface="Arial"/>
                <a:sym typeface="Arial"/>
              </a:rPr>
              <a:t>埋めるのは、10年後のあなた。</a:t>
            </a:r>
            <a:endParaRPr/>
          </a:p>
        </p:txBody>
      </p:sp>
      <p:sp>
        <p:nvSpPr>
          <p:cNvPr id="49" name="Google Shape;49;p4"/>
          <p:cNvSpPr/>
          <p:nvPr/>
        </p:nvSpPr>
        <p:spPr>
          <a:xfrm>
            <a:off x="9525000" y="4276725"/>
            <a:ext cx="1571625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7421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F47421"/>
                </a:solidFill>
                <a:latin typeface="Arial"/>
                <a:ea typeface="Arial"/>
                <a:cs typeface="Arial"/>
                <a:sym typeface="Arial"/>
              </a:rPr>
              <a:t>10 YEARS</a:t>
            </a:r>
            <a:endParaRPr/>
          </a:p>
        </p:txBody>
      </p:sp>
      <p:pic>
        <p:nvPicPr>
          <p:cNvPr id="50" name="Google Shape;50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11399" y="119051"/>
            <a:ext cx="2095500" cy="4450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F0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5"/>
          <p:cNvSpPr/>
          <p:nvPr/>
        </p:nvSpPr>
        <p:spPr>
          <a:xfrm>
            <a:off x="533400" y="276225"/>
            <a:ext cx="76200" cy="238125"/>
          </a:xfrm>
          <a:prstGeom prst="roundRect">
            <a:avLst>
              <a:gd fmla="val 50000" name="adj"/>
            </a:avLst>
          </a:prstGeom>
          <a:solidFill>
            <a:srgbClr val="F474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5"/>
          <p:cNvSpPr/>
          <p:nvPr/>
        </p:nvSpPr>
        <p:spPr>
          <a:xfrm>
            <a:off x="742950" y="2667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125"/>
              <a:buFont typeface="Arial"/>
              <a:buNone/>
            </a:pPr>
            <a:r>
              <a:rPr b="1" lang="en-US" sz="1125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02｜キャリアの空席</a:t>
            </a: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533400" y="723900"/>
            <a:ext cx="106680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55"/>
              </a:buClr>
              <a:buSzPts val="3000"/>
              <a:buFont typeface="Arial"/>
              <a:buNone/>
            </a:pPr>
            <a:r>
              <a:rPr b="1" lang="en-US" sz="3000">
                <a:solidFill>
                  <a:srgbClr val="152255"/>
                </a:solidFill>
                <a:latin typeface="Arial"/>
                <a:ea typeface="Arial"/>
                <a:cs typeface="Arial"/>
                <a:sym typeface="Arial"/>
              </a:rPr>
              <a:t>いまのリーダーは、全員が入社1年で登用</a:t>
            </a:r>
            <a:endParaRPr/>
          </a:p>
        </p:txBody>
      </p:sp>
      <p:cxnSp>
        <p:nvCxnSpPr>
          <p:cNvPr id="59" name="Google Shape;59;p5"/>
          <p:cNvCxnSpPr/>
          <p:nvPr/>
        </p:nvCxnSpPr>
        <p:spPr>
          <a:xfrm>
            <a:off x="533400" y="6315075"/>
            <a:ext cx="11125200" cy="0"/>
          </a:xfrm>
          <a:prstGeom prst="straightConnector1">
            <a:avLst/>
          </a:prstGeom>
          <a:noFill/>
          <a:ln cap="flat" cmpd="sng" w="9525">
            <a:solidFill>
              <a:srgbClr val="D9DE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0" name="Google Shape;60;p5"/>
          <p:cNvSpPr/>
          <p:nvPr/>
        </p:nvSpPr>
        <p:spPr>
          <a:xfrm>
            <a:off x="533400" y="6448425"/>
            <a:ext cx="88582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825"/>
              <a:buFont typeface="Arial"/>
              <a:buNone/>
            </a:pPr>
            <a:r>
              <a:rPr b="0" lang="en-US" sz="825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TOKYO BIG HOUSE 最終面接資料｜社外秘・面接時のみ提示</a:t>
            </a:r>
            <a:endParaRPr/>
          </a:p>
        </p:txBody>
      </p:sp>
      <p:sp>
        <p:nvSpPr>
          <p:cNvPr id="61" name="Google Shape;61;p5"/>
          <p:cNvSpPr/>
          <p:nvPr/>
        </p:nvSpPr>
        <p:spPr>
          <a:xfrm>
            <a:off x="10744200" y="6419850"/>
            <a:ext cx="9144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55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152255"/>
                </a:solidFill>
                <a:latin typeface="Arial"/>
                <a:ea typeface="Arial"/>
                <a:cs typeface="Arial"/>
                <a:sym typeface="Arial"/>
              </a:rPr>
              <a:t>P.03</a:t>
            </a:r>
            <a:endParaRPr/>
          </a:p>
        </p:txBody>
      </p:sp>
      <p:sp>
        <p:nvSpPr>
          <p:cNvPr id="62" name="Google Shape;62;p5"/>
          <p:cNvSpPr/>
          <p:nvPr/>
        </p:nvSpPr>
        <p:spPr>
          <a:xfrm>
            <a:off x="533400" y="1390650"/>
            <a:ext cx="4953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275"/>
              <a:buFont typeface="Arial"/>
              <a:buNone/>
            </a:pPr>
            <a:r>
              <a:rPr b="1" lang="en-US" sz="1275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2026.09｜販売営業の現在地</a:t>
            </a:r>
            <a:endParaRPr/>
          </a:p>
        </p:txBody>
      </p:sp>
      <p:sp>
        <p:nvSpPr>
          <p:cNvPr id="63" name="Google Shape;63;p5"/>
          <p:cNvSpPr/>
          <p:nvPr/>
        </p:nvSpPr>
        <p:spPr>
          <a:xfrm>
            <a:off x="647700" y="1933575"/>
            <a:ext cx="10477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275"/>
              <a:buFont typeface="Arial"/>
              <a:buNone/>
            </a:pPr>
            <a:r>
              <a:rPr b="1" lang="en-US" sz="1275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部長</a:t>
            </a:r>
            <a:endParaRPr/>
          </a:p>
        </p:txBody>
      </p:sp>
      <p:sp>
        <p:nvSpPr>
          <p:cNvPr id="64" name="Google Shape;64;p5"/>
          <p:cNvSpPr/>
          <p:nvPr/>
        </p:nvSpPr>
        <p:spPr>
          <a:xfrm>
            <a:off x="647700" y="2638425"/>
            <a:ext cx="10477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275"/>
              <a:buFont typeface="Arial"/>
              <a:buNone/>
            </a:pPr>
            <a:r>
              <a:rPr b="1" lang="en-US" sz="1275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課長</a:t>
            </a:r>
            <a:endParaRPr/>
          </a:p>
        </p:txBody>
      </p:sp>
      <p:sp>
        <p:nvSpPr>
          <p:cNvPr id="65" name="Google Shape;65;p5"/>
          <p:cNvSpPr/>
          <p:nvPr/>
        </p:nvSpPr>
        <p:spPr>
          <a:xfrm>
            <a:off x="647700" y="3362325"/>
            <a:ext cx="10477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275"/>
              <a:buFont typeface="Arial"/>
              <a:buNone/>
            </a:pPr>
            <a:r>
              <a:rPr b="1" lang="en-US" sz="1275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リーダー</a:t>
            </a:r>
            <a:endParaRPr/>
          </a:p>
        </p:txBody>
      </p:sp>
      <p:sp>
        <p:nvSpPr>
          <p:cNvPr id="66" name="Google Shape;66;p5"/>
          <p:cNvSpPr/>
          <p:nvPr/>
        </p:nvSpPr>
        <p:spPr>
          <a:xfrm>
            <a:off x="647700" y="4238625"/>
            <a:ext cx="10477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275"/>
              <a:buFont typeface="Arial"/>
              <a:buNone/>
            </a:pPr>
            <a:r>
              <a:rPr b="1" lang="en-US" sz="1275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営業担当</a:t>
            </a:r>
            <a:endParaRPr/>
          </a:p>
        </p:txBody>
      </p:sp>
      <p:sp>
        <p:nvSpPr>
          <p:cNvPr id="67" name="Google Shape;67;p5"/>
          <p:cNvSpPr/>
          <p:nvPr/>
        </p:nvSpPr>
        <p:spPr>
          <a:xfrm>
            <a:off x="5829300" y="1885950"/>
            <a:ext cx="1238250" cy="419100"/>
          </a:xfrm>
          <a:prstGeom prst="roundRect">
            <a:avLst>
              <a:gd fmla="val 22727" name="adj"/>
            </a:avLst>
          </a:prstGeom>
          <a:solidFill>
            <a:srgbClr val="1522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5"/>
          <p:cNvSpPr/>
          <p:nvPr/>
        </p:nvSpPr>
        <p:spPr>
          <a:xfrm>
            <a:off x="5905500" y="1924050"/>
            <a:ext cx="10858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部長</a:t>
            </a:r>
            <a:endParaRPr/>
          </a:p>
        </p:txBody>
      </p:sp>
      <p:sp>
        <p:nvSpPr>
          <p:cNvPr id="69" name="Google Shape;69;p5"/>
          <p:cNvSpPr/>
          <p:nvPr/>
        </p:nvSpPr>
        <p:spPr>
          <a:xfrm>
            <a:off x="2628900" y="2590800"/>
            <a:ext cx="1352550" cy="419100"/>
          </a:xfrm>
          <a:prstGeom prst="roundRect">
            <a:avLst>
              <a:gd fmla="val 22727" name="adj"/>
            </a:avLst>
          </a:prstGeom>
          <a:solidFill>
            <a:srgbClr val="1522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5"/>
          <p:cNvSpPr/>
          <p:nvPr/>
        </p:nvSpPr>
        <p:spPr>
          <a:xfrm>
            <a:off x="2705100" y="2628900"/>
            <a:ext cx="12001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課長 1</a:t>
            </a:r>
            <a:endParaRPr/>
          </a:p>
        </p:txBody>
      </p:sp>
      <p:sp>
        <p:nvSpPr>
          <p:cNvPr id="71" name="Google Shape;71;p5"/>
          <p:cNvSpPr/>
          <p:nvPr/>
        </p:nvSpPr>
        <p:spPr>
          <a:xfrm>
            <a:off x="4438650" y="2590800"/>
            <a:ext cx="1352550" cy="419100"/>
          </a:xfrm>
          <a:prstGeom prst="roundRect">
            <a:avLst>
              <a:gd fmla="val 22727" name="adj"/>
            </a:avLst>
          </a:prstGeom>
          <a:solidFill>
            <a:srgbClr val="1522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5"/>
          <p:cNvSpPr/>
          <p:nvPr/>
        </p:nvSpPr>
        <p:spPr>
          <a:xfrm>
            <a:off x="4514850" y="2628900"/>
            <a:ext cx="12001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課長 2</a:t>
            </a:r>
            <a:endParaRPr/>
          </a:p>
        </p:txBody>
      </p:sp>
      <p:sp>
        <p:nvSpPr>
          <p:cNvPr id="73" name="Google Shape;73;p5"/>
          <p:cNvSpPr/>
          <p:nvPr/>
        </p:nvSpPr>
        <p:spPr>
          <a:xfrm>
            <a:off x="6248400" y="2590800"/>
            <a:ext cx="1352550" cy="419100"/>
          </a:xfrm>
          <a:prstGeom prst="roundRect">
            <a:avLst>
              <a:gd fmla="val 22727" name="adj"/>
            </a:avLst>
          </a:prstGeom>
          <a:solidFill>
            <a:srgbClr val="1522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5"/>
          <p:cNvSpPr/>
          <p:nvPr/>
        </p:nvSpPr>
        <p:spPr>
          <a:xfrm>
            <a:off x="6324600" y="2628900"/>
            <a:ext cx="12001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課長 3</a:t>
            </a:r>
            <a:endParaRPr/>
          </a:p>
        </p:txBody>
      </p:sp>
      <p:sp>
        <p:nvSpPr>
          <p:cNvPr id="75" name="Google Shape;75;p5"/>
          <p:cNvSpPr/>
          <p:nvPr/>
        </p:nvSpPr>
        <p:spPr>
          <a:xfrm>
            <a:off x="8058150" y="2590800"/>
            <a:ext cx="1352550" cy="419100"/>
          </a:xfrm>
          <a:prstGeom prst="roundRect">
            <a:avLst>
              <a:gd fmla="val 22727" name="adj"/>
            </a:avLst>
          </a:prstGeom>
          <a:solidFill>
            <a:srgbClr val="1522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5"/>
          <p:cNvSpPr/>
          <p:nvPr/>
        </p:nvSpPr>
        <p:spPr>
          <a:xfrm>
            <a:off x="8134350" y="2628900"/>
            <a:ext cx="12001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課長 4</a:t>
            </a:r>
            <a:endParaRPr/>
          </a:p>
        </p:txBody>
      </p:sp>
      <p:sp>
        <p:nvSpPr>
          <p:cNvPr id="77" name="Google Shape;77;p5"/>
          <p:cNvSpPr/>
          <p:nvPr/>
        </p:nvSpPr>
        <p:spPr>
          <a:xfrm>
            <a:off x="2305050" y="3314700"/>
            <a:ext cx="1219200" cy="381000"/>
          </a:xfrm>
          <a:prstGeom prst="roundRect">
            <a:avLst>
              <a:gd fmla="val 25000" name="adj"/>
            </a:avLst>
          </a:prstGeom>
          <a:solidFill>
            <a:srgbClr val="1522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5"/>
          <p:cNvSpPr/>
          <p:nvPr/>
        </p:nvSpPr>
        <p:spPr>
          <a:xfrm>
            <a:off x="2381250" y="3352800"/>
            <a:ext cx="1066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5"/>
              <a:buFont typeface="Arial"/>
              <a:buNone/>
            </a:pPr>
            <a:r>
              <a:rPr b="1" lang="en-US" sz="112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L1</a:t>
            </a:r>
            <a:endParaRPr/>
          </a:p>
        </p:txBody>
      </p:sp>
      <p:sp>
        <p:nvSpPr>
          <p:cNvPr id="79" name="Google Shape;79;p5"/>
          <p:cNvSpPr/>
          <p:nvPr/>
        </p:nvSpPr>
        <p:spPr>
          <a:xfrm>
            <a:off x="3790950" y="3314700"/>
            <a:ext cx="1219200" cy="381000"/>
          </a:xfrm>
          <a:prstGeom prst="roundRect">
            <a:avLst>
              <a:gd fmla="val 25000" name="adj"/>
            </a:avLst>
          </a:prstGeom>
          <a:solidFill>
            <a:srgbClr val="1522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5"/>
          <p:cNvSpPr/>
          <p:nvPr/>
        </p:nvSpPr>
        <p:spPr>
          <a:xfrm>
            <a:off x="3867150" y="3352800"/>
            <a:ext cx="1066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5"/>
              <a:buFont typeface="Arial"/>
              <a:buNone/>
            </a:pPr>
            <a:r>
              <a:rPr b="1" lang="en-US" sz="112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L2</a:t>
            </a:r>
            <a:endParaRPr/>
          </a:p>
        </p:txBody>
      </p:sp>
      <p:sp>
        <p:nvSpPr>
          <p:cNvPr id="81" name="Google Shape;81;p5"/>
          <p:cNvSpPr/>
          <p:nvPr/>
        </p:nvSpPr>
        <p:spPr>
          <a:xfrm>
            <a:off x="5276850" y="3314700"/>
            <a:ext cx="1219200" cy="381000"/>
          </a:xfrm>
          <a:prstGeom prst="roundRect">
            <a:avLst>
              <a:gd fmla="val 25000" name="adj"/>
            </a:avLst>
          </a:prstGeom>
          <a:solidFill>
            <a:srgbClr val="1522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5"/>
          <p:cNvSpPr/>
          <p:nvPr/>
        </p:nvSpPr>
        <p:spPr>
          <a:xfrm>
            <a:off x="5353050" y="3352800"/>
            <a:ext cx="1066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5"/>
              <a:buFont typeface="Arial"/>
              <a:buNone/>
            </a:pPr>
            <a:r>
              <a:rPr b="1" lang="en-US" sz="112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L3</a:t>
            </a:r>
            <a:endParaRPr/>
          </a:p>
        </p:txBody>
      </p:sp>
      <p:sp>
        <p:nvSpPr>
          <p:cNvPr id="83" name="Google Shape;83;p5"/>
          <p:cNvSpPr/>
          <p:nvPr/>
        </p:nvSpPr>
        <p:spPr>
          <a:xfrm>
            <a:off x="6762750" y="3314700"/>
            <a:ext cx="1219200" cy="381000"/>
          </a:xfrm>
          <a:prstGeom prst="roundRect">
            <a:avLst>
              <a:gd fmla="val 25000" name="adj"/>
            </a:avLst>
          </a:prstGeom>
          <a:solidFill>
            <a:srgbClr val="1522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5"/>
          <p:cNvSpPr/>
          <p:nvPr/>
        </p:nvSpPr>
        <p:spPr>
          <a:xfrm>
            <a:off x="6838950" y="3352800"/>
            <a:ext cx="1066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5"/>
              <a:buFont typeface="Arial"/>
              <a:buNone/>
            </a:pPr>
            <a:r>
              <a:rPr b="1" lang="en-US" sz="112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L4</a:t>
            </a:r>
            <a:endParaRPr/>
          </a:p>
        </p:txBody>
      </p:sp>
      <p:sp>
        <p:nvSpPr>
          <p:cNvPr id="85" name="Google Shape;85;p5"/>
          <p:cNvSpPr/>
          <p:nvPr/>
        </p:nvSpPr>
        <p:spPr>
          <a:xfrm>
            <a:off x="8248650" y="3314700"/>
            <a:ext cx="1219200" cy="381000"/>
          </a:xfrm>
          <a:prstGeom prst="roundRect">
            <a:avLst>
              <a:gd fmla="val 25000" name="adj"/>
            </a:avLst>
          </a:prstGeom>
          <a:solidFill>
            <a:srgbClr val="1522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5"/>
          <p:cNvSpPr/>
          <p:nvPr/>
        </p:nvSpPr>
        <p:spPr>
          <a:xfrm>
            <a:off x="8324850" y="3352800"/>
            <a:ext cx="1066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5"/>
              <a:buFont typeface="Arial"/>
              <a:buNone/>
            </a:pPr>
            <a:r>
              <a:rPr b="1" lang="en-US" sz="112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L5</a:t>
            </a:r>
            <a:endParaRPr/>
          </a:p>
        </p:txBody>
      </p:sp>
      <p:sp>
        <p:nvSpPr>
          <p:cNvPr id="87" name="Google Shape;87;p5"/>
          <p:cNvSpPr/>
          <p:nvPr/>
        </p:nvSpPr>
        <p:spPr>
          <a:xfrm>
            <a:off x="9734550" y="3314700"/>
            <a:ext cx="1219200" cy="381000"/>
          </a:xfrm>
          <a:prstGeom prst="roundRect">
            <a:avLst>
              <a:gd fmla="val 25000" name="adj"/>
            </a:avLst>
          </a:prstGeom>
          <a:solidFill>
            <a:srgbClr val="1522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5"/>
          <p:cNvSpPr/>
          <p:nvPr/>
        </p:nvSpPr>
        <p:spPr>
          <a:xfrm>
            <a:off x="9810750" y="3352800"/>
            <a:ext cx="1066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5"/>
              <a:buFont typeface="Arial"/>
              <a:buNone/>
            </a:pPr>
            <a:r>
              <a:rPr b="1" lang="en-US" sz="112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L6</a:t>
            </a:r>
            <a:endParaRPr/>
          </a:p>
        </p:txBody>
      </p:sp>
      <p:sp>
        <p:nvSpPr>
          <p:cNvPr id="89" name="Google Shape;89;p5"/>
          <p:cNvSpPr/>
          <p:nvPr/>
        </p:nvSpPr>
        <p:spPr>
          <a:xfrm>
            <a:off x="2076450" y="4114800"/>
            <a:ext cx="9048750" cy="704850"/>
          </a:xfrm>
          <a:prstGeom prst="roundRect">
            <a:avLst>
              <a:gd fmla="val 16216" name="adj"/>
            </a:avLst>
          </a:prstGeom>
          <a:solidFill>
            <a:srgbClr val="1522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5"/>
          <p:cNvSpPr/>
          <p:nvPr/>
        </p:nvSpPr>
        <p:spPr>
          <a:xfrm>
            <a:off x="2381250" y="4238625"/>
            <a:ext cx="838200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営業担当 約15名／平均年齢20代前半</a:t>
            </a:r>
            <a:endParaRPr/>
          </a:p>
        </p:txBody>
      </p:sp>
      <p:sp>
        <p:nvSpPr>
          <p:cNvPr id="91" name="Google Shape;91;p5"/>
          <p:cNvSpPr/>
          <p:nvPr/>
        </p:nvSpPr>
        <p:spPr>
          <a:xfrm>
            <a:off x="2000250" y="5219700"/>
            <a:ext cx="9201150" cy="685800"/>
          </a:xfrm>
          <a:prstGeom prst="roundRect">
            <a:avLst>
              <a:gd fmla="val 19444" name="adj"/>
            </a:avLst>
          </a:prstGeom>
          <a:solidFill>
            <a:srgbClr val="FFF0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5"/>
          <p:cNvSpPr/>
          <p:nvPr/>
        </p:nvSpPr>
        <p:spPr>
          <a:xfrm>
            <a:off x="2305050" y="5343525"/>
            <a:ext cx="86677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55"/>
              </a:buClr>
              <a:buSzPts val="1875"/>
              <a:buFont typeface="Arial"/>
              <a:buNone/>
            </a:pPr>
            <a:r>
              <a:rPr b="1" lang="en-US" sz="1875">
                <a:solidFill>
                  <a:srgbClr val="152255"/>
                </a:solidFill>
                <a:latin typeface="Arial"/>
                <a:ea typeface="Arial"/>
                <a:cs typeface="Arial"/>
                <a:sym typeface="Arial"/>
              </a:rPr>
              <a:t>リーダーの平均年齢 23歳。全員が入社1年で登用。</a:t>
            </a:r>
            <a:endParaRPr/>
          </a:p>
        </p:txBody>
      </p:sp>
      <p:pic>
        <p:nvPicPr>
          <p:cNvPr id="93" name="Google Shape;93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11399" y="119051"/>
            <a:ext cx="2095500" cy="4450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F0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6"/>
          <p:cNvSpPr/>
          <p:nvPr/>
        </p:nvSpPr>
        <p:spPr>
          <a:xfrm>
            <a:off x="533400" y="276225"/>
            <a:ext cx="76200" cy="238125"/>
          </a:xfrm>
          <a:prstGeom prst="roundRect">
            <a:avLst>
              <a:gd fmla="val 50000" name="adj"/>
            </a:avLst>
          </a:prstGeom>
          <a:solidFill>
            <a:srgbClr val="F474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6"/>
          <p:cNvSpPr/>
          <p:nvPr/>
        </p:nvSpPr>
        <p:spPr>
          <a:xfrm>
            <a:off x="742950" y="2667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125"/>
              <a:buFont typeface="Arial"/>
              <a:buNone/>
            </a:pPr>
            <a:r>
              <a:rPr b="1" lang="en-US" sz="1125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02｜キャリアの空席</a:t>
            </a:r>
            <a:endParaRPr/>
          </a:p>
        </p:txBody>
      </p:sp>
      <p:sp>
        <p:nvSpPr>
          <p:cNvPr id="101" name="Google Shape;101;p6"/>
          <p:cNvSpPr/>
          <p:nvPr/>
        </p:nvSpPr>
        <p:spPr>
          <a:xfrm>
            <a:off x="533400" y="723900"/>
            <a:ext cx="106680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55"/>
              </a:buClr>
              <a:buSzPts val="3000"/>
              <a:buFont typeface="Arial"/>
              <a:buNone/>
            </a:pPr>
            <a:r>
              <a:rPr b="1" lang="en-US" sz="3000">
                <a:solidFill>
                  <a:srgbClr val="152255"/>
                </a:solidFill>
                <a:latin typeface="Arial"/>
                <a:ea typeface="Arial"/>
                <a:cs typeface="Arial"/>
                <a:sym typeface="Arial"/>
              </a:rPr>
              <a:t>1年後、課長6席・リーダー13席が空く</a:t>
            </a:r>
            <a:endParaRPr/>
          </a:p>
        </p:txBody>
      </p:sp>
      <p:cxnSp>
        <p:nvCxnSpPr>
          <p:cNvPr id="102" name="Google Shape;102;p6"/>
          <p:cNvCxnSpPr/>
          <p:nvPr/>
        </p:nvCxnSpPr>
        <p:spPr>
          <a:xfrm>
            <a:off x="533400" y="6315075"/>
            <a:ext cx="11125200" cy="0"/>
          </a:xfrm>
          <a:prstGeom prst="straightConnector1">
            <a:avLst/>
          </a:prstGeom>
          <a:noFill/>
          <a:ln cap="flat" cmpd="sng" w="9525">
            <a:solidFill>
              <a:srgbClr val="D9DE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" name="Google Shape;103;p6"/>
          <p:cNvSpPr/>
          <p:nvPr/>
        </p:nvSpPr>
        <p:spPr>
          <a:xfrm>
            <a:off x="533400" y="6448425"/>
            <a:ext cx="88582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825"/>
              <a:buFont typeface="Arial"/>
              <a:buNone/>
            </a:pPr>
            <a:r>
              <a:rPr b="0" lang="en-US" sz="825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TOKYO BIG HOUSE 最終面接資料｜社外秘・面接時のみ提示</a:t>
            </a:r>
            <a:endParaRPr/>
          </a:p>
        </p:txBody>
      </p:sp>
      <p:sp>
        <p:nvSpPr>
          <p:cNvPr id="104" name="Google Shape;104;p6"/>
          <p:cNvSpPr/>
          <p:nvPr/>
        </p:nvSpPr>
        <p:spPr>
          <a:xfrm>
            <a:off x="10744200" y="6419850"/>
            <a:ext cx="9144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55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152255"/>
                </a:solidFill>
                <a:latin typeface="Arial"/>
                <a:ea typeface="Arial"/>
                <a:cs typeface="Arial"/>
                <a:sym typeface="Arial"/>
              </a:rPr>
              <a:t>P.04</a:t>
            </a:r>
            <a:endParaRPr/>
          </a:p>
        </p:txBody>
      </p:sp>
      <p:sp>
        <p:nvSpPr>
          <p:cNvPr id="105" name="Google Shape;105;p6"/>
          <p:cNvSpPr/>
          <p:nvPr/>
        </p:nvSpPr>
        <p:spPr>
          <a:xfrm>
            <a:off x="533400" y="1390650"/>
            <a:ext cx="4953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275"/>
              <a:buFont typeface="Arial"/>
              <a:buNone/>
            </a:pPr>
            <a:r>
              <a:rPr b="1" lang="en-US" sz="1275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2027.10.01｜55名体制</a:t>
            </a:r>
            <a:endParaRPr/>
          </a:p>
        </p:txBody>
      </p:sp>
      <p:sp>
        <p:nvSpPr>
          <p:cNvPr id="106" name="Google Shape;106;p6"/>
          <p:cNvSpPr/>
          <p:nvPr/>
        </p:nvSpPr>
        <p:spPr>
          <a:xfrm>
            <a:off x="6896100" y="1390650"/>
            <a:ext cx="23812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1マス＝1席（営業担当を除く）</a:t>
            </a:r>
            <a:endParaRPr/>
          </a:p>
        </p:txBody>
      </p:sp>
      <p:sp>
        <p:nvSpPr>
          <p:cNvPr id="107" name="Google Shape;107;p6"/>
          <p:cNvSpPr/>
          <p:nvPr/>
        </p:nvSpPr>
        <p:spPr>
          <a:xfrm>
            <a:off x="9467850" y="1438275"/>
            <a:ext cx="171450" cy="171450"/>
          </a:xfrm>
          <a:prstGeom prst="roundRect">
            <a:avLst>
              <a:gd fmla="val 22222" name="adj"/>
            </a:avLst>
          </a:prstGeom>
          <a:solidFill>
            <a:srgbClr val="1522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6"/>
          <p:cNvSpPr/>
          <p:nvPr/>
        </p:nvSpPr>
        <p:spPr>
          <a:xfrm>
            <a:off x="9696450" y="1390650"/>
            <a:ext cx="5524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在籍</a:t>
            </a:r>
            <a:endParaRPr/>
          </a:p>
        </p:txBody>
      </p:sp>
      <p:sp>
        <p:nvSpPr>
          <p:cNvPr id="109" name="Google Shape;109;p6"/>
          <p:cNvSpPr/>
          <p:nvPr/>
        </p:nvSpPr>
        <p:spPr>
          <a:xfrm>
            <a:off x="10325100" y="1438275"/>
            <a:ext cx="171450" cy="171450"/>
          </a:xfrm>
          <a:prstGeom prst="roundRect">
            <a:avLst>
              <a:gd fmla="val 22222" name="adj"/>
            </a:avLst>
          </a:prstGeom>
          <a:solidFill>
            <a:srgbClr val="F7F5F0"/>
          </a:solidFill>
          <a:ln cap="flat" cmpd="sng" w="19050">
            <a:solidFill>
              <a:srgbClr val="F4742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6"/>
          <p:cNvSpPr/>
          <p:nvPr/>
        </p:nvSpPr>
        <p:spPr>
          <a:xfrm>
            <a:off x="10553700" y="1390650"/>
            <a:ext cx="5524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7421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F47421"/>
                </a:solidFill>
                <a:latin typeface="Arial"/>
                <a:ea typeface="Arial"/>
                <a:cs typeface="Arial"/>
                <a:sym typeface="Arial"/>
              </a:rPr>
              <a:t>空席</a:t>
            </a:r>
            <a:endParaRPr/>
          </a:p>
        </p:txBody>
      </p:sp>
      <p:sp>
        <p:nvSpPr>
          <p:cNvPr id="111" name="Google Shape;111;p6"/>
          <p:cNvSpPr/>
          <p:nvPr/>
        </p:nvSpPr>
        <p:spPr>
          <a:xfrm>
            <a:off x="533400" y="1981200"/>
            <a:ext cx="1333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55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152255"/>
                </a:solidFill>
                <a:latin typeface="Arial"/>
                <a:ea typeface="Arial"/>
                <a:cs typeface="Arial"/>
                <a:sym typeface="Arial"/>
              </a:rPr>
              <a:t>部長 2席</a:t>
            </a:r>
            <a:endParaRPr/>
          </a:p>
        </p:txBody>
      </p:sp>
      <p:sp>
        <p:nvSpPr>
          <p:cNvPr id="112" name="Google Shape;112;p6"/>
          <p:cNvSpPr/>
          <p:nvPr/>
        </p:nvSpPr>
        <p:spPr>
          <a:xfrm>
            <a:off x="2000250" y="1952625"/>
            <a:ext cx="1619250" cy="457200"/>
          </a:xfrm>
          <a:prstGeom prst="roundRect">
            <a:avLst>
              <a:gd fmla="val 16667" name="adj"/>
            </a:avLst>
          </a:prstGeom>
          <a:solidFill>
            <a:srgbClr val="1522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6"/>
          <p:cNvSpPr/>
          <p:nvPr/>
        </p:nvSpPr>
        <p:spPr>
          <a:xfrm>
            <a:off x="2057400" y="2000250"/>
            <a:ext cx="15049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在籍</a:t>
            </a:r>
            <a:endParaRPr/>
          </a:p>
        </p:txBody>
      </p:sp>
      <p:sp>
        <p:nvSpPr>
          <p:cNvPr id="114" name="Google Shape;114;p6"/>
          <p:cNvSpPr/>
          <p:nvPr/>
        </p:nvSpPr>
        <p:spPr>
          <a:xfrm>
            <a:off x="3733800" y="1952625"/>
            <a:ext cx="1619250" cy="457200"/>
          </a:xfrm>
          <a:prstGeom prst="roundRect">
            <a:avLst>
              <a:gd fmla="val 16667" name="adj"/>
            </a:avLst>
          </a:prstGeom>
          <a:solidFill>
            <a:srgbClr val="F7F5F0"/>
          </a:solidFill>
          <a:ln cap="flat" cmpd="sng" w="19050">
            <a:solidFill>
              <a:srgbClr val="F4742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6"/>
          <p:cNvSpPr/>
          <p:nvPr/>
        </p:nvSpPr>
        <p:spPr>
          <a:xfrm>
            <a:off x="3790950" y="2000250"/>
            <a:ext cx="15049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7421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F47421"/>
                </a:solidFill>
                <a:latin typeface="Arial"/>
                <a:ea typeface="Arial"/>
                <a:cs typeface="Arial"/>
                <a:sym typeface="Arial"/>
              </a:rPr>
              <a:t>空席</a:t>
            </a:r>
            <a:endParaRPr/>
          </a:p>
        </p:txBody>
      </p:sp>
      <p:sp>
        <p:nvSpPr>
          <p:cNvPr id="116" name="Google Shape;116;p6"/>
          <p:cNvSpPr/>
          <p:nvPr/>
        </p:nvSpPr>
        <p:spPr>
          <a:xfrm>
            <a:off x="533400" y="2705100"/>
            <a:ext cx="1333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55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152255"/>
                </a:solidFill>
                <a:latin typeface="Arial"/>
                <a:ea typeface="Arial"/>
                <a:cs typeface="Arial"/>
                <a:sym typeface="Arial"/>
              </a:rPr>
              <a:t>課長 10席</a:t>
            </a:r>
            <a:endParaRPr/>
          </a:p>
        </p:txBody>
      </p:sp>
      <p:sp>
        <p:nvSpPr>
          <p:cNvPr id="117" name="Google Shape;117;p6"/>
          <p:cNvSpPr/>
          <p:nvPr/>
        </p:nvSpPr>
        <p:spPr>
          <a:xfrm>
            <a:off x="2000250" y="2676525"/>
            <a:ext cx="819150" cy="457200"/>
          </a:xfrm>
          <a:prstGeom prst="roundRect">
            <a:avLst>
              <a:gd fmla="val 16667" name="adj"/>
            </a:avLst>
          </a:prstGeom>
          <a:solidFill>
            <a:srgbClr val="1522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6"/>
          <p:cNvSpPr/>
          <p:nvPr/>
        </p:nvSpPr>
        <p:spPr>
          <a:xfrm>
            <a:off x="2057400" y="2724150"/>
            <a:ext cx="7048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在籍</a:t>
            </a:r>
            <a:endParaRPr/>
          </a:p>
        </p:txBody>
      </p:sp>
      <p:sp>
        <p:nvSpPr>
          <p:cNvPr id="119" name="Google Shape;119;p6"/>
          <p:cNvSpPr/>
          <p:nvPr/>
        </p:nvSpPr>
        <p:spPr>
          <a:xfrm>
            <a:off x="2905125" y="2676525"/>
            <a:ext cx="819150" cy="457200"/>
          </a:xfrm>
          <a:prstGeom prst="roundRect">
            <a:avLst>
              <a:gd fmla="val 16667" name="adj"/>
            </a:avLst>
          </a:prstGeom>
          <a:solidFill>
            <a:srgbClr val="1522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6"/>
          <p:cNvSpPr/>
          <p:nvPr/>
        </p:nvSpPr>
        <p:spPr>
          <a:xfrm>
            <a:off x="2962275" y="2724150"/>
            <a:ext cx="7048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在籍</a:t>
            </a:r>
            <a:endParaRPr/>
          </a:p>
        </p:txBody>
      </p:sp>
      <p:sp>
        <p:nvSpPr>
          <p:cNvPr id="121" name="Google Shape;121;p6"/>
          <p:cNvSpPr/>
          <p:nvPr/>
        </p:nvSpPr>
        <p:spPr>
          <a:xfrm>
            <a:off x="3810000" y="2676525"/>
            <a:ext cx="819150" cy="457200"/>
          </a:xfrm>
          <a:prstGeom prst="roundRect">
            <a:avLst>
              <a:gd fmla="val 16667" name="adj"/>
            </a:avLst>
          </a:prstGeom>
          <a:solidFill>
            <a:srgbClr val="1522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6"/>
          <p:cNvSpPr/>
          <p:nvPr/>
        </p:nvSpPr>
        <p:spPr>
          <a:xfrm>
            <a:off x="3867150" y="2724150"/>
            <a:ext cx="7048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在籍</a:t>
            </a:r>
            <a:endParaRPr/>
          </a:p>
        </p:txBody>
      </p:sp>
      <p:sp>
        <p:nvSpPr>
          <p:cNvPr id="123" name="Google Shape;123;p6"/>
          <p:cNvSpPr/>
          <p:nvPr/>
        </p:nvSpPr>
        <p:spPr>
          <a:xfrm>
            <a:off x="4714875" y="2676525"/>
            <a:ext cx="819150" cy="457200"/>
          </a:xfrm>
          <a:prstGeom prst="roundRect">
            <a:avLst>
              <a:gd fmla="val 16667" name="adj"/>
            </a:avLst>
          </a:prstGeom>
          <a:solidFill>
            <a:srgbClr val="1522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6"/>
          <p:cNvSpPr/>
          <p:nvPr/>
        </p:nvSpPr>
        <p:spPr>
          <a:xfrm>
            <a:off x="4772025" y="2724150"/>
            <a:ext cx="7048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在籍</a:t>
            </a:r>
            <a:endParaRPr/>
          </a:p>
        </p:txBody>
      </p:sp>
      <p:sp>
        <p:nvSpPr>
          <p:cNvPr id="125" name="Google Shape;125;p6"/>
          <p:cNvSpPr/>
          <p:nvPr/>
        </p:nvSpPr>
        <p:spPr>
          <a:xfrm>
            <a:off x="5619750" y="2676525"/>
            <a:ext cx="819150" cy="457200"/>
          </a:xfrm>
          <a:prstGeom prst="roundRect">
            <a:avLst>
              <a:gd fmla="val 16667" name="adj"/>
            </a:avLst>
          </a:prstGeom>
          <a:solidFill>
            <a:srgbClr val="F7F5F0"/>
          </a:solidFill>
          <a:ln cap="flat" cmpd="sng" w="19050">
            <a:solidFill>
              <a:srgbClr val="F4742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6"/>
          <p:cNvSpPr/>
          <p:nvPr/>
        </p:nvSpPr>
        <p:spPr>
          <a:xfrm>
            <a:off x="5676900" y="2724150"/>
            <a:ext cx="7048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7421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F47421"/>
                </a:solidFill>
                <a:latin typeface="Arial"/>
                <a:ea typeface="Arial"/>
                <a:cs typeface="Arial"/>
                <a:sym typeface="Arial"/>
              </a:rPr>
              <a:t>空席</a:t>
            </a:r>
            <a:endParaRPr/>
          </a:p>
        </p:txBody>
      </p:sp>
      <p:sp>
        <p:nvSpPr>
          <p:cNvPr id="127" name="Google Shape;127;p6"/>
          <p:cNvSpPr/>
          <p:nvPr/>
        </p:nvSpPr>
        <p:spPr>
          <a:xfrm>
            <a:off x="6524625" y="2676525"/>
            <a:ext cx="819150" cy="457200"/>
          </a:xfrm>
          <a:prstGeom prst="roundRect">
            <a:avLst>
              <a:gd fmla="val 16667" name="adj"/>
            </a:avLst>
          </a:prstGeom>
          <a:solidFill>
            <a:srgbClr val="F7F5F0"/>
          </a:solidFill>
          <a:ln cap="flat" cmpd="sng" w="19050">
            <a:solidFill>
              <a:srgbClr val="F4742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6"/>
          <p:cNvSpPr/>
          <p:nvPr/>
        </p:nvSpPr>
        <p:spPr>
          <a:xfrm>
            <a:off x="6581775" y="2724150"/>
            <a:ext cx="7048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7421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F47421"/>
                </a:solidFill>
                <a:latin typeface="Arial"/>
                <a:ea typeface="Arial"/>
                <a:cs typeface="Arial"/>
                <a:sym typeface="Arial"/>
              </a:rPr>
              <a:t>空席</a:t>
            </a:r>
            <a:endParaRPr/>
          </a:p>
        </p:txBody>
      </p:sp>
      <p:sp>
        <p:nvSpPr>
          <p:cNvPr id="129" name="Google Shape;129;p6"/>
          <p:cNvSpPr/>
          <p:nvPr/>
        </p:nvSpPr>
        <p:spPr>
          <a:xfrm>
            <a:off x="7429500" y="2676525"/>
            <a:ext cx="819150" cy="457200"/>
          </a:xfrm>
          <a:prstGeom prst="roundRect">
            <a:avLst>
              <a:gd fmla="val 16667" name="adj"/>
            </a:avLst>
          </a:prstGeom>
          <a:solidFill>
            <a:srgbClr val="F7F5F0"/>
          </a:solidFill>
          <a:ln cap="flat" cmpd="sng" w="19050">
            <a:solidFill>
              <a:srgbClr val="F4742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6"/>
          <p:cNvSpPr/>
          <p:nvPr/>
        </p:nvSpPr>
        <p:spPr>
          <a:xfrm>
            <a:off x="7486650" y="2724150"/>
            <a:ext cx="7048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7421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F47421"/>
                </a:solidFill>
                <a:latin typeface="Arial"/>
                <a:ea typeface="Arial"/>
                <a:cs typeface="Arial"/>
                <a:sym typeface="Arial"/>
              </a:rPr>
              <a:t>空席</a:t>
            </a:r>
            <a:endParaRPr/>
          </a:p>
        </p:txBody>
      </p:sp>
      <p:sp>
        <p:nvSpPr>
          <p:cNvPr id="131" name="Google Shape;131;p6"/>
          <p:cNvSpPr/>
          <p:nvPr/>
        </p:nvSpPr>
        <p:spPr>
          <a:xfrm>
            <a:off x="8334375" y="2676525"/>
            <a:ext cx="819150" cy="457200"/>
          </a:xfrm>
          <a:prstGeom prst="roundRect">
            <a:avLst>
              <a:gd fmla="val 16667" name="adj"/>
            </a:avLst>
          </a:prstGeom>
          <a:solidFill>
            <a:srgbClr val="F7F5F0"/>
          </a:solidFill>
          <a:ln cap="flat" cmpd="sng" w="19050">
            <a:solidFill>
              <a:srgbClr val="F4742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6"/>
          <p:cNvSpPr/>
          <p:nvPr/>
        </p:nvSpPr>
        <p:spPr>
          <a:xfrm>
            <a:off x="8391525" y="2724150"/>
            <a:ext cx="7048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7421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F47421"/>
                </a:solidFill>
                <a:latin typeface="Arial"/>
                <a:ea typeface="Arial"/>
                <a:cs typeface="Arial"/>
                <a:sym typeface="Arial"/>
              </a:rPr>
              <a:t>空席</a:t>
            </a:r>
            <a:endParaRPr/>
          </a:p>
        </p:txBody>
      </p:sp>
      <p:sp>
        <p:nvSpPr>
          <p:cNvPr id="133" name="Google Shape;133;p6"/>
          <p:cNvSpPr/>
          <p:nvPr/>
        </p:nvSpPr>
        <p:spPr>
          <a:xfrm>
            <a:off x="9239250" y="2676525"/>
            <a:ext cx="819150" cy="457200"/>
          </a:xfrm>
          <a:prstGeom prst="roundRect">
            <a:avLst>
              <a:gd fmla="val 16667" name="adj"/>
            </a:avLst>
          </a:prstGeom>
          <a:solidFill>
            <a:srgbClr val="F7F5F0"/>
          </a:solidFill>
          <a:ln cap="flat" cmpd="sng" w="19050">
            <a:solidFill>
              <a:srgbClr val="F4742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6"/>
          <p:cNvSpPr/>
          <p:nvPr/>
        </p:nvSpPr>
        <p:spPr>
          <a:xfrm>
            <a:off x="9296400" y="2724150"/>
            <a:ext cx="7048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7421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F47421"/>
                </a:solidFill>
                <a:latin typeface="Arial"/>
                <a:ea typeface="Arial"/>
                <a:cs typeface="Arial"/>
                <a:sym typeface="Arial"/>
              </a:rPr>
              <a:t>空席</a:t>
            </a:r>
            <a:endParaRPr/>
          </a:p>
        </p:txBody>
      </p:sp>
      <p:sp>
        <p:nvSpPr>
          <p:cNvPr id="135" name="Google Shape;135;p6"/>
          <p:cNvSpPr/>
          <p:nvPr/>
        </p:nvSpPr>
        <p:spPr>
          <a:xfrm>
            <a:off x="10144125" y="2676525"/>
            <a:ext cx="819150" cy="457200"/>
          </a:xfrm>
          <a:prstGeom prst="roundRect">
            <a:avLst>
              <a:gd fmla="val 16667" name="adj"/>
            </a:avLst>
          </a:prstGeom>
          <a:solidFill>
            <a:srgbClr val="F7F5F0"/>
          </a:solidFill>
          <a:ln cap="flat" cmpd="sng" w="19050">
            <a:solidFill>
              <a:srgbClr val="F4742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6"/>
          <p:cNvSpPr/>
          <p:nvPr/>
        </p:nvSpPr>
        <p:spPr>
          <a:xfrm>
            <a:off x="10201275" y="2724150"/>
            <a:ext cx="7048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7421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F47421"/>
                </a:solidFill>
                <a:latin typeface="Arial"/>
                <a:ea typeface="Arial"/>
                <a:cs typeface="Arial"/>
                <a:sym typeface="Arial"/>
              </a:rPr>
              <a:t>空席</a:t>
            </a:r>
            <a:endParaRPr/>
          </a:p>
        </p:txBody>
      </p:sp>
      <p:sp>
        <p:nvSpPr>
          <p:cNvPr id="137" name="Google Shape;137;p6"/>
          <p:cNvSpPr/>
          <p:nvPr/>
        </p:nvSpPr>
        <p:spPr>
          <a:xfrm>
            <a:off x="533400" y="3429000"/>
            <a:ext cx="1333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55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152255"/>
                </a:solidFill>
                <a:latin typeface="Arial"/>
                <a:ea typeface="Arial"/>
                <a:cs typeface="Arial"/>
                <a:sym typeface="Arial"/>
              </a:rPr>
              <a:t>リーダー 16席</a:t>
            </a:r>
            <a:endParaRPr/>
          </a:p>
        </p:txBody>
      </p:sp>
      <p:sp>
        <p:nvSpPr>
          <p:cNvPr id="138" name="Google Shape;138;p6"/>
          <p:cNvSpPr/>
          <p:nvPr/>
        </p:nvSpPr>
        <p:spPr>
          <a:xfrm>
            <a:off x="2000250" y="3400425"/>
            <a:ext cx="514350" cy="457200"/>
          </a:xfrm>
          <a:prstGeom prst="roundRect">
            <a:avLst>
              <a:gd fmla="val 16667" name="adj"/>
            </a:avLst>
          </a:prstGeom>
          <a:solidFill>
            <a:srgbClr val="1522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6"/>
          <p:cNvSpPr/>
          <p:nvPr/>
        </p:nvSpPr>
        <p:spPr>
          <a:xfrm>
            <a:off x="2590800" y="3400425"/>
            <a:ext cx="514350" cy="457200"/>
          </a:xfrm>
          <a:prstGeom prst="roundRect">
            <a:avLst>
              <a:gd fmla="val 16667" name="adj"/>
            </a:avLst>
          </a:prstGeom>
          <a:solidFill>
            <a:srgbClr val="1522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6"/>
          <p:cNvSpPr/>
          <p:nvPr/>
        </p:nvSpPr>
        <p:spPr>
          <a:xfrm>
            <a:off x="3181350" y="3400425"/>
            <a:ext cx="514350" cy="457200"/>
          </a:xfrm>
          <a:prstGeom prst="roundRect">
            <a:avLst>
              <a:gd fmla="val 16667" name="adj"/>
            </a:avLst>
          </a:prstGeom>
          <a:solidFill>
            <a:srgbClr val="1522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6"/>
          <p:cNvSpPr/>
          <p:nvPr/>
        </p:nvSpPr>
        <p:spPr>
          <a:xfrm>
            <a:off x="3771900" y="3400425"/>
            <a:ext cx="514350" cy="457200"/>
          </a:xfrm>
          <a:prstGeom prst="roundRect">
            <a:avLst>
              <a:gd fmla="val 16667" name="adj"/>
            </a:avLst>
          </a:prstGeom>
          <a:solidFill>
            <a:srgbClr val="F7F5F0"/>
          </a:solidFill>
          <a:ln cap="flat" cmpd="sng" w="19050">
            <a:solidFill>
              <a:srgbClr val="F4742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6"/>
          <p:cNvSpPr/>
          <p:nvPr/>
        </p:nvSpPr>
        <p:spPr>
          <a:xfrm>
            <a:off x="4362450" y="3400425"/>
            <a:ext cx="514350" cy="457200"/>
          </a:xfrm>
          <a:prstGeom prst="roundRect">
            <a:avLst>
              <a:gd fmla="val 16667" name="adj"/>
            </a:avLst>
          </a:prstGeom>
          <a:solidFill>
            <a:srgbClr val="F7F5F0"/>
          </a:solidFill>
          <a:ln cap="flat" cmpd="sng" w="19050">
            <a:solidFill>
              <a:srgbClr val="F4742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6"/>
          <p:cNvSpPr/>
          <p:nvPr/>
        </p:nvSpPr>
        <p:spPr>
          <a:xfrm>
            <a:off x="4953000" y="3400425"/>
            <a:ext cx="514350" cy="457200"/>
          </a:xfrm>
          <a:prstGeom prst="roundRect">
            <a:avLst>
              <a:gd fmla="val 16667" name="adj"/>
            </a:avLst>
          </a:prstGeom>
          <a:solidFill>
            <a:srgbClr val="F7F5F0"/>
          </a:solidFill>
          <a:ln cap="flat" cmpd="sng" w="19050">
            <a:solidFill>
              <a:srgbClr val="F4742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6"/>
          <p:cNvSpPr/>
          <p:nvPr/>
        </p:nvSpPr>
        <p:spPr>
          <a:xfrm>
            <a:off x="5543550" y="3400425"/>
            <a:ext cx="514350" cy="457200"/>
          </a:xfrm>
          <a:prstGeom prst="roundRect">
            <a:avLst>
              <a:gd fmla="val 16667" name="adj"/>
            </a:avLst>
          </a:prstGeom>
          <a:solidFill>
            <a:srgbClr val="F7F5F0"/>
          </a:solidFill>
          <a:ln cap="flat" cmpd="sng" w="19050">
            <a:solidFill>
              <a:srgbClr val="F4742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6"/>
          <p:cNvSpPr/>
          <p:nvPr/>
        </p:nvSpPr>
        <p:spPr>
          <a:xfrm>
            <a:off x="6134100" y="3400425"/>
            <a:ext cx="514350" cy="457200"/>
          </a:xfrm>
          <a:prstGeom prst="roundRect">
            <a:avLst>
              <a:gd fmla="val 16667" name="adj"/>
            </a:avLst>
          </a:prstGeom>
          <a:solidFill>
            <a:srgbClr val="F7F5F0"/>
          </a:solidFill>
          <a:ln cap="flat" cmpd="sng" w="19050">
            <a:solidFill>
              <a:srgbClr val="F4742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6"/>
          <p:cNvSpPr/>
          <p:nvPr/>
        </p:nvSpPr>
        <p:spPr>
          <a:xfrm>
            <a:off x="6724650" y="3400425"/>
            <a:ext cx="514350" cy="457200"/>
          </a:xfrm>
          <a:prstGeom prst="roundRect">
            <a:avLst>
              <a:gd fmla="val 16667" name="adj"/>
            </a:avLst>
          </a:prstGeom>
          <a:solidFill>
            <a:srgbClr val="F7F5F0"/>
          </a:solidFill>
          <a:ln cap="flat" cmpd="sng" w="19050">
            <a:solidFill>
              <a:srgbClr val="F4742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6"/>
          <p:cNvSpPr/>
          <p:nvPr/>
        </p:nvSpPr>
        <p:spPr>
          <a:xfrm>
            <a:off x="7315200" y="3400425"/>
            <a:ext cx="514350" cy="457200"/>
          </a:xfrm>
          <a:prstGeom prst="roundRect">
            <a:avLst>
              <a:gd fmla="val 16667" name="adj"/>
            </a:avLst>
          </a:prstGeom>
          <a:solidFill>
            <a:srgbClr val="F7F5F0"/>
          </a:solidFill>
          <a:ln cap="flat" cmpd="sng" w="19050">
            <a:solidFill>
              <a:srgbClr val="F4742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6"/>
          <p:cNvSpPr/>
          <p:nvPr/>
        </p:nvSpPr>
        <p:spPr>
          <a:xfrm>
            <a:off x="7905750" y="3400425"/>
            <a:ext cx="514350" cy="457200"/>
          </a:xfrm>
          <a:prstGeom prst="roundRect">
            <a:avLst>
              <a:gd fmla="val 16667" name="adj"/>
            </a:avLst>
          </a:prstGeom>
          <a:solidFill>
            <a:srgbClr val="F7F5F0"/>
          </a:solidFill>
          <a:ln cap="flat" cmpd="sng" w="19050">
            <a:solidFill>
              <a:srgbClr val="F4742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6"/>
          <p:cNvSpPr/>
          <p:nvPr/>
        </p:nvSpPr>
        <p:spPr>
          <a:xfrm>
            <a:off x="8496300" y="3400425"/>
            <a:ext cx="514350" cy="457200"/>
          </a:xfrm>
          <a:prstGeom prst="roundRect">
            <a:avLst>
              <a:gd fmla="val 16667" name="adj"/>
            </a:avLst>
          </a:prstGeom>
          <a:solidFill>
            <a:srgbClr val="F7F5F0"/>
          </a:solidFill>
          <a:ln cap="flat" cmpd="sng" w="19050">
            <a:solidFill>
              <a:srgbClr val="F4742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6"/>
          <p:cNvSpPr/>
          <p:nvPr/>
        </p:nvSpPr>
        <p:spPr>
          <a:xfrm>
            <a:off x="9086850" y="3400425"/>
            <a:ext cx="514350" cy="457200"/>
          </a:xfrm>
          <a:prstGeom prst="roundRect">
            <a:avLst>
              <a:gd fmla="val 16667" name="adj"/>
            </a:avLst>
          </a:prstGeom>
          <a:solidFill>
            <a:srgbClr val="F7F5F0"/>
          </a:solidFill>
          <a:ln cap="flat" cmpd="sng" w="19050">
            <a:solidFill>
              <a:srgbClr val="F4742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6"/>
          <p:cNvSpPr/>
          <p:nvPr/>
        </p:nvSpPr>
        <p:spPr>
          <a:xfrm>
            <a:off x="9677400" y="3400425"/>
            <a:ext cx="514350" cy="457200"/>
          </a:xfrm>
          <a:prstGeom prst="roundRect">
            <a:avLst>
              <a:gd fmla="val 16667" name="adj"/>
            </a:avLst>
          </a:prstGeom>
          <a:solidFill>
            <a:srgbClr val="F7F5F0"/>
          </a:solidFill>
          <a:ln cap="flat" cmpd="sng" w="19050">
            <a:solidFill>
              <a:srgbClr val="F4742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6"/>
          <p:cNvSpPr/>
          <p:nvPr/>
        </p:nvSpPr>
        <p:spPr>
          <a:xfrm>
            <a:off x="10267950" y="3400425"/>
            <a:ext cx="514350" cy="457200"/>
          </a:xfrm>
          <a:prstGeom prst="roundRect">
            <a:avLst>
              <a:gd fmla="val 16667" name="adj"/>
            </a:avLst>
          </a:prstGeom>
          <a:solidFill>
            <a:srgbClr val="F7F5F0"/>
          </a:solidFill>
          <a:ln cap="flat" cmpd="sng" w="19050">
            <a:solidFill>
              <a:srgbClr val="F4742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6"/>
          <p:cNvSpPr/>
          <p:nvPr/>
        </p:nvSpPr>
        <p:spPr>
          <a:xfrm>
            <a:off x="10858500" y="3400425"/>
            <a:ext cx="514350" cy="457200"/>
          </a:xfrm>
          <a:prstGeom prst="roundRect">
            <a:avLst>
              <a:gd fmla="val 16667" name="adj"/>
            </a:avLst>
          </a:prstGeom>
          <a:solidFill>
            <a:srgbClr val="F7F5F0"/>
          </a:solidFill>
          <a:ln cap="flat" cmpd="sng" w="19050">
            <a:solidFill>
              <a:srgbClr val="F4742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6"/>
          <p:cNvSpPr/>
          <p:nvPr/>
        </p:nvSpPr>
        <p:spPr>
          <a:xfrm>
            <a:off x="533400" y="4333875"/>
            <a:ext cx="1333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55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152255"/>
                </a:solidFill>
                <a:latin typeface="Arial"/>
                <a:ea typeface="Arial"/>
                <a:cs typeface="Arial"/>
                <a:sym typeface="Arial"/>
              </a:rPr>
              <a:t>営業担当</a:t>
            </a:r>
            <a:endParaRPr/>
          </a:p>
        </p:txBody>
      </p:sp>
      <p:sp>
        <p:nvSpPr>
          <p:cNvPr id="155" name="Google Shape;155;p6"/>
          <p:cNvSpPr/>
          <p:nvPr/>
        </p:nvSpPr>
        <p:spPr>
          <a:xfrm>
            <a:off x="2000250" y="4305300"/>
            <a:ext cx="3543300" cy="514350"/>
          </a:xfrm>
          <a:prstGeom prst="roundRect">
            <a:avLst>
              <a:gd fmla="val 16667" name="adj"/>
            </a:avLst>
          </a:prstGeom>
          <a:solidFill>
            <a:srgbClr val="1522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6"/>
          <p:cNvSpPr/>
          <p:nvPr/>
        </p:nvSpPr>
        <p:spPr>
          <a:xfrm>
            <a:off x="2190750" y="4362450"/>
            <a:ext cx="31623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25"/>
              <a:buFont typeface="Arial"/>
              <a:buNone/>
            </a:pPr>
            <a:r>
              <a:rPr b="1" lang="en-US" sz="142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現在 約20名</a:t>
            </a:r>
            <a:endParaRPr/>
          </a:p>
        </p:txBody>
      </p:sp>
      <p:sp>
        <p:nvSpPr>
          <p:cNvPr id="157" name="Google Shape;157;p6"/>
          <p:cNvSpPr/>
          <p:nvPr/>
        </p:nvSpPr>
        <p:spPr>
          <a:xfrm>
            <a:off x="5772150" y="4305300"/>
            <a:ext cx="447675" cy="514350"/>
          </a:xfrm>
          <a:prstGeom prst="roundRect">
            <a:avLst>
              <a:gd fmla="val 17021" name="adj"/>
            </a:avLst>
          </a:prstGeom>
          <a:solidFill>
            <a:srgbClr val="F7F5F0"/>
          </a:solidFill>
          <a:ln cap="flat" cmpd="sng" w="19050">
            <a:solidFill>
              <a:srgbClr val="F4742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6"/>
          <p:cNvSpPr/>
          <p:nvPr/>
        </p:nvSpPr>
        <p:spPr>
          <a:xfrm>
            <a:off x="6296025" y="4305300"/>
            <a:ext cx="447675" cy="514350"/>
          </a:xfrm>
          <a:prstGeom prst="roundRect">
            <a:avLst>
              <a:gd fmla="val 17021" name="adj"/>
            </a:avLst>
          </a:prstGeom>
          <a:solidFill>
            <a:srgbClr val="F7F5F0"/>
          </a:solidFill>
          <a:ln cap="flat" cmpd="sng" w="19050">
            <a:solidFill>
              <a:srgbClr val="F4742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6"/>
          <p:cNvSpPr/>
          <p:nvPr/>
        </p:nvSpPr>
        <p:spPr>
          <a:xfrm>
            <a:off x="6819900" y="4305300"/>
            <a:ext cx="447675" cy="514350"/>
          </a:xfrm>
          <a:prstGeom prst="roundRect">
            <a:avLst>
              <a:gd fmla="val 17021" name="adj"/>
            </a:avLst>
          </a:prstGeom>
          <a:solidFill>
            <a:srgbClr val="F7F5F0"/>
          </a:solidFill>
          <a:ln cap="flat" cmpd="sng" w="19050">
            <a:solidFill>
              <a:srgbClr val="F4742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6"/>
          <p:cNvSpPr/>
          <p:nvPr/>
        </p:nvSpPr>
        <p:spPr>
          <a:xfrm>
            <a:off x="7343775" y="4305300"/>
            <a:ext cx="447675" cy="514350"/>
          </a:xfrm>
          <a:prstGeom prst="roundRect">
            <a:avLst>
              <a:gd fmla="val 17021" name="adj"/>
            </a:avLst>
          </a:prstGeom>
          <a:solidFill>
            <a:srgbClr val="F7F5F0"/>
          </a:solidFill>
          <a:ln cap="flat" cmpd="sng" w="19050">
            <a:solidFill>
              <a:srgbClr val="F4742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6"/>
          <p:cNvSpPr/>
          <p:nvPr/>
        </p:nvSpPr>
        <p:spPr>
          <a:xfrm>
            <a:off x="7867650" y="4305300"/>
            <a:ext cx="447675" cy="514350"/>
          </a:xfrm>
          <a:prstGeom prst="roundRect">
            <a:avLst>
              <a:gd fmla="val 17021" name="adj"/>
            </a:avLst>
          </a:prstGeom>
          <a:solidFill>
            <a:srgbClr val="F7F5F0"/>
          </a:solidFill>
          <a:ln cap="flat" cmpd="sng" w="19050">
            <a:solidFill>
              <a:srgbClr val="F4742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6"/>
          <p:cNvSpPr/>
          <p:nvPr/>
        </p:nvSpPr>
        <p:spPr>
          <a:xfrm>
            <a:off x="8391525" y="4305300"/>
            <a:ext cx="447675" cy="514350"/>
          </a:xfrm>
          <a:prstGeom prst="roundRect">
            <a:avLst>
              <a:gd fmla="val 17021" name="adj"/>
            </a:avLst>
          </a:prstGeom>
          <a:solidFill>
            <a:srgbClr val="F7F5F0"/>
          </a:solidFill>
          <a:ln cap="flat" cmpd="sng" w="19050">
            <a:solidFill>
              <a:srgbClr val="F4742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6"/>
          <p:cNvSpPr/>
          <p:nvPr/>
        </p:nvSpPr>
        <p:spPr>
          <a:xfrm>
            <a:off x="8915400" y="4305300"/>
            <a:ext cx="447675" cy="514350"/>
          </a:xfrm>
          <a:prstGeom prst="roundRect">
            <a:avLst>
              <a:gd fmla="val 17021" name="adj"/>
            </a:avLst>
          </a:prstGeom>
          <a:solidFill>
            <a:srgbClr val="F7F5F0"/>
          </a:solidFill>
          <a:ln cap="flat" cmpd="sng" w="19050">
            <a:solidFill>
              <a:srgbClr val="F4742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6"/>
          <p:cNvSpPr/>
          <p:nvPr/>
        </p:nvSpPr>
        <p:spPr>
          <a:xfrm>
            <a:off x="9439275" y="4305300"/>
            <a:ext cx="447675" cy="514350"/>
          </a:xfrm>
          <a:prstGeom prst="roundRect">
            <a:avLst>
              <a:gd fmla="val 17021" name="adj"/>
            </a:avLst>
          </a:prstGeom>
          <a:solidFill>
            <a:srgbClr val="F7F5F0"/>
          </a:solidFill>
          <a:ln cap="flat" cmpd="sng" w="19050">
            <a:solidFill>
              <a:srgbClr val="F4742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6"/>
          <p:cNvSpPr/>
          <p:nvPr/>
        </p:nvSpPr>
        <p:spPr>
          <a:xfrm>
            <a:off x="9963150" y="4305300"/>
            <a:ext cx="447675" cy="514350"/>
          </a:xfrm>
          <a:prstGeom prst="roundRect">
            <a:avLst>
              <a:gd fmla="val 17021" name="adj"/>
            </a:avLst>
          </a:prstGeom>
          <a:solidFill>
            <a:srgbClr val="F7F5F0"/>
          </a:solidFill>
          <a:ln cap="flat" cmpd="sng" w="19050">
            <a:solidFill>
              <a:srgbClr val="F4742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6"/>
          <p:cNvSpPr/>
          <p:nvPr/>
        </p:nvSpPr>
        <p:spPr>
          <a:xfrm>
            <a:off x="10487025" y="4305300"/>
            <a:ext cx="447675" cy="514350"/>
          </a:xfrm>
          <a:prstGeom prst="roundRect">
            <a:avLst>
              <a:gd fmla="val 17021" name="adj"/>
            </a:avLst>
          </a:prstGeom>
          <a:solidFill>
            <a:srgbClr val="F7F5F0"/>
          </a:solidFill>
          <a:ln cap="flat" cmpd="sng" w="19050">
            <a:solidFill>
              <a:srgbClr val="F4742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6"/>
          <p:cNvSpPr/>
          <p:nvPr/>
        </p:nvSpPr>
        <p:spPr>
          <a:xfrm>
            <a:off x="5772150" y="4895850"/>
            <a:ext cx="51625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7421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F47421"/>
                </a:solidFill>
                <a:latin typeface="Arial"/>
                <a:ea typeface="Arial"/>
                <a:cs typeface="Arial"/>
                <a:sym typeface="Arial"/>
              </a:rPr>
              <a:t>採用枠 10〜20名</a:t>
            </a:r>
            <a:endParaRPr/>
          </a:p>
        </p:txBody>
      </p:sp>
      <p:sp>
        <p:nvSpPr>
          <p:cNvPr id="168" name="Google Shape;168;p6"/>
          <p:cNvSpPr/>
          <p:nvPr/>
        </p:nvSpPr>
        <p:spPr>
          <a:xfrm>
            <a:off x="2000250" y="5314950"/>
            <a:ext cx="8934450" cy="609600"/>
          </a:xfrm>
          <a:prstGeom prst="roundRect">
            <a:avLst>
              <a:gd fmla="val 21875" name="adj"/>
            </a:avLst>
          </a:prstGeom>
          <a:solidFill>
            <a:srgbClr val="FFFFFF"/>
          </a:solidFill>
          <a:ln cap="flat" cmpd="sng" w="9525">
            <a:solidFill>
              <a:srgbClr val="D9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6"/>
          <p:cNvSpPr/>
          <p:nvPr/>
        </p:nvSpPr>
        <p:spPr>
          <a:xfrm>
            <a:off x="2247900" y="5410200"/>
            <a:ext cx="84391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55"/>
              </a:buClr>
              <a:buSzPts val="1875"/>
              <a:buFont typeface="Arial"/>
              <a:buNone/>
            </a:pPr>
            <a:r>
              <a:rPr b="1" lang="en-US" sz="1875">
                <a:solidFill>
                  <a:srgbClr val="152255"/>
                </a:solidFill>
                <a:latin typeface="Arial"/>
                <a:ea typeface="Arial"/>
                <a:cs typeface="Arial"/>
                <a:sym typeface="Arial"/>
              </a:rPr>
              <a:t>この空席を埋めるのは、いまの社員と、あなた。</a:t>
            </a:r>
            <a:endParaRPr/>
          </a:p>
        </p:txBody>
      </p:sp>
      <p:pic>
        <p:nvPicPr>
          <p:cNvPr id="170" name="Google Shape;170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11399" y="119051"/>
            <a:ext cx="2095500" cy="4450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F0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7"/>
          <p:cNvSpPr/>
          <p:nvPr/>
        </p:nvSpPr>
        <p:spPr>
          <a:xfrm>
            <a:off x="533400" y="276225"/>
            <a:ext cx="76200" cy="238125"/>
          </a:xfrm>
          <a:prstGeom prst="roundRect">
            <a:avLst>
              <a:gd fmla="val 50000" name="adj"/>
            </a:avLst>
          </a:prstGeom>
          <a:solidFill>
            <a:srgbClr val="F474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7"/>
          <p:cNvSpPr/>
          <p:nvPr/>
        </p:nvSpPr>
        <p:spPr>
          <a:xfrm>
            <a:off x="742950" y="2667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125"/>
              <a:buFont typeface="Arial"/>
              <a:buNone/>
            </a:pPr>
            <a:r>
              <a:rPr b="1" lang="en-US" sz="1125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02｜キャリアの空席</a:t>
            </a:r>
            <a:endParaRPr/>
          </a:p>
        </p:txBody>
      </p:sp>
      <p:sp>
        <p:nvSpPr>
          <p:cNvPr id="178" name="Google Shape;178;p7"/>
          <p:cNvSpPr/>
          <p:nvPr/>
        </p:nvSpPr>
        <p:spPr>
          <a:xfrm>
            <a:off x="533400" y="723900"/>
            <a:ext cx="106680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55"/>
              </a:buClr>
              <a:buSzPts val="3000"/>
              <a:buFont typeface="Arial"/>
              <a:buNone/>
            </a:pPr>
            <a:r>
              <a:rPr b="1" lang="en-US" sz="3000">
                <a:solidFill>
                  <a:srgbClr val="152255"/>
                </a:solidFill>
                <a:latin typeface="Arial"/>
                <a:ea typeface="Arial"/>
                <a:cs typeface="Arial"/>
                <a:sym typeface="Arial"/>
              </a:rPr>
              <a:t>2年後、営業40名。部長の席も増える</a:t>
            </a:r>
            <a:endParaRPr/>
          </a:p>
        </p:txBody>
      </p:sp>
      <p:cxnSp>
        <p:nvCxnSpPr>
          <p:cNvPr id="179" name="Google Shape;179;p7"/>
          <p:cNvCxnSpPr/>
          <p:nvPr/>
        </p:nvCxnSpPr>
        <p:spPr>
          <a:xfrm>
            <a:off x="533400" y="6315075"/>
            <a:ext cx="11125200" cy="0"/>
          </a:xfrm>
          <a:prstGeom prst="straightConnector1">
            <a:avLst/>
          </a:prstGeom>
          <a:noFill/>
          <a:ln cap="flat" cmpd="sng" w="9525">
            <a:solidFill>
              <a:srgbClr val="D9DE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0" name="Google Shape;180;p7"/>
          <p:cNvSpPr/>
          <p:nvPr/>
        </p:nvSpPr>
        <p:spPr>
          <a:xfrm>
            <a:off x="533400" y="6448425"/>
            <a:ext cx="88582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825"/>
              <a:buFont typeface="Arial"/>
              <a:buNone/>
            </a:pPr>
            <a:r>
              <a:rPr b="0" lang="en-US" sz="825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TOKYO BIG HOUSE 最終面接資料｜社外秘・面接時のみ提示</a:t>
            </a:r>
            <a:endParaRPr/>
          </a:p>
        </p:txBody>
      </p:sp>
      <p:sp>
        <p:nvSpPr>
          <p:cNvPr id="181" name="Google Shape;181;p7"/>
          <p:cNvSpPr/>
          <p:nvPr/>
        </p:nvSpPr>
        <p:spPr>
          <a:xfrm>
            <a:off x="10744200" y="6419850"/>
            <a:ext cx="9144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55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152255"/>
                </a:solidFill>
                <a:latin typeface="Arial"/>
                <a:ea typeface="Arial"/>
                <a:cs typeface="Arial"/>
                <a:sym typeface="Arial"/>
              </a:rPr>
              <a:t>P.05</a:t>
            </a:r>
            <a:endParaRPr/>
          </a:p>
        </p:txBody>
      </p:sp>
      <p:sp>
        <p:nvSpPr>
          <p:cNvPr id="182" name="Google Shape;182;p7"/>
          <p:cNvSpPr/>
          <p:nvPr/>
        </p:nvSpPr>
        <p:spPr>
          <a:xfrm>
            <a:off x="533400" y="1390650"/>
            <a:ext cx="4953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275"/>
              <a:buFont typeface="Arial"/>
              <a:buNone/>
            </a:pPr>
            <a:r>
              <a:rPr b="1" lang="en-US" sz="1275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2028.10.01｜2営業部体制</a:t>
            </a:r>
            <a:endParaRPr/>
          </a:p>
        </p:txBody>
      </p:sp>
      <p:sp>
        <p:nvSpPr>
          <p:cNvPr id="183" name="Google Shape;183;p7"/>
          <p:cNvSpPr/>
          <p:nvPr/>
        </p:nvSpPr>
        <p:spPr>
          <a:xfrm>
            <a:off x="895350" y="2095500"/>
            <a:ext cx="238125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55"/>
              </a:buClr>
              <a:buSzPts val="6900"/>
              <a:buFont typeface="Arial"/>
              <a:buNone/>
            </a:pPr>
            <a:r>
              <a:rPr b="1" lang="en-US" sz="6900">
                <a:solidFill>
                  <a:srgbClr val="152255"/>
                </a:solidFill>
              </a:rPr>
              <a:t>25</a:t>
            </a:r>
            <a:endParaRPr/>
          </a:p>
        </p:txBody>
      </p:sp>
      <p:sp>
        <p:nvSpPr>
          <p:cNvPr id="184" name="Google Shape;184;p7"/>
          <p:cNvSpPr/>
          <p:nvPr/>
        </p:nvSpPr>
        <p:spPr>
          <a:xfrm>
            <a:off x="2800350" y="2667000"/>
            <a:ext cx="5715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55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152255"/>
                </a:solidFill>
                <a:latin typeface="Arial"/>
                <a:ea typeface="Arial"/>
                <a:cs typeface="Arial"/>
                <a:sym typeface="Arial"/>
              </a:rPr>
              <a:t>名</a:t>
            </a:r>
            <a:endParaRPr/>
          </a:p>
        </p:txBody>
      </p:sp>
      <p:sp>
        <p:nvSpPr>
          <p:cNvPr id="185" name="Google Shape;185;p7"/>
          <p:cNvSpPr/>
          <p:nvPr/>
        </p:nvSpPr>
        <p:spPr>
          <a:xfrm>
            <a:off x="914400" y="3276600"/>
            <a:ext cx="24765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4054"/>
              </a:buClr>
              <a:buSzPts val="1500"/>
              <a:buFont typeface="Arial"/>
              <a:buNone/>
            </a:pPr>
            <a:r>
              <a:rPr b="0" lang="en-US" sz="1500">
                <a:solidFill>
                  <a:srgbClr val="344054"/>
                </a:solidFill>
                <a:latin typeface="Arial"/>
                <a:ea typeface="Arial"/>
                <a:cs typeface="Arial"/>
                <a:sym typeface="Arial"/>
              </a:rPr>
              <a:t>いまの営業組織</a:t>
            </a:r>
            <a:endParaRPr/>
          </a:p>
        </p:txBody>
      </p:sp>
      <p:sp>
        <p:nvSpPr>
          <p:cNvPr id="186" name="Google Shape;186;p7"/>
          <p:cNvSpPr/>
          <p:nvPr/>
        </p:nvSpPr>
        <p:spPr>
          <a:xfrm>
            <a:off x="3943350" y="2343150"/>
            <a:ext cx="2571750" cy="74295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474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7"/>
          <p:cNvSpPr/>
          <p:nvPr/>
        </p:nvSpPr>
        <p:spPr>
          <a:xfrm>
            <a:off x="4248150" y="2505075"/>
            <a:ext cx="1714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25"/>
              <a:buFont typeface="Arial"/>
              <a:buNone/>
            </a:pPr>
            <a:r>
              <a:rPr b="1" lang="en-US" sz="172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2年で</a:t>
            </a:r>
            <a:r>
              <a:rPr b="1" lang="en-US" sz="1725">
                <a:solidFill>
                  <a:srgbClr val="FFFFFF"/>
                </a:solidFill>
              </a:rPr>
              <a:t>3</a:t>
            </a:r>
            <a:r>
              <a:rPr b="1" lang="en-US" sz="172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倍へ</a:t>
            </a:r>
            <a:endParaRPr/>
          </a:p>
        </p:txBody>
      </p:sp>
      <p:sp>
        <p:nvSpPr>
          <p:cNvPr id="188" name="Google Shape;188;p7"/>
          <p:cNvSpPr/>
          <p:nvPr/>
        </p:nvSpPr>
        <p:spPr>
          <a:xfrm>
            <a:off x="7658100" y="2095500"/>
            <a:ext cx="238125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7421"/>
              </a:buClr>
              <a:buSzPts val="6900"/>
              <a:buFont typeface="Arial"/>
              <a:buNone/>
            </a:pPr>
            <a:r>
              <a:rPr b="1" lang="en-US" sz="6900">
                <a:solidFill>
                  <a:srgbClr val="F47421"/>
                </a:solidFill>
              </a:rPr>
              <a:t>75</a:t>
            </a:r>
            <a:endParaRPr/>
          </a:p>
        </p:txBody>
      </p:sp>
      <p:sp>
        <p:nvSpPr>
          <p:cNvPr id="189" name="Google Shape;189;p7"/>
          <p:cNvSpPr/>
          <p:nvPr/>
        </p:nvSpPr>
        <p:spPr>
          <a:xfrm>
            <a:off x="9563100" y="2667000"/>
            <a:ext cx="5715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55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152255"/>
                </a:solidFill>
                <a:latin typeface="Arial"/>
                <a:ea typeface="Arial"/>
                <a:cs typeface="Arial"/>
                <a:sym typeface="Arial"/>
              </a:rPr>
              <a:t>名</a:t>
            </a:r>
            <a:endParaRPr/>
          </a:p>
        </p:txBody>
      </p:sp>
      <p:sp>
        <p:nvSpPr>
          <p:cNvPr id="190" name="Google Shape;190;p7"/>
          <p:cNvSpPr/>
          <p:nvPr/>
        </p:nvSpPr>
        <p:spPr>
          <a:xfrm>
            <a:off x="7677150" y="3276600"/>
            <a:ext cx="24765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4054"/>
              </a:buClr>
              <a:buSzPts val="1500"/>
              <a:buFont typeface="Arial"/>
              <a:buNone/>
            </a:pPr>
            <a:r>
              <a:rPr b="0" lang="en-US" sz="1500">
                <a:solidFill>
                  <a:srgbClr val="344054"/>
                </a:solidFill>
                <a:latin typeface="Arial"/>
                <a:ea typeface="Arial"/>
                <a:cs typeface="Arial"/>
                <a:sym typeface="Arial"/>
              </a:rPr>
              <a:t>営業体制</a:t>
            </a:r>
            <a:endParaRPr/>
          </a:p>
        </p:txBody>
      </p:sp>
      <p:sp>
        <p:nvSpPr>
          <p:cNvPr id="191" name="Google Shape;191;p7"/>
          <p:cNvSpPr/>
          <p:nvPr/>
        </p:nvSpPr>
        <p:spPr>
          <a:xfrm>
            <a:off x="685800" y="4095750"/>
            <a:ext cx="10820400" cy="1257300"/>
          </a:xfrm>
          <a:prstGeom prst="roundRect">
            <a:avLst>
              <a:gd fmla="val 13636" name="adj"/>
            </a:avLst>
          </a:prstGeom>
          <a:solidFill>
            <a:srgbClr val="FFFFFF"/>
          </a:solidFill>
          <a:ln cap="flat" cmpd="sng" w="9525">
            <a:solidFill>
              <a:srgbClr val="D9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7"/>
          <p:cNvSpPr/>
          <p:nvPr/>
        </p:nvSpPr>
        <p:spPr>
          <a:xfrm>
            <a:off x="1009650" y="4343400"/>
            <a:ext cx="28575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7421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F47421"/>
                </a:solidFill>
              </a:rPr>
              <a:t>５</a:t>
            </a:r>
            <a:r>
              <a:rPr b="1" lang="en-US" sz="1800">
                <a:solidFill>
                  <a:srgbClr val="F47421"/>
                </a:solidFill>
                <a:latin typeface="Arial"/>
                <a:ea typeface="Arial"/>
                <a:cs typeface="Arial"/>
                <a:sym typeface="Arial"/>
              </a:rPr>
              <a:t>営業部体制</a:t>
            </a:r>
            <a:endParaRPr/>
          </a:p>
        </p:txBody>
      </p:sp>
      <p:sp>
        <p:nvSpPr>
          <p:cNvPr id="193" name="Google Shape;193;p7"/>
          <p:cNvSpPr/>
          <p:nvPr/>
        </p:nvSpPr>
        <p:spPr>
          <a:xfrm>
            <a:off x="1009650" y="4800600"/>
            <a:ext cx="49530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55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152255"/>
                </a:solidFill>
                <a:latin typeface="Arial"/>
                <a:ea typeface="Arial"/>
                <a:cs typeface="Arial"/>
                <a:sym typeface="Arial"/>
              </a:rPr>
              <a:t>部長の席が増え</a:t>
            </a:r>
            <a:r>
              <a:rPr b="1" lang="en-US" sz="1800">
                <a:solidFill>
                  <a:srgbClr val="152255"/>
                </a:solidFill>
              </a:rPr>
              <a:t>つづける</a:t>
            </a:r>
            <a:endParaRPr/>
          </a:p>
        </p:txBody>
      </p:sp>
      <p:cxnSp>
        <p:nvCxnSpPr>
          <p:cNvPr id="194" name="Google Shape;194;p7"/>
          <p:cNvCxnSpPr/>
          <p:nvPr/>
        </p:nvCxnSpPr>
        <p:spPr>
          <a:xfrm>
            <a:off x="6381750" y="4305300"/>
            <a:ext cx="0" cy="781050"/>
          </a:xfrm>
          <a:prstGeom prst="straightConnector1">
            <a:avLst/>
          </a:prstGeom>
          <a:noFill/>
          <a:ln cap="flat" cmpd="sng" w="19050">
            <a:solidFill>
              <a:srgbClr val="D9DE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5" name="Google Shape;195;p7"/>
          <p:cNvSpPr/>
          <p:nvPr/>
        </p:nvSpPr>
        <p:spPr>
          <a:xfrm>
            <a:off x="6800850" y="4433888"/>
            <a:ext cx="40005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52255"/>
              </a:buClr>
              <a:buSzPts val="1650"/>
              <a:buFont typeface="Arial"/>
              <a:buNone/>
            </a:pPr>
            <a:r>
              <a:rPr b="1" lang="en-US" sz="1650">
                <a:solidFill>
                  <a:srgbClr val="152255"/>
                </a:solidFill>
                <a:latin typeface="Arial"/>
                <a:ea typeface="Arial"/>
                <a:cs typeface="Arial"/>
                <a:sym typeface="Arial"/>
              </a:rPr>
              <a:t>課長・リーダーも、</a:t>
            </a:r>
            <a:endParaRPr/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52255"/>
              </a:buClr>
              <a:buSzPts val="1650"/>
              <a:buFont typeface="Arial"/>
              <a:buNone/>
            </a:pPr>
            <a:r>
              <a:rPr b="1" lang="en-US" sz="1650">
                <a:solidFill>
                  <a:srgbClr val="152255"/>
                </a:solidFill>
                <a:latin typeface="Arial"/>
                <a:ea typeface="Arial"/>
                <a:cs typeface="Arial"/>
                <a:sym typeface="Arial"/>
              </a:rPr>
              <a:t>組織の成長分だけ必要になる。</a:t>
            </a:r>
            <a:endParaRPr/>
          </a:p>
        </p:txBody>
      </p:sp>
      <p:sp>
        <p:nvSpPr>
          <p:cNvPr id="196" name="Google Shape;196;p7"/>
          <p:cNvSpPr/>
          <p:nvPr/>
        </p:nvSpPr>
        <p:spPr>
          <a:xfrm>
            <a:off x="685800" y="5600700"/>
            <a:ext cx="10820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7421"/>
              </a:buClr>
              <a:buSzPts val="1875"/>
              <a:buFont typeface="Arial"/>
              <a:buNone/>
            </a:pPr>
            <a:r>
              <a:rPr b="1" lang="en-US" sz="1875">
                <a:solidFill>
                  <a:srgbClr val="F47421"/>
                </a:solidFill>
                <a:latin typeface="Arial"/>
                <a:ea typeface="Arial"/>
                <a:cs typeface="Arial"/>
                <a:sym typeface="Arial"/>
              </a:rPr>
              <a:t>あなた</a:t>
            </a:r>
            <a:r>
              <a:rPr b="1" lang="en-US" sz="1875">
                <a:solidFill>
                  <a:srgbClr val="F47421"/>
                </a:solidFill>
              </a:rPr>
              <a:t>にも部長の席を狙ってほしい</a:t>
            </a:r>
            <a:endParaRPr/>
          </a:p>
        </p:txBody>
      </p:sp>
      <p:pic>
        <p:nvPicPr>
          <p:cNvPr id="197" name="Google Shape;197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11399" y="119051"/>
            <a:ext cx="2095500" cy="4450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F0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8"/>
          <p:cNvSpPr/>
          <p:nvPr/>
        </p:nvSpPr>
        <p:spPr>
          <a:xfrm>
            <a:off x="533400" y="276225"/>
            <a:ext cx="76200" cy="238125"/>
          </a:xfrm>
          <a:prstGeom prst="roundRect">
            <a:avLst>
              <a:gd fmla="val 50000" name="adj"/>
            </a:avLst>
          </a:prstGeom>
          <a:solidFill>
            <a:srgbClr val="F474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8"/>
          <p:cNvSpPr/>
          <p:nvPr/>
        </p:nvSpPr>
        <p:spPr>
          <a:xfrm>
            <a:off x="742950" y="2667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125"/>
              <a:buFont typeface="Arial"/>
              <a:buNone/>
            </a:pPr>
            <a:r>
              <a:rPr b="1" lang="en-US" sz="1125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03｜任されるスピード</a:t>
            </a:r>
            <a:endParaRPr/>
          </a:p>
        </p:txBody>
      </p:sp>
      <p:sp>
        <p:nvSpPr>
          <p:cNvPr id="205" name="Google Shape;205;p8"/>
          <p:cNvSpPr/>
          <p:nvPr/>
        </p:nvSpPr>
        <p:spPr>
          <a:xfrm>
            <a:off x="533400" y="723900"/>
            <a:ext cx="106680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55"/>
              </a:buClr>
              <a:buSzPts val="3000"/>
              <a:buFont typeface="Arial"/>
              <a:buNone/>
            </a:pPr>
            <a:r>
              <a:rPr b="1" lang="en-US" sz="3000">
                <a:solidFill>
                  <a:srgbClr val="152255"/>
                </a:solidFill>
                <a:latin typeface="Arial"/>
                <a:ea typeface="Arial"/>
                <a:cs typeface="Arial"/>
                <a:sym typeface="Arial"/>
              </a:rPr>
              <a:t>任される速さは、実績で見ても速い</a:t>
            </a:r>
            <a:endParaRPr/>
          </a:p>
        </p:txBody>
      </p:sp>
      <p:cxnSp>
        <p:nvCxnSpPr>
          <p:cNvPr id="206" name="Google Shape;206;p8"/>
          <p:cNvCxnSpPr/>
          <p:nvPr/>
        </p:nvCxnSpPr>
        <p:spPr>
          <a:xfrm>
            <a:off x="533400" y="6315075"/>
            <a:ext cx="11125200" cy="0"/>
          </a:xfrm>
          <a:prstGeom prst="straightConnector1">
            <a:avLst/>
          </a:prstGeom>
          <a:noFill/>
          <a:ln cap="flat" cmpd="sng" w="9525">
            <a:solidFill>
              <a:srgbClr val="D9DE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7" name="Google Shape;207;p8"/>
          <p:cNvSpPr/>
          <p:nvPr/>
        </p:nvSpPr>
        <p:spPr>
          <a:xfrm>
            <a:off x="533400" y="6448425"/>
            <a:ext cx="88582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825"/>
              <a:buFont typeface="Arial"/>
              <a:buNone/>
            </a:pPr>
            <a:r>
              <a:rPr b="0" lang="en-US" sz="825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TOKYO BIG HOUSE 最終面接資料｜社外秘・面接時のみ提示</a:t>
            </a:r>
            <a:endParaRPr/>
          </a:p>
        </p:txBody>
      </p:sp>
      <p:sp>
        <p:nvSpPr>
          <p:cNvPr id="208" name="Google Shape;208;p8"/>
          <p:cNvSpPr/>
          <p:nvPr/>
        </p:nvSpPr>
        <p:spPr>
          <a:xfrm>
            <a:off x="10744200" y="6419850"/>
            <a:ext cx="9144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55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152255"/>
                </a:solidFill>
                <a:latin typeface="Arial"/>
                <a:ea typeface="Arial"/>
                <a:cs typeface="Arial"/>
                <a:sym typeface="Arial"/>
              </a:rPr>
              <a:t>P.06</a:t>
            </a:r>
            <a:endParaRPr/>
          </a:p>
        </p:txBody>
      </p:sp>
      <p:sp>
        <p:nvSpPr>
          <p:cNvPr id="209" name="Google Shape;209;p8"/>
          <p:cNvSpPr/>
          <p:nvPr/>
        </p:nvSpPr>
        <p:spPr>
          <a:xfrm>
            <a:off x="533400" y="139065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実測｜2026年7月時点</a:t>
            </a:r>
            <a:endParaRPr/>
          </a:p>
        </p:txBody>
      </p:sp>
      <p:sp>
        <p:nvSpPr>
          <p:cNvPr id="210" name="Google Shape;210;p8"/>
          <p:cNvSpPr/>
          <p:nvPr/>
        </p:nvSpPr>
        <p:spPr>
          <a:xfrm>
            <a:off x="685800" y="1981200"/>
            <a:ext cx="2857500" cy="70485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7421"/>
              </a:buClr>
              <a:buSzPts val="5550"/>
              <a:buFont typeface="Arial"/>
              <a:buNone/>
            </a:pPr>
            <a:r>
              <a:rPr b="1" lang="en-US" sz="5550">
                <a:solidFill>
                  <a:srgbClr val="F47421"/>
                </a:solidFill>
                <a:latin typeface="Arial"/>
                <a:ea typeface="Arial"/>
                <a:cs typeface="Arial"/>
                <a:sym typeface="Arial"/>
              </a:rPr>
              <a:t>23</a:t>
            </a:r>
            <a:endParaRPr/>
          </a:p>
        </p:txBody>
      </p:sp>
      <p:sp>
        <p:nvSpPr>
          <p:cNvPr id="211" name="Google Shape;211;p8"/>
          <p:cNvSpPr/>
          <p:nvPr/>
        </p:nvSpPr>
        <p:spPr>
          <a:xfrm>
            <a:off x="2066925" y="2295525"/>
            <a:ext cx="6667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55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152255"/>
                </a:solidFill>
                <a:latin typeface="Arial"/>
                <a:ea typeface="Arial"/>
                <a:cs typeface="Arial"/>
                <a:sym typeface="Arial"/>
              </a:rPr>
              <a:t>歳</a:t>
            </a:r>
            <a:endParaRPr/>
          </a:p>
        </p:txBody>
      </p:sp>
      <p:sp>
        <p:nvSpPr>
          <p:cNvPr id="212" name="Google Shape;212;p8"/>
          <p:cNvSpPr/>
          <p:nvPr/>
        </p:nvSpPr>
        <p:spPr>
          <a:xfrm>
            <a:off x="685800" y="2762250"/>
            <a:ext cx="285750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344054"/>
              </a:buClr>
              <a:buSzPts val="1575"/>
              <a:buFont typeface="Arial"/>
              <a:buNone/>
            </a:pPr>
            <a:r>
              <a:rPr b="1" lang="en-US" sz="1575">
                <a:solidFill>
                  <a:srgbClr val="344054"/>
                </a:solidFill>
                <a:latin typeface="Arial"/>
                <a:ea typeface="Arial"/>
                <a:cs typeface="Arial"/>
                <a:sym typeface="Arial"/>
              </a:rPr>
              <a:t>営業リーダー7名の</a:t>
            </a:r>
            <a:endParaRPr/>
          </a:p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344054"/>
              </a:buClr>
              <a:buSzPts val="1575"/>
              <a:buFont typeface="Arial"/>
              <a:buNone/>
            </a:pPr>
            <a:r>
              <a:rPr b="1" lang="en-US" sz="1575">
                <a:solidFill>
                  <a:srgbClr val="344054"/>
                </a:solidFill>
                <a:latin typeface="Arial"/>
                <a:ea typeface="Arial"/>
                <a:cs typeface="Arial"/>
                <a:sym typeface="Arial"/>
              </a:rPr>
              <a:t>平均年齢</a:t>
            </a:r>
            <a:endParaRPr/>
          </a:p>
        </p:txBody>
      </p:sp>
      <p:cxnSp>
        <p:nvCxnSpPr>
          <p:cNvPr id="213" name="Google Shape;213;p8"/>
          <p:cNvCxnSpPr/>
          <p:nvPr/>
        </p:nvCxnSpPr>
        <p:spPr>
          <a:xfrm>
            <a:off x="3810000" y="1962150"/>
            <a:ext cx="0" cy="2781300"/>
          </a:xfrm>
          <a:prstGeom prst="straightConnector1">
            <a:avLst/>
          </a:prstGeom>
          <a:noFill/>
          <a:ln cap="flat" cmpd="sng" w="19050">
            <a:solidFill>
              <a:srgbClr val="D9DE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4" name="Google Shape;214;p8"/>
          <p:cNvSpPr/>
          <p:nvPr/>
        </p:nvSpPr>
        <p:spPr>
          <a:xfrm>
            <a:off x="4438650" y="1981200"/>
            <a:ext cx="2857500" cy="70485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7421"/>
              </a:buClr>
              <a:buSzPts val="5550"/>
              <a:buFont typeface="Arial"/>
              <a:buNone/>
            </a:pPr>
            <a:r>
              <a:rPr b="1" lang="en-US" sz="5550">
                <a:solidFill>
                  <a:srgbClr val="F4742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215" name="Google Shape;215;p8"/>
          <p:cNvSpPr/>
          <p:nvPr/>
        </p:nvSpPr>
        <p:spPr>
          <a:xfrm>
            <a:off x="5448300" y="2295525"/>
            <a:ext cx="6667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55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152255"/>
                </a:solidFill>
                <a:latin typeface="Arial"/>
                <a:ea typeface="Arial"/>
                <a:cs typeface="Arial"/>
                <a:sym typeface="Arial"/>
              </a:rPr>
              <a:t>年</a:t>
            </a:r>
            <a:endParaRPr/>
          </a:p>
        </p:txBody>
      </p:sp>
      <p:sp>
        <p:nvSpPr>
          <p:cNvPr id="216" name="Google Shape;216;p8"/>
          <p:cNvSpPr/>
          <p:nvPr/>
        </p:nvSpPr>
        <p:spPr>
          <a:xfrm>
            <a:off x="4438650" y="2762250"/>
            <a:ext cx="2857500" cy="895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344054"/>
              </a:buClr>
              <a:buSzPts val="1425"/>
              <a:buFont typeface="Arial"/>
              <a:buNone/>
            </a:pPr>
            <a:r>
              <a:rPr b="1" lang="en-US" sz="1425">
                <a:solidFill>
                  <a:srgbClr val="344054"/>
                </a:solidFill>
                <a:latin typeface="Arial"/>
                <a:ea typeface="Arial"/>
                <a:cs typeface="Arial"/>
                <a:sym typeface="Arial"/>
              </a:rPr>
              <a:t>ユニットを任された7名は</a:t>
            </a:r>
            <a:endParaRPr/>
          </a:p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344054"/>
              </a:buClr>
              <a:buSzPts val="1425"/>
              <a:buFont typeface="Arial"/>
              <a:buNone/>
            </a:pPr>
            <a:r>
              <a:rPr b="1" lang="en-US" sz="1425">
                <a:solidFill>
                  <a:srgbClr val="344054"/>
                </a:solidFill>
                <a:latin typeface="Arial"/>
                <a:ea typeface="Arial"/>
                <a:cs typeface="Arial"/>
                <a:sym typeface="Arial"/>
              </a:rPr>
              <a:t>全員が入社1年程度</a:t>
            </a:r>
            <a:endParaRPr/>
          </a:p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344054"/>
              </a:buClr>
              <a:buSzPts val="1425"/>
              <a:buFont typeface="Arial"/>
              <a:buNone/>
            </a:pPr>
            <a:r>
              <a:rPr b="1" lang="en-US" sz="1425">
                <a:solidFill>
                  <a:srgbClr val="344054"/>
                </a:solidFill>
                <a:latin typeface="Arial"/>
                <a:ea typeface="Arial"/>
                <a:cs typeface="Arial"/>
                <a:sym typeface="Arial"/>
              </a:rPr>
              <a:t>（最短3か月）</a:t>
            </a:r>
            <a:endParaRPr/>
          </a:p>
        </p:txBody>
      </p:sp>
      <p:cxnSp>
        <p:nvCxnSpPr>
          <p:cNvPr id="217" name="Google Shape;217;p8"/>
          <p:cNvCxnSpPr/>
          <p:nvPr/>
        </p:nvCxnSpPr>
        <p:spPr>
          <a:xfrm>
            <a:off x="7562850" y="1962150"/>
            <a:ext cx="0" cy="2781300"/>
          </a:xfrm>
          <a:prstGeom prst="straightConnector1">
            <a:avLst/>
          </a:prstGeom>
          <a:noFill/>
          <a:ln cap="flat" cmpd="sng" w="19050">
            <a:solidFill>
              <a:srgbClr val="D9DE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8" name="Google Shape;218;p8"/>
          <p:cNvSpPr/>
          <p:nvPr/>
        </p:nvSpPr>
        <p:spPr>
          <a:xfrm>
            <a:off x="8172450" y="1981200"/>
            <a:ext cx="3143250" cy="70485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7421"/>
              </a:buClr>
              <a:buSzPts val="5100"/>
              <a:buFont typeface="Arial"/>
              <a:buNone/>
            </a:pPr>
            <a:r>
              <a:rPr b="1" lang="en-US" sz="5100">
                <a:solidFill>
                  <a:srgbClr val="F47421"/>
                </a:solidFill>
                <a:latin typeface="Arial"/>
                <a:ea typeface="Arial"/>
                <a:cs typeface="Arial"/>
                <a:sym typeface="Arial"/>
              </a:rPr>
              <a:t>9/11</a:t>
            </a:r>
            <a:endParaRPr/>
          </a:p>
        </p:txBody>
      </p:sp>
      <p:sp>
        <p:nvSpPr>
          <p:cNvPr id="219" name="Google Shape;219;p8"/>
          <p:cNvSpPr/>
          <p:nvPr/>
        </p:nvSpPr>
        <p:spPr>
          <a:xfrm>
            <a:off x="8172450" y="2762250"/>
            <a:ext cx="31432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344054"/>
              </a:buClr>
              <a:buSzPts val="1575"/>
              <a:buFont typeface="Arial"/>
              <a:buNone/>
            </a:pPr>
            <a:r>
              <a:rPr b="1" lang="en-US" sz="1575">
                <a:solidFill>
                  <a:srgbClr val="344054"/>
                </a:solidFill>
                <a:latin typeface="Arial"/>
                <a:ea typeface="Arial"/>
                <a:cs typeface="Arial"/>
                <a:sym typeface="Arial"/>
              </a:rPr>
              <a:t>課長・リーダー11名のうち</a:t>
            </a:r>
            <a:endParaRPr/>
          </a:p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344054"/>
              </a:buClr>
              <a:buSzPts val="1575"/>
              <a:buFont typeface="Arial"/>
              <a:buNone/>
            </a:pPr>
            <a:r>
              <a:rPr b="1" lang="en-US" sz="1575">
                <a:solidFill>
                  <a:srgbClr val="344054"/>
                </a:solidFill>
                <a:latin typeface="Arial"/>
                <a:ea typeface="Arial"/>
                <a:cs typeface="Arial"/>
                <a:sym typeface="Arial"/>
              </a:rPr>
              <a:t>9名が20代</a:t>
            </a:r>
            <a:endParaRPr/>
          </a:p>
        </p:txBody>
      </p:sp>
      <p:sp>
        <p:nvSpPr>
          <p:cNvPr id="220" name="Google Shape;220;p8"/>
          <p:cNvSpPr/>
          <p:nvPr/>
        </p:nvSpPr>
        <p:spPr>
          <a:xfrm>
            <a:off x="685800" y="5124450"/>
            <a:ext cx="10629900" cy="781050"/>
          </a:xfrm>
          <a:prstGeom prst="roundRect">
            <a:avLst>
              <a:gd fmla="val 17073" name="adj"/>
            </a:avLst>
          </a:prstGeom>
          <a:solidFill>
            <a:srgbClr val="1522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8"/>
          <p:cNvSpPr/>
          <p:nvPr/>
        </p:nvSpPr>
        <p:spPr>
          <a:xfrm>
            <a:off x="990600" y="5276850"/>
            <a:ext cx="100203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Arial"/>
              <a:buNone/>
            </a:pPr>
            <a:r>
              <a:rPr b="1" lang="en-US" sz="202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「若いからまだ早い」ではなく、</a:t>
            </a:r>
            <a:r>
              <a:rPr b="1" lang="en-US" sz="2025">
                <a:solidFill>
                  <a:srgbClr val="FFFFFF"/>
                </a:solidFill>
              </a:rPr>
              <a:t>どんどん</a:t>
            </a:r>
            <a:r>
              <a:rPr b="1" lang="en-US" sz="202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任せる。</a:t>
            </a:r>
            <a:endParaRPr/>
          </a:p>
        </p:txBody>
      </p:sp>
      <p:pic>
        <p:nvPicPr>
          <p:cNvPr id="222" name="Google Shape;222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11399" y="119051"/>
            <a:ext cx="2095500" cy="4450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F0"/>
        </a:solid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9"/>
          <p:cNvSpPr/>
          <p:nvPr/>
        </p:nvSpPr>
        <p:spPr>
          <a:xfrm>
            <a:off x="533400" y="276225"/>
            <a:ext cx="76200" cy="238125"/>
          </a:xfrm>
          <a:prstGeom prst="roundRect">
            <a:avLst>
              <a:gd fmla="val 50000" name="adj"/>
            </a:avLst>
          </a:prstGeom>
          <a:solidFill>
            <a:srgbClr val="F474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9"/>
          <p:cNvSpPr/>
          <p:nvPr/>
        </p:nvSpPr>
        <p:spPr>
          <a:xfrm>
            <a:off x="742950" y="2667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125"/>
              <a:buFont typeface="Arial"/>
              <a:buNone/>
            </a:pPr>
            <a:r>
              <a:rPr b="1" lang="en-US" sz="1125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03｜任されるスピード</a:t>
            </a:r>
            <a:endParaRPr/>
          </a:p>
        </p:txBody>
      </p:sp>
      <p:sp>
        <p:nvSpPr>
          <p:cNvPr id="230" name="Google Shape;230;p9"/>
          <p:cNvSpPr/>
          <p:nvPr/>
        </p:nvSpPr>
        <p:spPr>
          <a:xfrm>
            <a:off x="533400" y="723900"/>
            <a:ext cx="106680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55"/>
              </a:buClr>
              <a:buSzPts val="2925"/>
              <a:buFont typeface="Arial"/>
              <a:buNone/>
            </a:pPr>
            <a:r>
              <a:rPr b="1" lang="en-US" sz="2925">
                <a:solidFill>
                  <a:srgbClr val="152255"/>
                </a:solidFill>
                <a:latin typeface="Arial"/>
                <a:ea typeface="Arial"/>
                <a:cs typeface="Arial"/>
                <a:sym typeface="Arial"/>
              </a:rPr>
              <a:t>学歴・社歴ではなく、</a:t>
            </a:r>
            <a:r>
              <a:rPr b="1" lang="en-US" sz="2925">
                <a:solidFill>
                  <a:srgbClr val="152255"/>
                </a:solidFill>
              </a:rPr>
              <a:t>実力次第でどんどん</a:t>
            </a:r>
            <a:r>
              <a:rPr b="1" lang="en-US" sz="2925">
                <a:solidFill>
                  <a:srgbClr val="152255"/>
                </a:solidFill>
                <a:latin typeface="Arial"/>
                <a:ea typeface="Arial"/>
                <a:cs typeface="Arial"/>
                <a:sym typeface="Arial"/>
              </a:rPr>
              <a:t>上がる</a:t>
            </a:r>
            <a:endParaRPr/>
          </a:p>
        </p:txBody>
      </p:sp>
      <p:cxnSp>
        <p:nvCxnSpPr>
          <p:cNvPr id="231" name="Google Shape;231;p9"/>
          <p:cNvCxnSpPr/>
          <p:nvPr/>
        </p:nvCxnSpPr>
        <p:spPr>
          <a:xfrm>
            <a:off x="533400" y="6315075"/>
            <a:ext cx="11125200" cy="0"/>
          </a:xfrm>
          <a:prstGeom prst="straightConnector1">
            <a:avLst/>
          </a:prstGeom>
          <a:noFill/>
          <a:ln cap="flat" cmpd="sng" w="9525">
            <a:solidFill>
              <a:srgbClr val="D9DE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2" name="Google Shape;232;p9"/>
          <p:cNvSpPr/>
          <p:nvPr/>
        </p:nvSpPr>
        <p:spPr>
          <a:xfrm>
            <a:off x="533400" y="6448425"/>
            <a:ext cx="88582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825"/>
              <a:buFont typeface="Arial"/>
              <a:buNone/>
            </a:pPr>
            <a:r>
              <a:rPr b="0" lang="en-US" sz="825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TOKYO BIG HOUSE 最終面接資料｜社外秘・面接時のみ提示</a:t>
            </a:r>
            <a:endParaRPr/>
          </a:p>
        </p:txBody>
      </p:sp>
      <p:sp>
        <p:nvSpPr>
          <p:cNvPr id="233" name="Google Shape;233;p9"/>
          <p:cNvSpPr/>
          <p:nvPr/>
        </p:nvSpPr>
        <p:spPr>
          <a:xfrm>
            <a:off x="10744200" y="6419850"/>
            <a:ext cx="9144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55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152255"/>
                </a:solidFill>
                <a:latin typeface="Arial"/>
                <a:ea typeface="Arial"/>
                <a:cs typeface="Arial"/>
                <a:sym typeface="Arial"/>
              </a:rPr>
              <a:t>P.07</a:t>
            </a:r>
            <a:endParaRPr/>
          </a:p>
        </p:txBody>
      </p:sp>
      <p:sp>
        <p:nvSpPr>
          <p:cNvPr id="234" name="Google Shape;234;p9"/>
          <p:cNvSpPr/>
          <p:nvPr/>
        </p:nvSpPr>
        <p:spPr>
          <a:xfrm>
            <a:off x="533400" y="1390650"/>
            <a:ext cx="4953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275"/>
              <a:buFont typeface="Arial"/>
              <a:buNone/>
            </a:pPr>
            <a:r>
              <a:rPr b="1" lang="en-US" sz="1275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完全実力主義｜キャリアの階段</a:t>
            </a:r>
            <a:endParaRPr/>
          </a:p>
        </p:txBody>
      </p:sp>
      <p:sp>
        <p:nvSpPr>
          <p:cNvPr id="235" name="Google Shape;235;p9"/>
          <p:cNvSpPr/>
          <p:nvPr/>
        </p:nvSpPr>
        <p:spPr>
          <a:xfrm>
            <a:off x="533400" y="3829050"/>
            <a:ext cx="2438400" cy="1981200"/>
          </a:xfrm>
          <a:prstGeom prst="roundRect">
            <a:avLst>
              <a:gd fmla="val 7692" name="adj"/>
            </a:avLst>
          </a:prstGeom>
          <a:solidFill>
            <a:srgbClr val="FFFFFF"/>
          </a:solidFill>
          <a:ln cap="flat" cmpd="sng" w="9525">
            <a:solidFill>
              <a:srgbClr val="D9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9"/>
          <p:cNvSpPr/>
          <p:nvPr/>
        </p:nvSpPr>
        <p:spPr>
          <a:xfrm>
            <a:off x="742950" y="4019550"/>
            <a:ext cx="20193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7421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F47421"/>
                </a:solidFill>
                <a:latin typeface="Arial"/>
                <a:ea typeface="Arial"/>
                <a:cs typeface="Arial"/>
                <a:sym typeface="Arial"/>
              </a:rPr>
              <a:t>入社〜</a:t>
            </a:r>
            <a:endParaRPr/>
          </a:p>
        </p:txBody>
      </p:sp>
      <p:sp>
        <p:nvSpPr>
          <p:cNvPr id="237" name="Google Shape;237;p9"/>
          <p:cNvSpPr/>
          <p:nvPr/>
        </p:nvSpPr>
        <p:spPr>
          <a:xfrm>
            <a:off x="742950" y="4352925"/>
            <a:ext cx="20193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55"/>
              </a:buClr>
              <a:buSzPts val="2025"/>
              <a:buFont typeface="Arial"/>
              <a:buNone/>
            </a:pPr>
            <a:r>
              <a:rPr b="1" lang="en-US" sz="2025">
                <a:solidFill>
                  <a:srgbClr val="152255"/>
                </a:solidFill>
                <a:latin typeface="Arial"/>
                <a:ea typeface="Arial"/>
                <a:cs typeface="Arial"/>
                <a:sym typeface="Arial"/>
              </a:rPr>
              <a:t>営業担当</a:t>
            </a:r>
            <a:endParaRPr/>
          </a:p>
        </p:txBody>
      </p:sp>
      <p:cxnSp>
        <p:nvCxnSpPr>
          <p:cNvPr id="238" name="Google Shape;238;p9"/>
          <p:cNvCxnSpPr/>
          <p:nvPr/>
        </p:nvCxnSpPr>
        <p:spPr>
          <a:xfrm>
            <a:off x="742950" y="4953000"/>
            <a:ext cx="533400" cy="0"/>
          </a:xfrm>
          <a:prstGeom prst="straightConnector1">
            <a:avLst/>
          </a:prstGeom>
          <a:noFill/>
          <a:ln cap="flat" cmpd="sng" w="38100">
            <a:solidFill>
              <a:srgbClr val="F4742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9" name="Google Shape;239;p9"/>
          <p:cNvSpPr/>
          <p:nvPr/>
        </p:nvSpPr>
        <p:spPr>
          <a:xfrm>
            <a:off x="742950" y="5181600"/>
            <a:ext cx="2019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44054"/>
              </a:buClr>
              <a:buSzPts val="1275"/>
              <a:buFont typeface="Arial"/>
              <a:buNone/>
            </a:pPr>
            <a:r>
              <a:rPr b="0" lang="en-US" sz="1275">
                <a:solidFill>
                  <a:srgbClr val="344054"/>
                </a:solidFill>
                <a:latin typeface="Arial"/>
                <a:ea typeface="Arial"/>
                <a:cs typeface="Arial"/>
                <a:sym typeface="Arial"/>
              </a:rPr>
              <a:t>初回接点を鍛え、</a:t>
            </a:r>
            <a:endParaRPr/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44054"/>
              </a:buClr>
              <a:buSzPts val="1275"/>
              <a:buFont typeface="Arial"/>
              <a:buNone/>
            </a:pPr>
            <a:r>
              <a:rPr b="0" lang="en-US" sz="1275">
                <a:solidFill>
                  <a:srgbClr val="344054"/>
                </a:solidFill>
                <a:latin typeface="Arial"/>
                <a:ea typeface="Arial"/>
                <a:cs typeface="Arial"/>
                <a:sym typeface="Arial"/>
              </a:rPr>
              <a:t>社会人基礎力を磨く</a:t>
            </a:r>
            <a:endParaRPr/>
          </a:p>
        </p:txBody>
      </p:sp>
      <p:sp>
        <p:nvSpPr>
          <p:cNvPr id="240" name="Google Shape;240;p9"/>
          <p:cNvSpPr/>
          <p:nvPr/>
        </p:nvSpPr>
        <p:spPr>
          <a:xfrm>
            <a:off x="3238500" y="3181350"/>
            <a:ext cx="2438400" cy="2628900"/>
          </a:xfrm>
          <a:prstGeom prst="roundRect">
            <a:avLst>
              <a:gd fmla="val 6250" name="adj"/>
            </a:avLst>
          </a:prstGeom>
          <a:solidFill>
            <a:srgbClr val="FFFFFF"/>
          </a:solidFill>
          <a:ln cap="flat" cmpd="sng" w="9525">
            <a:solidFill>
              <a:srgbClr val="D9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9"/>
          <p:cNvSpPr/>
          <p:nvPr/>
        </p:nvSpPr>
        <p:spPr>
          <a:xfrm>
            <a:off x="3448050" y="3371850"/>
            <a:ext cx="20193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7421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F47421"/>
                </a:solidFill>
                <a:latin typeface="Arial"/>
                <a:ea typeface="Arial"/>
                <a:cs typeface="Arial"/>
                <a:sym typeface="Arial"/>
              </a:rPr>
              <a:t>最短3か月</a:t>
            </a:r>
            <a:endParaRPr/>
          </a:p>
        </p:txBody>
      </p:sp>
      <p:sp>
        <p:nvSpPr>
          <p:cNvPr id="242" name="Google Shape;242;p9"/>
          <p:cNvSpPr/>
          <p:nvPr/>
        </p:nvSpPr>
        <p:spPr>
          <a:xfrm>
            <a:off x="3448050" y="3705225"/>
            <a:ext cx="20193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55"/>
              </a:buClr>
              <a:buSzPts val="2025"/>
              <a:buFont typeface="Arial"/>
              <a:buNone/>
            </a:pPr>
            <a:r>
              <a:rPr b="1" lang="en-US" sz="2025">
                <a:solidFill>
                  <a:srgbClr val="152255"/>
                </a:solidFill>
                <a:latin typeface="Arial"/>
                <a:ea typeface="Arial"/>
                <a:cs typeface="Arial"/>
                <a:sym typeface="Arial"/>
              </a:rPr>
              <a:t>リーダー</a:t>
            </a:r>
            <a:endParaRPr/>
          </a:p>
        </p:txBody>
      </p:sp>
      <p:cxnSp>
        <p:nvCxnSpPr>
          <p:cNvPr id="243" name="Google Shape;243;p9"/>
          <p:cNvCxnSpPr/>
          <p:nvPr/>
        </p:nvCxnSpPr>
        <p:spPr>
          <a:xfrm>
            <a:off x="3448050" y="4305300"/>
            <a:ext cx="533400" cy="0"/>
          </a:xfrm>
          <a:prstGeom prst="straightConnector1">
            <a:avLst/>
          </a:prstGeom>
          <a:noFill/>
          <a:ln cap="flat" cmpd="sng" w="38100">
            <a:solidFill>
              <a:srgbClr val="F4742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4" name="Google Shape;244;p9"/>
          <p:cNvSpPr/>
          <p:nvPr/>
        </p:nvSpPr>
        <p:spPr>
          <a:xfrm>
            <a:off x="3448050" y="4533900"/>
            <a:ext cx="2019300" cy="11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44054"/>
              </a:buClr>
              <a:buSzPts val="1275"/>
              <a:buFont typeface="Arial"/>
              <a:buNone/>
            </a:pPr>
            <a:r>
              <a:rPr b="1" lang="en-US" sz="1275">
                <a:solidFill>
                  <a:srgbClr val="344054"/>
                </a:solidFill>
                <a:latin typeface="Arial"/>
                <a:ea typeface="Arial"/>
                <a:cs typeface="Arial"/>
                <a:sym typeface="Arial"/>
              </a:rPr>
              <a:t>部下2名〜</a:t>
            </a:r>
            <a:endParaRPr/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44054"/>
              </a:buClr>
              <a:buSzPts val="1275"/>
              <a:buFont typeface="Arial"/>
              <a:buNone/>
            </a:pPr>
            <a:r>
              <a:rPr b="1" lang="en-US" sz="1275">
                <a:solidFill>
                  <a:srgbClr val="344054"/>
                </a:solidFill>
                <a:latin typeface="Arial"/>
                <a:ea typeface="Arial"/>
                <a:cs typeface="Arial"/>
                <a:sym typeface="Arial"/>
              </a:rPr>
              <a:t>自分と部下の数字をつくる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75">
              <a:solidFill>
                <a:srgbClr val="34405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44054"/>
              </a:buClr>
              <a:buSzPts val="1275"/>
              <a:buFont typeface="Arial"/>
              <a:buNone/>
            </a:pPr>
            <a:r>
              <a:rPr b="1" lang="en-US" sz="1275">
                <a:solidFill>
                  <a:srgbClr val="344054"/>
                </a:solidFill>
                <a:latin typeface="Arial"/>
                <a:ea typeface="Arial"/>
                <a:cs typeface="Arial"/>
                <a:sym typeface="Arial"/>
              </a:rPr>
              <a:t>7名全員が1年で登用</a:t>
            </a:r>
            <a:endParaRPr/>
          </a:p>
        </p:txBody>
      </p:sp>
      <p:sp>
        <p:nvSpPr>
          <p:cNvPr id="245" name="Google Shape;245;p9"/>
          <p:cNvSpPr/>
          <p:nvPr/>
        </p:nvSpPr>
        <p:spPr>
          <a:xfrm>
            <a:off x="5943600" y="2533650"/>
            <a:ext cx="2438400" cy="3276600"/>
          </a:xfrm>
          <a:prstGeom prst="roundRect">
            <a:avLst>
              <a:gd fmla="val 6250" name="adj"/>
            </a:avLst>
          </a:prstGeom>
          <a:solidFill>
            <a:srgbClr val="FFFFFF"/>
          </a:solidFill>
          <a:ln cap="flat" cmpd="sng" w="9525">
            <a:solidFill>
              <a:srgbClr val="D9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9"/>
          <p:cNvSpPr/>
          <p:nvPr/>
        </p:nvSpPr>
        <p:spPr>
          <a:xfrm>
            <a:off x="6153150" y="2724150"/>
            <a:ext cx="20193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7421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F47421"/>
                </a:solidFill>
                <a:latin typeface="Arial"/>
                <a:ea typeface="Arial"/>
                <a:cs typeface="Arial"/>
                <a:sym typeface="Arial"/>
              </a:rPr>
              <a:t>新卒4年目〜／27歳</a:t>
            </a:r>
            <a:endParaRPr/>
          </a:p>
        </p:txBody>
      </p:sp>
      <p:sp>
        <p:nvSpPr>
          <p:cNvPr id="247" name="Google Shape;247;p9"/>
          <p:cNvSpPr/>
          <p:nvPr/>
        </p:nvSpPr>
        <p:spPr>
          <a:xfrm>
            <a:off x="6153150" y="3057525"/>
            <a:ext cx="20193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55"/>
              </a:buClr>
              <a:buSzPts val="2025"/>
              <a:buFont typeface="Arial"/>
              <a:buNone/>
            </a:pPr>
            <a:r>
              <a:rPr b="1" lang="en-US" sz="2025">
                <a:solidFill>
                  <a:srgbClr val="152255"/>
                </a:solidFill>
                <a:latin typeface="Arial"/>
                <a:ea typeface="Arial"/>
                <a:cs typeface="Arial"/>
                <a:sym typeface="Arial"/>
              </a:rPr>
              <a:t>課長</a:t>
            </a:r>
            <a:endParaRPr/>
          </a:p>
        </p:txBody>
      </p:sp>
      <p:cxnSp>
        <p:nvCxnSpPr>
          <p:cNvPr id="248" name="Google Shape;248;p9"/>
          <p:cNvCxnSpPr/>
          <p:nvPr/>
        </p:nvCxnSpPr>
        <p:spPr>
          <a:xfrm>
            <a:off x="6153150" y="3657600"/>
            <a:ext cx="533400" cy="0"/>
          </a:xfrm>
          <a:prstGeom prst="straightConnector1">
            <a:avLst/>
          </a:prstGeom>
          <a:noFill/>
          <a:ln cap="flat" cmpd="sng" w="38100">
            <a:solidFill>
              <a:srgbClr val="F4742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9" name="Google Shape;249;p9"/>
          <p:cNvSpPr/>
          <p:nvPr/>
        </p:nvSpPr>
        <p:spPr>
          <a:xfrm>
            <a:off x="6153150" y="3886200"/>
            <a:ext cx="20193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44054"/>
              </a:buClr>
              <a:buSzPts val="1275"/>
              <a:buFont typeface="Arial"/>
              <a:buNone/>
            </a:pPr>
            <a:r>
              <a:rPr b="1" lang="en-US" sz="1275">
                <a:solidFill>
                  <a:srgbClr val="344054"/>
                </a:solidFill>
                <a:latin typeface="Arial"/>
                <a:ea typeface="Arial"/>
                <a:cs typeface="Arial"/>
                <a:sym typeface="Arial"/>
              </a:rPr>
              <a:t>2チーム／6〜10名</a:t>
            </a:r>
            <a:endParaRPr/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44054"/>
              </a:buClr>
              <a:buSzPts val="1275"/>
              <a:buFont typeface="Arial"/>
              <a:buNone/>
            </a:pPr>
            <a:r>
              <a:rPr b="1" lang="en-US" sz="1275">
                <a:solidFill>
                  <a:srgbClr val="344054"/>
                </a:solidFill>
                <a:latin typeface="Arial"/>
                <a:ea typeface="Arial"/>
                <a:cs typeface="Arial"/>
                <a:sym typeface="Arial"/>
              </a:rPr>
              <a:t>リーダー育成</a:t>
            </a:r>
            <a:endParaRPr/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44054"/>
              </a:buClr>
              <a:buSzPts val="1275"/>
              <a:buFont typeface="Arial"/>
              <a:buNone/>
            </a:pPr>
            <a:r>
              <a:rPr b="1" lang="en-US" sz="1275">
                <a:solidFill>
                  <a:srgbClr val="344054"/>
                </a:solidFill>
                <a:latin typeface="Arial"/>
                <a:ea typeface="Arial"/>
                <a:cs typeface="Arial"/>
                <a:sym typeface="Arial"/>
              </a:rPr>
              <a:t>商談の決定率を上げる</a:t>
            </a:r>
            <a:endParaRPr/>
          </a:p>
        </p:txBody>
      </p:sp>
      <p:sp>
        <p:nvSpPr>
          <p:cNvPr id="250" name="Google Shape;250;p9"/>
          <p:cNvSpPr/>
          <p:nvPr/>
        </p:nvSpPr>
        <p:spPr>
          <a:xfrm>
            <a:off x="8648700" y="1885950"/>
            <a:ext cx="2438400" cy="3924300"/>
          </a:xfrm>
          <a:prstGeom prst="roundRect">
            <a:avLst>
              <a:gd fmla="val 6250" name="adj"/>
            </a:avLst>
          </a:prstGeom>
          <a:solidFill>
            <a:srgbClr val="152255"/>
          </a:solidFill>
          <a:ln cap="flat" cmpd="sng" w="9525">
            <a:solidFill>
              <a:srgbClr val="1522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9"/>
          <p:cNvSpPr/>
          <p:nvPr/>
        </p:nvSpPr>
        <p:spPr>
          <a:xfrm>
            <a:off x="8858250" y="2076450"/>
            <a:ext cx="20193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8C0DB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B8C0DB"/>
                </a:solidFill>
                <a:latin typeface="Arial"/>
                <a:ea typeface="Arial"/>
                <a:cs typeface="Arial"/>
                <a:sym typeface="Arial"/>
              </a:rPr>
              <a:t>2035年の席</a:t>
            </a:r>
            <a:endParaRPr/>
          </a:p>
        </p:txBody>
      </p:sp>
      <p:sp>
        <p:nvSpPr>
          <p:cNvPr id="252" name="Google Shape;252;p9"/>
          <p:cNvSpPr/>
          <p:nvPr/>
        </p:nvSpPr>
        <p:spPr>
          <a:xfrm>
            <a:off x="8858250" y="2409825"/>
            <a:ext cx="20193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Arial"/>
              <a:buNone/>
            </a:pPr>
            <a:r>
              <a:rPr b="1" lang="en-US" sz="187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部長・経営幹部</a:t>
            </a:r>
            <a:endParaRPr/>
          </a:p>
        </p:txBody>
      </p:sp>
      <p:cxnSp>
        <p:nvCxnSpPr>
          <p:cNvPr id="253" name="Google Shape;253;p9"/>
          <p:cNvCxnSpPr/>
          <p:nvPr/>
        </p:nvCxnSpPr>
        <p:spPr>
          <a:xfrm>
            <a:off x="8858250" y="3009900"/>
            <a:ext cx="533400" cy="0"/>
          </a:xfrm>
          <a:prstGeom prst="straightConnector1">
            <a:avLst/>
          </a:prstGeom>
          <a:noFill/>
          <a:ln cap="flat" cmpd="sng" w="38100">
            <a:solidFill>
              <a:srgbClr val="F4742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4" name="Google Shape;254;p9"/>
          <p:cNvSpPr/>
          <p:nvPr/>
        </p:nvSpPr>
        <p:spPr>
          <a:xfrm>
            <a:off x="8858250" y="3238500"/>
            <a:ext cx="2019300" cy="24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75"/>
              <a:buFont typeface="Arial"/>
              <a:buNone/>
            </a:pPr>
            <a:r>
              <a:rPr b="1" lang="en-US" sz="127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事業とエリア戦略を設計</a:t>
            </a:r>
            <a:endParaRPr/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75"/>
              <a:buFont typeface="Arial"/>
              <a:buNone/>
            </a:pPr>
            <a:r>
              <a:rPr b="1" lang="en-US" sz="127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新規エリア出店を担う</a:t>
            </a:r>
            <a:endParaRPr/>
          </a:p>
        </p:txBody>
      </p:sp>
      <p:pic>
        <p:nvPicPr>
          <p:cNvPr id="255" name="Google Shape;255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11399" y="119051"/>
            <a:ext cx="2095500" cy="4450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F0"/>
        </a:soli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0"/>
          <p:cNvSpPr/>
          <p:nvPr/>
        </p:nvSpPr>
        <p:spPr>
          <a:xfrm>
            <a:off x="533400" y="276225"/>
            <a:ext cx="76200" cy="238125"/>
          </a:xfrm>
          <a:prstGeom prst="roundRect">
            <a:avLst>
              <a:gd fmla="val 50000" name="adj"/>
            </a:avLst>
          </a:prstGeom>
          <a:solidFill>
            <a:srgbClr val="F474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0"/>
          <p:cNvSpPr/>
          <p:nvPr/>
        </p:nvSpPr>
        <p:spPr>
          <a:xfrm>
            <a:off x="742950" y="2667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125"/>
              <a:buFont typeface="Arial"/>
              <a:buNone/>
            </a:pPr>
            <a:r>
              <a:rPr b="1" lang="en-US" sz="1125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04｜キャリアと報酬</a:t>
            </a:r>
            <a:endParaRPr/>
          </a:p>
        </p:txBody>
      </p:sp>
      <p:sp>
        <p:nvSpPr>
          <p:cNvPr id="263" name="Google Shape;263;p10"/>
          <p:cNvSpPr/>
          <p:nvPr/>
        </p:nvSpPr>
        <p:spPr>
          <a:xfrm>
            <a:off x="533400" y="723900"/>
            <a:ext cx="106680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55"/>
              </a:buClr>
              <a:buSzPts val="2925"/>
              <a:buFont typeface="Arial"/>
              <a:buNone/>
            </a:pPr>
            <a:r>
              <a:rPr b="1" lang="en-US" sz="2925">
                <a:solidFill>
                  <a:srgbClr val="152255"/>
                </a:solidFill>
                <a:latin typeface="Arial"/>
                <a:ea typeface="Arial"/>
                <a:cs typeface="Arial"/>
                <a:sym typeface="Arial"/>
              </a:rPr>
              <a:t>役職が上がるほど、報酬と責任が大きくなる</a:t>
            </a:r>
            <a:endParaRPr/>
          </a:p>
        </p:txBody>
      </p:sp>
      <p:cxnSp>
        <p:nvCxnSpPr>
          <p:cNvPr id="264" name="Google Shape;264;p10"/>
          <p:cNvCxnSpPr/>
          <p:nvPr/>
        </p:nvCxnSpPr>
        <p:spPr>
          <a:xfrm>
            <a:off x="533400" y="6315075"/>
            <a:ext cx="11125200" cy="0"/>
          </a:xfrm>
          <a:prstGeom prst="straightConnector1">
            <a:avLst/>
          </a:prstGeom>
          <a:noFill/>
          <a:ln cap="flat" cmpd="sng" w="9525">
            <a:solidFill>
              <a:srgbClr val="D9DE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5" name="Google Shape;265;p10"/>
          <p:cNvSpPr/>
          <p:nvPr/>
        </p:nvSpPr>
        <p:spPr>
          <a:xfrm>
            <a:off x="533400" y="6448425"/>
            <a:ext cx="88582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825"/>
              <a:buFont typeface="Arial"/>
              <a:buNone/>
            </a:pPr>
            <a:r>
              <a:rPr b="0" lang="en-US" sz="825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TOKYO BIG HOUSE 最終面接資料｜社外秘・面接時のみ提示</a:t>
            </a:r>
            <a:endParaRPr/>
          </a:p>
        </p:txBody>
      </p:sp>
      <p:sp>
        <p:nvSpPr>
          <p:cNvPr id="266" name="Google Shape;266;p10"/>
          <p:cNvSpPr/>
          <p:nvPr/>
        </p:nvSpPr>
        <p:spPr>
          <a:xfrm>
            <a:off x="10744200" y="6419850"/>
            <a:ext cx="9144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55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152255"/>
                </a:solidFill>
                <a:latin typeface="Arial"/>
                <a:ea typeface="Arial"/>
                <a:cs typeface="Arial"/>
                <a:sym typeface="Arial"/>
              </a:rPr>
              <a:t>P.08</a:t>
            </a:r>
            <a:endParaRPr/>
          </a:p>
        </p:txBody>
      </p:sp>
      <p:graphicFrame>
        <p:nvGraphicFramePr>
          <p:cNvPr id="267" name="Google Shape;267;p10"/>
          <p:cNvGraphicFramePr/>
          <p:nvPr/>
        </p:nvGraphicFramePr>
        <p:xfrm>
          <a:off x="533400" y="1543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{D669F5A2-0942-4E9E-A437-0BE441E8CB8A}</a:tableStyleId>
              </a:tblPr>
              <a:tblGrid>
                <a:gridCol w="1657350"/>
                <a:gridCol w="1905000"/>
                <a:gridCol w="2381250"/>
                <a:gridCol w="5181600"/>
              </a:tblGrid>
              <a:tr h="6477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役職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5225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到達イメージ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5225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年収目安（実績値）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5225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任される範囲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52255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44054"/>
                        </a:buClr>
                        <a:buSzPts val="1125"/>
                        <a:buFont typeface="Arial"/>
                        <a:buNone/>
                      </a:pPr>
                      <a:r>
                        <a:rPr b="1" lang="en-US" sz="1125" u="none" cap="none" strike="noStrike">
                          <a:solidFill>
                            <a:srgbClr val="34405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営業担当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44054"/>
                        </a:buClr>
                        <a:buSzPts val="1125"/>
                        <a:buFont typeface="Arial"/>
                        <a:buNone/>
                      </a:pPr>
                      <a:r>
                        <a:rPr b="0" lang="en-US" sz="1125" u="none" cap="none" strike="noStrike">
                          <a:solidFill>
                            <a:srgbClr val="34405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入社〜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47421"/>
                        </a:buClr>
                        <a:buSzPts val="1125"/>
                        <a:buFont typeface="Arial"/>
                        <a:buNone/>
                      </a:pPr>
                      <a:r>
                        <a:rPr b="1" lang="en-US" sz="1125" u="none" cap="none" strike="noStrike">
                          <a:solidFill>
                            <a:srgbClr val="F474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400〜850万円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44054"/>
                        </a:buClr>
                        <a:buSzPts val="1125"/>
                        <a:buFont typeface="Arial"/>
                        <a:buNone/>
                      </a:pPr>
                      <a:r>
                        <a:rPr b="0" lang="en-US" sz="1125" u="none" cap="none" strike="noStrike">
                          <a:solidFill>
                            <a:srgbClr val="34405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個人の営業実績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44054"/>
                        </a:buClr>
                        <a:buSzPts val="1125"/>
                        <a:buFont typeface="Arial"/>
                        <a:buNone/>
                      </a:pPr>
                      <a:r>
                        <a:rPr b="1" lang="en-US" sz="1125" u="none" cap="none" strike="noStrike">
                          <a:solidFill>
                            <a:srgbClr val="34405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リーダー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44054"/>
                        </a:buClr>
                        <a:buSzPts val="1125"/>
                        <a:buFont typeface="Arial"/>
                        <a:buNone/>
                      </a:pPr>
                      <a:r>
                        <a:rPr b="0" lang="en-US" sz="1125" u="none" cap="none" strike="noStrike">
                          <a:solidFill>
                            <a:srgbClr val="34405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半年〜2年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47421"/>
                        </a:buClr>
                        <a:buSzPts val="1125"/>
                        <a:buFont typeface="Arial"/>
                        <a:buNone/>
                      </a:pPr>
                      <a:r>
                        <a:rPr b="1" lang="en-US" sz="1125" u="none" cap="none" strike="noStrike">
                          <a:solidFill>
                            <a:srgbClr val="F474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600〜1,200万円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44054"/>
                        </a:buClr>
                        <a:buSzPts val="1125"/>
                        <a:buFont typeface="Arial"/>
                        <a:buNone/>
                      </a:pPr>
                      <a:r>
                        <a:rPr b="0" lang="en-US" sz="1125" u="none" cap="none" strike="noStrike">
                          <a:solidFill>
                            <a:srgbClr val="34405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部下1〜3名／自分＋チーム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9FB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44054"/>
                        </a:buClr>
                        <a:buSzPts val="1125"/>
                        <a:buFont typeface="Arial"/>
                        <a:buNone/>
                      </a:pPr>
                      <a:r>
                        <a:rPr b="1" lang="en-US" sz="1125" u="none" cap="none" strike="noStrike">
                          <a:solidFill>
                            <a:srgbClr val="34405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課長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44054"/>
                        </a:buClr>
                        <a:buSzPts val="1125"/>
                        <a:buFont typeface="Arial"/>
                        <a:buNone/>
                      </a:pPr>
                      <a:r>
                        <a:rPr b="0" lang="en-US" sz="1125" u="none" cap="none" strike="noStrike">
                          <a:solidFill>
                            <a:srgbClr val="34405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3〜6年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47421"/>
                        </a:buClr>
                        <a:buSzPts val="1125"/>
                        <a:buFont typeface="Arial"/>
                        <a:buNone/>
                      </a:pPr>
                      <a:r>
                        <a:rPr b="1" lang="en-US" sz="1125" u="none" cap="none" strike="noStrike">
                          <a:solidFill>
                            <a:srgbClr val="F474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900〜1,800万円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44054"/>
                        </a:buClr>
                        <a:buSzPts val="1125"/>
                        <a:buFont typeface="Arial"/>
                        <a:buNone/>
                      </a:pPr>
                      <a:r>
                        <a:rPr b="0" lang="en-US" sz="1125" u="none" cap="none" strike="noStrike">
                          <a:solidFill>
                            <a:srgbClr val="34405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部下5〜10名／リーダー育成・業績達成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44054"/>
                        </a:buClr>
                        <a:buSzPts val="1125"/>
                        <a:buFont typeface="Arial"/>
                        <a:buNone/>
                      </a:pPr>
                      <a:r>
                        <a:rPr b="1" lang="en-US" sz="1125" u="none" cap="none" strike="noStrike">
                          <a:solidFill>
                            <a:srgbClr val="34405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部長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44054"/>
                        </a:buClr>
                        <a:buSzPts val="1125"/>
                        <a:buFont typeface="Arial"/>
                        <a:buNone/>
                      </a:pPr>
                      <a:r>
                        <a:rPr b="0" lang="en-US" sz="1125" u="none" cap="none" strike="noStrike">
                          <a:solidFill>
                            <a:srgbClr val="34405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6〜13年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47421"/>
                        </a:buClr>
                        <a:buSzPts val="1125"/>
                        <a:buFont typeface="Arial"/>
                        <a:buNone/>
                      </a:pPr>
                      <a:r>
                        <a:rPr b="1" lang="en-US" sz="1125" u="none" cap="none" strike="noStrike">
                          <a:solidFill>
                            <a:srgbClr val="F474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1,200〜2,500万円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44054"/>
                        </a:buClr>
                        <a:buSzPts val="1125"/>
                        <a:buFont typeface="Arial"/>
                        <a:buNone/>
                      </a:pPr>
                      <a:r>
                        <a:rPr b="0" lang="en-US" sz="1125" u="none" cap="none" strike="noStrike">
                          <a:solidFill>
                            <a:srgbClr val="34405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部下10〜30名／事業・エリア戦略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9FB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44054"/>
                        </a:buClr>
                        <a:buSzPts val="1125"/>
                        <a:buFont typeface="Arial"/>
                        <a:buNone/>
                      </a:pPr>
                      <a:r>
                        <a:rPr b="1" lang="en-US" sz="1125" u="none" cap="none" strike="noStrike">
                          <a:solidFill>
                            <a:srgbClr val="34405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本部長・役員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44054"/>
                        </a:buClr>
                        <a:buSzPts val="1125"/>
                        <a:buFont typeface="Arial"/>
                        <a:buNone/>
                      </a:pPr>
                      <a:r>
                        <a:rPr b="0" lang="en-US" sz="1125" u="none" cap="none" strike="noStrike">
                          <a:solidFill>
                            <a:srgbClr val="34405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10〜20年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47421"/>
                        </a:buClr>
                        <a:buSzPts val="1125"/>
                        <a:buFont typeface="Arial"/>
                        <a:buNone/>
                      </a:pPr>
                      <a:r>
                        <a:rPr b="1" lang="en-US" sz="1125" u="none" cap="none" strike="noStrike">
                          <a:solidFill>
                            <a:srgbClr val="F474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1,200〜4,200万円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44054"/>
                        </a:buClr>
                        <a:buSzPts val="1125"/>
                        <a:buFont typeface="Arial"/>
                        <a:buNone/>
                      </a:pPr>
                      <a:r>
                        <a:rPr b="0" lang="en-US" sz="1125" u="none" cap="none" strike="noStrike">
                          <a:solidFill>
                            <a:srgbClr val="34405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部下30〜200名／経営判断・大きな戦略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8" name="Google Shape;268;p10"/>
          <p:cNvSpPr/>
          <p:nvPr/>
        </p:nvSpPr>
        <p:spPr>
          <a:xfrm>
            <a:off x="533400" y="5657850"/>
            <a:ext cx="111252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975"/>
              <a:buFont typeface="Arial"/>
              <a:buNone/>
            </a:pPr>
            <a:r>
              <a:rPr b="0" lang="en-US" sz="975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注：実在の等級・役職テーブルにもとづく想定レンジであり、到達時期や支給を保証するものではありません。</a:t>
            </a:r>
            <a:endParaRPr/>
          </a:p>
        </p:txBody>
      </p:sp>
      <p:pic>
        <p:nvPicPr>
          <p:cNvPr id="269" name="Google Shape;269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11399" y="119051"/>
            <a:ext cx="2095500" cy="4450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F0"/>
        </a:solidFill>
      </p:bgPr>
    </p:bg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1"/>
          <p:cNvSpPr/>
          <p:nvPr/>
        </p:nvSpPr>
        <p:spPr>
          <a:xfrm>
            <a:off x="533400" y="276225"/>
            <a:ext cx="76200" cy="238125"/>
          </a:xfrm>
          <a:prstGeom prst="roundRect">
            <a:avLst>
              <a:gd fmla="val 50000" name="adj"/>
            </a:avLst>
          </a:prstGeom>
          <a:solidFill>
            <a:srgbClr val="F474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1"/>
          <p:cNvSpPr/>
          <p:nvPr/>
        </p:nvSpPr>
        <p:spPr>
          <a:xfrm>
            <a:off x="742950" y="2667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125"/>
              <a:buFont typeface="Arial"/>
              <a:buNone/>
            </a:pPr>
            <a:r>
              <a:rPr b="1" lang="en-US" sz="1125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04｜キャリアと報酬</a:t>
            </a:r>
            <a:endParaRPr/>
          </a:p>
        </p:txBody>
      </p:sp>
      <p:sp>
        <p:nvSpPr>
          <p:cNvPr id="277" name="Google Shape;277;p11"/>
          <p:cNvSpPr/>
          <p:nvPr/>
        </p:nvSpPr>
        <p:spPr>
          <a:xfrm>
            <a:off x="533400" y="723900"/>
            <a:ext cx="106680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55"/>
              </a:buClr>
              <a:buSzPts val="3000"/>
              <a:buFont typeface="Arial"/>
              <a:buNone/>
            </a:pPr>
            <a:r>
              <a:rPr b="1" lang="en-US" sz="3000">
                <a:solidFill>
                  <a:srgbClr val="152255"/>
                </a:solidFill>
                <a:latin typeface="Arial"/>
                <a:ea typeface="Arial"/>
                <a:cs typeface="Arial"/>
                <a:sym typeface="Arial"/>
              </a:rPr>
              <a:t>年収は上がる。ただし、一直線ではない</a:t>
            </a:r>
            <a:endParaRPr/>
          </a:p>
        </p:txBody>
      </p:sp>
      <p:cxnSp>
        <p:nvCxnSpPr>
          <p:cNvPr id="278" name="Google Shape;278;p11"/>
          <p:cNvCxnSpPr/>
          <p:nvPr/>
        </p:nvCxnSpPr>
        <p:spPr>
          <a:xfrm>
            <a:off x="533400" y="6315075"/>
            <a:ext cx="11125200" cy="0"/>
          </a:xfrm>
          <a:prstGeom prst="straightConnector1">
            <a:avLst/>
          </a:prstGeom>
          <a:noFill/>
          <a:ln cap="flat" cmpd="sng" w="9525">
            <a:solidFill>
              <a:srgbClr val="D9DE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9" name="Google Shape;279;p11"/>
          <p:cNvSpPr/>
          <p:nvPr/>
        </p:nvSpPr>
        <p:spPr>
          <a:xfrm>
            <a:off x="533400" y="6448425"/>
            <a:ext cx="88582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825"/>
              <a:buFont typeface="Arial"/>
              <a:buNone/>
            </a:pPr>
            <a:r>
              <a:rPr b="0" lang="en-US" sz="825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TOKYO BIG HOUSE 最終面接資料｜社外秘・面接時のみ提示</a:t>
            </a:r>
            <a:endParaRPr/>
          </a:p>
        </p:txBody>
      </p:sp>
      <p:sp>
        <p:nvSpPr>
          <p:cNvPr id="280" name="Google Shape;280;p11"/>
          <p:cNvSpPr/>
          <p:nvPr/>
        </p:nvSpPr>
        <p:spPr>
          <a:xfrm>
            <a:off x="10744200" y="6419850"/>
            <a:ext cx="9144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55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152255"/>
                </a:solidFill>
                <a:latin typeface="Arial"/>
                <a:ea typeface="Arial"/>
                <a:cs typeface="Arial"/>
                <a:sym typeface="Arial"/>
              </a:rPr>
              <a:t>P.09</a:t>
            </a:r>
            <a:endParaRPr/>
          </a:p>
        </p:txBody>
      </p:sp>
      <p:sp>
        <p:nvSpPr>
          <p:cNvPr id="281" name="Google Shape;281;p11"/>
          <p:cNvSpPr/>
          <p:nvPr/>
        </p:nvSpPr>
        <p:spPr>
          <a:xfrm>
            <a:off x="533400" y="1390650"/>
            <a:ext cx="4953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275"/>
              <a:buFont typeface="Arial"/>
              <a:buNone/>
            </a:pPr>
            <a:r>
              <a:rPr b="1" lang="en-US" sz="1275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実在5名の年収カーブ／実績・万円</a:t>
            </a:r>
            <a:endParaRPr/>
          </a:p>
        </p:txBody>
      </p:sp>
      <p:cxnSp>
        <p:nvCxnSpPr>
          <p:cNvPr id="282" name="Google Shape;282;p11"/>
          <p:cNvCxnSpPr/>
          <p:nvPr/>
        </p:nvCxnSpPr>
        <p:spPr>
          <a:xfrm>
            <a:off x="952500" y="5162550"/>
            <a:ext cx="6667500" cy="0"/>
          </a:xfrm>
          <a:prstGeom prst="straightConnector1">
            <a:avLst/>
          </a:prstGeom>
          <a:noFill/>
          <a:ln cap="flat" cmpd="sng" w="9525">
            <a:solidFill>
              <a:srgbClr val="D9DE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3" name="Google Shape;283;p11"/>
          <p:cNvSpPr/>
          <p:nvPr/>
        </p:nvSpPr>
        <p:spPr>
          <a:xfrm>
            <a:off x="533400" y="5067300"/>
            <a:ext cx="3429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825"/>
              <a:buFont typeface="Arial"/>
              <a:buNone/>
            </a:pPr>
            <a:r>
              <a:rPr b="0" lang="en-US" sz="825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</p:txBody>
      </p:sp>
      <p:cxnSp>
        <p:nvCxnSpPr>
          <p:cNvPr id="284" name="Google Shape;284;p11"/>
          <p:cNvCxnSpPr/>
          <p:nvPr/>
        </p:nvCxnSpPr>
        <p:spPr>
          <a:xfrm>
            <a:off x="952500" y="4329113"/>
            <a:ext cx="6667500" cy="0"/>
          </a:xfrm>
          <a:prstGeom prst="straightConnector1">
            <a:avLst/>
          </a:prstGeom>
          <a:noFill/>
          <a:ln cap="flat" cmpd="sng" w="9525">
            <a:solidFill>
              <a:srgbClr val="D9DE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5" name="Google Shape;285;p11"/>
          <p:cNvSpPr/>
          <p:nvPr/>
        </p:nvSpPr>
        <p:spPr>
          <a:xfrm>
            <a:off x="533400" y="4233863"/>
            <a:ext cx="3429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825"/>
              <a:buFont typeface="Arial"/>
              <a:buNone/>
            </a:pPr>
            <a:r>
              <a:rPr b="0" lang="en-US" sz="825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500</a:t>
            </a:r>
            <a:endParaRPr/>
          </a:p>
        </p:txBody>
      </p:sp>
      <p:cxnSp>
        <p:nvCxnSpPr>
          <p:cNvPr id="286" name="Google Shape;286;p11"/>
          <p:cNvCxnSpPr/>
          <p:nvPr/>
        </p:nvCxnSpPr>
        <p:spPr>
          <a:xfrm>
            <a:off x="952500" y="3495675"/>
            <a:ext cx="6667500" cy="0"/>
          </a:xfrm>
          <a:prstGeom prst="straightConnector1">
            <a:avLst/>
          </a:prstGeom>
          <a:noFill/>
          <a:ln cap="flat" cmpd="sng" w="9525">
            <a:solidFill>
              <a:srgbClr val="D9DE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7" name="Google Shape;287;p11"/>
          <p:cNvSpPr/>
          <p:nvPr/>
        </p:nvSpPr>
        <p:spPr>
          <a:xfrm>
            <a:off x="533400" y="3400425"/>
            <a:ext cx="3429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825"/>
              <a:buFont typeface="Arial"/>
              <a:buNone/>
            </a:pPr>
            <a:r>
              <a:rPr b="0" lang="en-US" sz="825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1,000</a:t>
            </a:r>
            <a:endParaRPr/>
          </a:p>
        </p:txBody>
      </p:sp>
      <p:cxnSp>
        <p:nvCxnSpPr>
          <p:cNvPr id="288" name="Google Shape;288;p11"/>
          <p:cNvCxnSpPr/>
          <p:nvPr/>
        </p:nvCxnSpPr>
        <p:spPr>
          <a:xfrm>
            <a:off x="952500" y="2662238"/>
            <a:ext cx="6667500" cy="0"/>
          </a:xfrm>
          <a:prstGeom prst="straightConnector1">
            <a:avLst/>
          </a:prstGeom>
          <a:noFill/>
          <a:ln cap="flat" cmpd="sng" w="9525">
            <a:solidFill>
              <a:srgbClr val="D9DE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9" name="Google Shape;289;p11"/>
          <p:cNvSpPr/>
          <p:nvPr/>
        </p:nvSpPr>
        <p:spPr>
          <a:xfrm>
            <a:off x="533400" y="2566988"/>
            <a:ext cx="3429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825"/>
              <a:buFont typeface="Arial"/>
              <a:buNone/>
            </a:pPr>
            <a:r>
              <a:rPr b="0" lang="en-US" sz="825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1,500</a:t>
            </a:r>
            <a:endParaRPr/>
          </a:p>
        </p:txBody>
      </p:sp>
      <p:cxnSp>
        <p:nvCxnSpPr>
          <p:cNvPr id="290" name="Google Shape;290;p11"/>
          <p:cNvCxnSpPr/>
          <p:nvPr/>
        </p:nvCxnSpPr>
        <p:spPr>
          <a:xfrm>
            <a:off x="952500" y="1828800"/>
            <a:ext cx="6667500" cy="0"/>
          </a:xfrm>
          <a:prstGeom prst="straightConnector1">
            <a:avLst/>
          </a:prstGeom>
          <a:noFill/>
          <a:ln cap="flat" cmpd="sng" w="9525">
            <a:solidFill>
              <a:srgbClr val="D9DE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1" name="Google Shape;291;p11"/>
          <p:cNvSpPr/>
          <p:nvPr/>
        </p:nvSpPr>
        <p:spPr>
          <a:xfrm>
            <a:off x="533400" y="1733550"/>
            <a:ext cx="3429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825"/>
              <a:buFont typeface="Arial"/>
              <a:buNone/>
            </a:pPr>
            <a:r>
              <a:rPr b="0" lang="en-US" sz="825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2,000</a:t>
            </a:r>
            <a:endParaRPr/>
          </a:p>
        </p:txBody>
      </p:sp>
      <p:cxnSp>
        <p:nvCxnSpPr>
          <p:cNvPr id="292" name="Google Shape;292;p11"/>
          <p:cNvCxnSpPr/>
          <p:nvPr/>
        </p:nvCxnSpPr>
        <p:spPr>
          <a:xfrm>
            <a:off x="952500" y="1828800"/>
            <a:ext cx="0" cy="3333750"/>
          </a:xfrm>
          <a:prstGeom prst="straightConnector1">
            <a:avLst/>
          </a:prstGeom>
          <a:noFill/>
          <a:ln cap="flat" cmpd="sng" w="9525">
            <a:solidFill>
              <a:srgbClr val="D9DE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3" name="Google Shape;293;p11"/>
          <p:cNvSpPr/>
          <p:nvPr/>
        </p:nvSpPr>
        <p:spPr>
          <a:xfrm>
            <a:off x="809625" y="5219700"/>
            <a:ext cx="2857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825"/>
              <a:buFont typeface="Arial"/>
              <a:buNone/>
            </a:pPr>
            <a:r>
              <a:rPr b="0" lang="en-US" sz="825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294" name="Google Shape;294;p11"/>
          <p:cNvSpPr/>
          <p:nvPr/>
        </p:nvSpPr>
        <p:spPr>
          <a:xfrm>
            <a:off x="1476375" y="5219700"/>
            <a:ext cx="2857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825"/>
              <a:buFont typeface="Arial"/>
              <a:buNone/>
            </a:pPr>
            <a:r>
              <a:rPr b="0" lang="en-US" sz="825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295" name="Google Shape;295;p11"/>
          <p:cNvSpPr/>
          <p:nvPr/>
        </p:nvSpPr>
        <p:spPr>
          <a:xfrm>
            <a:off x="2143125" y="5219700"/>
            <a:ext cx="2857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825"/>
              <a:buFont typeface="Arial"/>
              <a:buNone/>
            </a:pPr>
            <a:r>
              <a:rPr b="0" lang="en-US" sz="825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296" name="Google Shape;296;p11"/>
          <p:cNvSpPr/>
          <p:nvPr/>
        </p:nvSpPr>
        <p:spPr>
          <a:xfrm>
            <a:off x="2809875" y="5219700"/>
            <a:ext cx="2857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825"/>
              <a:buFont typeface="Arial"/>
              <a:buNone/>
            </a:pPr>
            <a:r>
              <a:rPr b="0" lang="en-US" sz="825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297" name="Google Shape;297;p11"/>
          <p:cNvSpPr/>
          <p:nvPr/>
        </p:nvSpPr>
        <p:spPr>
          <a:xfrm>
            <a:off x="3476625" y="5219700"/>
            <a:ext cx="2857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825"/>
              <a:buFont typeface="Arial"/>
              <a:buNone/>
            </a:pPr>
            <a:r>
              <a:rPr b="0" lang="en-US" sz="825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  <p:sp>
        <p:nvSpPr>
          <p:cNvPr id="298" name="Google Shape;298;p11"/>
          <p:cNvSpPr/>
          <p:nvPr/>
        </p:nvSpPr>
        <p:spPr>
          <a:xfrm>
            <a:off x="4143375" y="5219700"/>
            <a:ext cx="2857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825"/>
              <a:buFont typeface="Arial"/>
              <a:buNone/>
            </a:pPr>
            <a:r>
              <a:rPr b="0" lang="en-US" sz="825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/>
          </a:p>
        </p:txBody>
      </p:sp>
      <p:sp>
        <p:nvSpPr>
          <p:cNvPr id="299" name="Google Shape;299;p11"/>
          <p:cNvSpPr/>
          <p:nvPr/>
        </p:nvSpPr>
        <p:spPr>
          <a:xfrm>
            <a:off x="4810125" y="5219700"/>
            <a:ext cx="2857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825"/>
              <a:buFont typeface="Arial"/>
              <a:buNone/>
            </a:pPr>
            <a:r>
              <a:rPr b="0" lang="en-US" sz="825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/>
          </a:p>
        </p:txBody>
      </p:sp>
      <p:sp>
        <p:nvSpPr>
          <p:cNvPr id="300" name="Google Shape;300;p11"/>
          <p:cNvSpPr/>
          <p:nvPr/>
        </p:nvSpPr>
        <p:spPr>
          <a:xfrm>
            <a:off x="5476875" y="5219700"/>
            <a:ext cx="2857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825"/>
              <a:buFont typeface="Arial"/>
              <a:buNone/>
            </a:pPr>
            <a:r>
              <a:rPr b="0" lang="en-US" sz="825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/>
          </a:p>
        </p:txBody>
      </p:sp>
      <p:sp>
        <p:nvSpPr>
          <p:cNvPr id="301" name="Google Shape;301;p11"/>
          <p:cNvSpPr/>
          <p:nvPr/>
        </p:nvSpPr>
        <p:spPr>
          <a:xfrm>
            <a:off x="6143625" y="5219700"/>
            <a:ext cx="2857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825"/>
              <a:buFont typeface="Arial"/>
              <a:buNone/>
            </a:pPr>
            <a:r>
              <a:rPr b="0" lang="en-US" sz="825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/>
          </a:p>
        </p:txBody>
      </p:sp>
      <p:sp>
        <p:nvSpPr>
          <p:cNvPr id="302" name="Google Shape;302;p11"/>
          <p:cNvSpPr/>
          <p:nvPr/>
        </p:nvSpPr>
        <p:spPr>
          <a:xfrm>
            <a:off x="6810375" y="5219700"/>
            <a:ext cx="2857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825"/>
              <a:buFont typeface="Arial"/>
              <a:buNone/>
            </a:pPr>
            <a:r>
              <a:rPr b="0" lang="en-US" sz="825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/>
          </a:p>
        </p:txBody>
      </p:sp>
      <p:sp>
        <p:nvSpPr>
          <p:cNvPr id="303" name="Google Shape;303;p11"/>
          <p:cNvSpPr/>
          <p:nvPr/>
        </p:nvSpPr>
        <p:spPr>
          <a:xfrm>
            <a:off x="7477125" y="5219700"/>
            <a:ext cx="2857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825"/>
              <a:buFont typeface="Arial"/>
              <a:buNone/>
            </a:pPr>
            <a:r>
              <a:rPr b="0" lang="en-US" sz="825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/>
          </a:p>
        </p:txBody>
      </p:sp>
      <p:cxnSp>
        <p:nvCxnSpPr>
          <p:cNvPr id="304" name="Google Shape;304;p11"/>
          <p:cNvCxnSpPr/>
          <p:nvPr/>
        </p:nvCxnSpPr>
        <p:spPr>
          <a:xfrm rot="-756732">
            <a:off x="936014" y="4429958"/>
            <a:ext cx="1366473" cy="0"/>
          </a:xfrm>
          <a:prstGeom prst="straightConnector1">
            <a:avLst/>
          </a:prstGeom>
          <a:noFill/>
          <a:ln cap="flat" cmpd="sng" w="28575">
            <a:solidFill>
              <a:srgbClr val="15225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5" name="Google Shape;305;p11"/>
          <p:cNvCxnSpPr/>
          <p:nvPr/>
        </p:nvCxnSpPr>
        <p:spPr>
          <a:xfrm rot="-578883">
            <a:off x="2276434" y="4167426"/>
            <a:ext cx="1352632" cy="0"/>
          </a:xfrm>
          <a:prstGeom prst="straightConnector1">
            <a:avLst/>
          </a:prstGeom>
          <a:noFill/>
          <a:ln cap="flat" cmpd="sng" w="28575">
            <a:solidFill>
              <a:srgbClr val="15225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6" name="Google Shape;306;p11"/>
          <p:cNvCxnSpPr/>
          <p:nvPr/>
        </p:nvCxnSpPr>
        <p:spPr>
          <a:xfrm rot="-1741816">
            <a:off x="3571598" y="3869055"/>
            <a:ext cx="762555" cy="0"/>
          </a:xfrm>
          <a:prstGeom prst="straightConnector1">
            <a:avLst/>
          </a:prstGeom>
          <a:noFill/>
          <a:ln cap="flat" cmpd="sng" w="28575">
            <a:solidFill>
              <a:srgbClr val="15225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7" name="Google Shape;307;p11"/>
          <p:cNvCxnSpPr/>
          <p:nvPr/>
        </p:nvCxnSpPr>
        <p:spPr>
          <a:xfrm rot="-4028685">
            <a:off x="3761305" y="2893100"/>
            <a:ext cx="1716639" cy="0"/>
          </a:xfrm>
          <a:prstGeom prst="straightConnector1">
            <a:avLst/>
          </a:prstGeom>
          <a:noFill/>
          <a:ln cap="flat" cmpd="sng" w="28575">
            <a:solidFill>
              <a:srgbClr val="15225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8" name="Google Shape;308;p11"/>
          <p:cNvCxnSpPr/>
          <p:nvPr/>
        </p:nvCxnSpPr>
        <p:spPr>
          <a:xfrm rot="3477260">
            <a:off x="4658071" y="2634734"/>
            <a:ext cx="1256608" cy="0"/>
          </a:xfrm>
          <a:prstGeom prst="straightConnector1">
            <a:avLst/>
          </a:prstGeom>
          <a:noFill/>
          <a:ln cap="flat" cmpd="sng" w="28575">
            <a:solidFill>
              <a:srgbClr val="15225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9" name="Google Shape;309;p11"/>
          <p:cNvCxnSpPr/>
          <p:nvPr/>
        </p:nvCxnSpPr>
        <p:spPr>
          <a:xfrm rot="-1359632">
            <a:off x="5591862" y="3028117"/>
            <a:ext cx="722526" cy="0"/>
          </a:xfrm>
          <a:prstGeom prst="straightConnector1">
            <a:avLst/>
          </a:prstGeom>
          <a:noFill/>
          <a:ln cap="flat" cmpd="sng" w="28575">
            <a:solidFill>
              <a:srgbClr val="15225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0" name="Google Shape;310;p11"/>
          <p:cNvCxnSpPr/>
          <p:nvPr/>
        </p:nvCxnSpPr>
        <p:spPr>
          <a:xfrm rot="-188886">
            <a:off x="6285996" y="2870597"/>
            <a:ext cx="667758" cy="0"/>
          </a:xfrm>
          <a:prstGeom prst="straightConnector1">
            <a:avLst/>
          </a:prstGeom>
          <a:noFill/>
          <a:ln cap="flat" cmpd="sng" w="28575">
            <a:solidFill>
              <a:srgbClr val="15225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1" name="Google Shape;311;p11"/>
          <p:cNvCxnSpPr/>
          <p:nvPr/>
        </p:nvCxnSpPr>
        <p:spPr>
          <a:xfrm rot="-825978">
            <a:off x="6943390" y="2770584"/>
            <a:ext cx="686469" cy="0"/>
          </a:xfrm>
          <a:prstGeom prst="straightConnector1">
            <a:avLst/>
          </a:prstGeom>
          <a:noFill/>
          <a:ln cap="flat" cmpd="sng" w="28575">
            <a:solidFill>
              <a:srgbClr val="15225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2" name="Google Shape;312;p11"/>
          <p:cNvSpPr/>
          <p:nvPr/>
        </p:nvSpPr>
        <p:spPr>
          <a:xfrm>
            <a:off x="904875" y="4531519"/>
            <a:ext cx="95250" cy="95250"/>
          </a:xfrm>
          <a:prstGeom prst="ellipse">
            <a:avLst/>
          </a:prstGeom>
          <a:solidFill>
            <a:srgbClr val="1522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11"/>
          <p:cNvSpPr/>
          <p:nvPr/>
        </p:nvSpPr>
        <p:spPr>
          <a:xfrm>
            <a:off x="2238375" y="4233148"/>
            <a:ext cx="95250" cy="95250"/>
          </a:xfrm>
          <a:prstGeom prst="ellipse">
            <a:avLst/>
          </a:prstGeom>
          <a:solidFill>
            <a:srgbClr val="1522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11"/>
          <p:cNvSpPr/>
          <p:nvPr/>
        </p:nvSpPr>
        <p:spPr>
          <a:xfrm>
            <a:off x="3571875" y="4006453"/>
            <a:ext cx="95250" cy="95250"/>
          </a:xfrm>
          <a:prstGeom prst="ellipse">
            <a:avLst/>
          </a:prstGeom>
          <a:solidFill>
            <a:srgbClr val="1522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11"/>
          <p:cNvSpPr/>
          <p:nvPr/>
        </p:nvSpPr>
        <p:spPr>
          <a:xfrm>
            <a:off x="4238625" y="3636407"/>
            <a:ext cx="95250" cy="95250"/>
          </a:xfrm>
          <a:prstGeom prst="ellipse">
            <a:avLst/>
          </a:prstGeom>
          <a:solidFill>
            <a:srgbClr val="1522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11"/>
          <p:cNvSpPr/>
          <p:nvPr/>
        </p:nvSpPr>
        <p:spPr>
          <a:xfrm>
            <a:off x="4905375" y="2054543"/>
            <a:ext cx="95250" cy="95250"/>
          </a:xfrm>
          <a:prstGeom prst="ellipse">
            <a:avLst/>
          </a:prstGeom>
          <a:solidFill>
            <a:srgbClr val="1522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11"/>
          <p:cNvSpPr/>
          <p:nvPr/>
        </p:nvSpPr>
        <p:spPr>
          <a:xfrm>
            <a:off x="5572125" y="3119676"/>
            <a:ext cx="95250" cy="95250"/>
          </a:xfrm>
          <a:prstGeom prst="ellipse">
            <a:avLst/>
          </a:prstGeom>
          <a:solidFill>
            <a:srgbClr val="1522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11"/>
          <p:cNvSpPr/>
          <p:nvPr/>
        </p:nvSpPr>
        <p:spPr>
          <a:xfrm>
            <a:off x="6238875" y="2841307"/>
            <a:ext cx="95250" cy="95250"/>
          </a:xfrm>
          <a:prstGeom prst="ellipse">
            <a:avLst/>
          </a:prstGeom>
          <a:solidFill>
            <a:srgbClr val="1522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11"/>
          <p:cNvSpPr/>
          <p:nvPr/>
        </p:nvSpPr>
        <p:spPr>
          <a:xfrm>
            <a:off x="6905625" y="2804636"/>
            <a:ext cx="95250" cy="95250"/>
          </a:xfrm>
          <a:prstGeom prst="ellipse">
            <a:avLst/>
          </a:prstGeom>
          <a:solidFill>
            <a:srgbClr val="1522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11"/>
          <p:cNvSpPr/>
          <p:nvPr/>
        </p:nvSpPr>
        <p:spPr>
          <a:xfrm>
            <a:off x="7572375" y="2641283"/>
            <a:ext cx="95250" cy="95250"/>
          </a:xfrm>
          <a:prstGeom prst="ellipse">
            <a:avLst/>
          </a:prstGeom>
          <a:solidFill>
            <a:srgbClr val="1522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21" name="Google Shape;321;p11"/>
          <p:cNvCxnSpPr/>
          <p:nvPr/>
        </p:nvCxnSpPr>
        <p:spPr>
          <a:xfrm rot="-2139566">
            <a:off x="875565" y="4189928"/>
            <a:ext cx="820619" cy="0"/>
          </a:xfrm>
          <a:prstGeom prst="straightConnector1">
            <a:avLst/>
          </a:prstGeom>
          <a:noFill/>
          <a:ln cap="flat" cmpd="sng" w="28575">
            <a:solidFill>
              <a:srgbClr val="4D79C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2" name="Google Shape;322;p11"/>
          <p:cNvCxnSpPr/>
          <p:nvPr/>
        </p:nvCxnSpPr>
        <p:spPr>
          <a:xfrm rot="-317089">
            <a:off x="1617827" y="3919895"/>
            <a:ext cx="669596" cy="0"/>
          </a:xfrm>
          <a:prstGeom prst="straightConnector1">
            <a:avLst/>
          </a:prstGeom>
          <a:noFill/>
          <a:ln cap="flat" cmpd="sng" w="28575">
            <a:solidFill>
              <a:srgbClr val="4D79C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3" name="Google Shape;323;p11"/>
          <p:cNvCxnSpPr/>
          <p:nvPr/>
        </p:nvCxnSpPr>
        <p:spPr>
          <a:xfrm rot="570526">
            <a:off x="2281356" y="3944898"/>
            <a:ext cx="676039" cy="0"/>
          </a:xfrm>
          <a:prstGeom prst="straightConnector1">
            <a:avLst/>
          </a:prstGeom>
          <a:noFill/>
          <a:ln cap="flat" cmpd="sng" w="28575">
            <a:solidFill>
              <a:srgbClr val="4D79C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4" name="Google Shape;324;p11"/>
          <p:cNvCxnSpPr/>
          <p:nvPr/>
        </p:nvCxnSpPr>
        <p:spPr>
          <a:xfrm rot="-1864138">
            <a:off x="2896917" y="3799880"/>
            <a:ext cx="778416" cy="0"/>
          </a:xfrm>
          <a:prstGeom prst="straightConnector1">
            <a:avLst/>
          </a:prstGeom>
          <a:noFill/>
          <a:ln cap="flat" cmpd="sng" w="28575">
            <a:solidFill>
              <a:srgbClr val="4D79C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5" name="Google Shape;325;p11"/>
          <p:cNvCxnSpPr/>
          <p:nvPr/>
        </p:nvCxnSpPr>
        <p:spPr>
          <a:xfrm rot="-2519233">
            <a:off x="3504365" y="3298984"/>
            <a:ext cx="897020" cy="0"/>
          </a:xfrm>
          <a:prstGeom prst="straightConnector1">
            <a:avLst/>
          </a:prstGeom>
          <a:noFill/>
          <a:ln cap="flat" cmpd="sng" w="28575">
            <a:solidFill>
              <a:srgbClr val="4D79C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6" name="Google Shape;326;p11"/>
          <p:cNvCxnSpPr/>
          <p:nvPr/>
        </p:nvCxnSpPr>
        <p:spPr>
          <a:xfrm rot="-214580">
            <a:off x="4285600" y="2978110"/>
            <a:ext cx="668051" cy="0"/>
          </a:xfrm>
          <a:prstGeom prst="straightConnector1">
            <a:avLst/>
          </a:prstGeom>
          <a:noFill/>
          <a:ln cap="flat" cmpd="sng" w="28575">
            <a:solidFill>
              <a:srgbClr val="4D79C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7" name="Google Shape;327;p11"/>
          <p:cNvCxnSpPr/>
          <p:nvPr/>
        </p:nvCxnSpPr>
        <p:spPr>
          <a:xfrm rot="137437">
            <a:off x="4952733" y="2970609"/>
            <a:ext cx="667283" cy="0"/>
          </a:xfrm>
          <a:prstGeom prst="straightConnector1">
            <a:avLst/>
          </a:prstGeom>
          <a:noFill/>
          <a:ln cap="flat" cmpd="sng" w="28575">
            <a:solidFill>
              <a:srgbClr val="4D79C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8" name="Google Shape;328;p11"/>
          <p:cNvSpPr/>
          <p:nvPr/>
        </p:nvSpPr>
        <p:spPr>
          <a:xfrm>
            <a:off x="904875" y="4381500"/>
            <a:ext cx="95250" cy="95250"/>
          </a:xfrm>
          <a:prstGeom prst="ellipse">
            <a:avLst/>
          </a:prstGeom>
          <a:solidFill>
            <a:srgbClr val="4D79C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11"/>
          <p:cNvSpPr/>
          <p:nvPr/>
        </p:nvSpPr>
        <p:spPr>
          <a:xfrm>
            <a:off x="1571625" y="3903107"/>
            <a:ext cx="95250" cy="95250"/>
          </a:xfrm>
          <a:prstGeom prst="ellipse">
            <a:avLst/>
          </a:prstGeom>
          <a:solidFill>
            <a:srgbClr val="4D79C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11"/>
          <p:cNvSpPr/>
          <p:nvPr/>
        </p:nvSpPr>
        <p:spPr>
          <a:xfrm>
            <a:off x="2238375" y="3841433"/>
            <a:ext cx="95250" cy="95250"/>
          </a:xfrm>
          <a:prstGeom prst="ellipse">
            <a:avLst/>
          </a:prstGeom>
          <a:solidFill>
            <a:srgbClr val="4D79C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11"/>
          <p:cNvSpPr/>
          <p:nvPr/>
        </p:nvSpPr>
        <p:spPr>
          <a:xfrm>
            <a:off x="2905125" y="3953113"/>
            <a:ext cx="95250" cy="95250"/>
          </a:xfrm>
          <a:prstGeom prst="ellipse">
            <a:avLst/>
          </a:prstGeom>
          <a:solidFill>
            <a:srgbClr val="4D79C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11"/>
          <p:cNvSpPr/>
          <p:nvPr/>
        </p:nvSpPr>
        <p:spPr>
          <a:xfrm>
            <a:off x="3571875" y="3551396"/>
            <a:ext cx="95250" cy="95250"/>
          </a:xfrm>
          <a:prstGeom prst="ellipse">
            <a:avLst/>
          </a:prstGeom>
          <a:solidFill>
            <a:srgbClr val="4D79C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11"/>
          <p:cNvSpPr/>
          <p:nvPr/>
        </p:nvSpPr>
        <p:spPr>
          <a:xfrm>
            <a:off x="4238625" y="2951321"/>
            <a:ext cx="95250" cy="95250"/>
          </a:xfrm>
          <a:prstGeom prst="ellipse">
            <a:avLst/>
          </a:prstGeom>
          <a:solidFill>
            <a:srgbClr val="4D79C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11"/>
          <p:cNvSpPr/>
          <p:nvPr/>
        </p:nvSpPr>
        <p:spPr>
          <a:xfrm>
            <a:off x="4905375" y="2909649"/>
            <a:ext cx="95250" cy="95250"/>
          </a:xfrm>
          <a:prstGeom prst="ellipse">
            <a:avLst/>
          </a:prstGeom>
          <a:solidFill>
            <a:srgbClr val="4D79C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11"/>
          <p:cNvSpPr/>
          <p:nvPr/>
        </p:nvSpPr>
        <p:spPr>
          <a:xfrm>
            <a:off x="5572125" y="2936319"/>
            <a:ext cx="95250" cy="95250"/>
          </a:xfrm>
          <a:prstGeom prst="ellipse">
            <a:avLst/>
          </a:prstGeom>
          <a:solidFill>
            <a:srgbClr val="4D79C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36" name="Google Shape;336;p11"/>
          <p:cNvCxnSpPr/>
          <p:nvPr/>
        </p:nvCxnSpPr>
        <p:spPr>
          <a:xfrm rot="-2005489">
            <a:off x="886437" y="4449128"/>
            <a:ext cx="798877" cy="0"/>
          </a:xfrm>
          <a:prstGeom prst="straightConnector1">
            <a:avLst/>
          </a:prstGeom>
          <a:noFill/>
          <a:ln cap="flat" cmpd="sng" w="28575">
            <a:solidFill>
              <a:srgbClr val="F4742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7" name="Google Shape;337;p11"/>
          <p:cNvCxnSpPr/>
          <p:nvPr/>
        </p:nvCxnSpPr>
        <p:spPr>
          <a:xfrm rot="-2717103">
            <a:off x="1478798" y="3892391"/>
            <a:ext cx="947653" cy="0"/>
          </a:xfrm>
          <a:prstGeom prst="straightConnector1">
            <a:avLst/>
          </a:prstGeom>
          <a:noFill/>
          <a:ln cap="flat" cmpd="sng" w="28575">
            <a:solidFill>
              <a:srgbClr val="F4742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8" name="Google Shape;338;p11"/>
          <p:cNvCxnSpPr/>
          <p:nvPr/>
        </p:nvCxnSpPr>
        <p:spPr>
          <a:xfrm rot="-2669655">
            <a:off x="2152019" y="3228142"/>
            <a:ext cx="934713" cy="0"/>
          </a:xfrm>
          <a:prstGeom prst="straightConnector1">
            <a:avLst/>
          </a:prstGeom>
          <a:noFill/>
          <a:ln cap="flat" cmpd="sng" w="28575">
            <a:solidFill>
              <a:srgbClr val="F4742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9" name="Google Shape;339;p11"/>
          <p:cNvCxnSpPr/>
          <p:nvPr/>
        </p:nvCxnSpPr>
        <p:spPr>
          <a:xfrm rot="1559354">
            <a:off x="2915245" y="3063121"/>
            <a:ext cx="741759" cy="0"/>
          </a:xfrm>
          <a:prstGeom prst="straightConnector1">
            <a:avLst/>
          </a:prstGeom>
          <a:noFill/>
          <a:ln cap="flat" cmpd="sng" w="28575">
            <a:solidFill>
              <a:srgbClr val="F4742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0" name="Google Shape;340;p11"/>
          <p:cNvSpPr/>
          <p:nvPr/>
        </p:nvSpPr>
        <p:spPr>
          <a:xfrm>
            <a:off x="904875" y="4621530"/>
            <a:ext cx="95250" cy="95250"/>
          </a:xfrm>
          <a:prstGeom prst="ellipse">
            <a:avLst/>
          </a:prstGeom>
          <a:solidFill>
            <a:srgbClr val="F474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11"/>
          <p:cNvSpPr/>
          <p:nvPr/>
        </p:nvSpPr>
        <p:spPr>
          <a:xfrm>
            <a:off x="1571625" y="4181475"/>
            <a:ext cx="95250" cy="95250"/>
          </a:xfrm>
          <a:prstGeom prst="ellipse">
            <a:avLst/>
          </a:prstGeom>
          <a:solidFill>
            <a:srgbClr val="F474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11"/>
          <p:cNvSpPr/>
          <p:nvPr/>
        </p:nvSpPr>
        <p:spPr>
          <a:xfrm>
            <a:off x="2238375" y="3508058"/>
            <a:ext cx="95250" cy="95250"/>
          </a:xfrm>
          <a:prstGeom prst="ellipse">
            <a:avLst/>
          </a:prstGeom>
          <a:solidFill>
            <a:srgbClr val="F474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11"/>
          <p:cNvSpPr/>
          <p:nvPr/>
        </p:nvSpPr>
        <p:spPr>
          <a:xfrm>
            <a:off x="2905125" y="2852976"/>
            <a:ext cx="95250" cy="95250"/>
          </a:xfrm>
          <a:prstGeom prst="ellipse">
            <a:avLst/>
          </a:prstGeom>
          <a:solidFill>
            <a:srgbClr val="F474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11"/>
          <p:cNvSpPr/>
          <p:nvPr/>
        </p:nvSpPr>
        <p:spPr>
          <a:xfrm>
            <a:off x="3571875" y="3178016"/>
            <a:ext cx="95250" cy="95250"/>
          </a:xfrm>
          <a:prstGeom prst="ellipse">
            <a:avLst/>
          </a:prstGeom>
          <a:solidFill>
            <a:srgbClr val="F474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45" name="Google Shape;345;p11"/>
          <p:cNvCxnSpPr/>
          <p:nvPr/>
        </p:nvCxnSpPr>
        <p:spPr>
          <a:xfrm rot="-1793934">
            <a:off x="901318" y="4270772"/>
            <a:ext cx="769114" cy="0"/>
          </a:xfrm>
          <a:prstGeom prst="straightConnector1">
            <a:avLst/>
          </a:prstGeom>
          <a:noFill/>
          <a:ln cap="flat" cmpd="sng" w="19050">
            <a:solidFill>
              <a:srgbClr val="667085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346" name="Google Shape;346;p11"/>
          <p:cNvCxnSpPr/>
          <p:nvPr/>
        </p:nvCxnSpPr>
        <p:spPr>
          <a:xfrm rot="-1233363">
            <a:off x="1596580" y="3954066"/>
            <a:ext cx="712089" cy="0"/>
          </a:xfrm>
          <a:prstGeom prst="straightConnector1">
            <a:avLst/>
          </a:prstGeom>
          <a:noFill/>
          <a:ln cap="flat" cmpd="sng" w="19050">
            <a:solidFill>
              <a:srgbClr val="667085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347" name="Google Shape;347;p11"/>
          <p:cNvCxnSpPr/>
          <p:nvPr/>
        </p:nvCxnSpPr>
        <p:spPr>
          <a:xfrm rot="-2905776">
            <a:off x="2116956" y="3453170"/>
            <a:ext cx="1004838" cy="0"/>
          </a:xfrm>
          <a:prstGeom prst="straightConnector1">
            <a:avLst/>
          </a:prstGeom>
          <a:noFill/>
          <a:ln cap="flat" cmpd="sng" w="19050">
            <a:solidFill>
              <a:srgbClr val="667085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348" name="Google Shape;348;p11"/>
          <p:cNvCxnSpPr/>
          <p:nvPr/>
        </p:nvCxnSpPr>
        <p:spPr>
          <a:xfrm rot="2173367">
            <a:off x="2872880" y="3321487"/>
            <a:ext cx="826489" cy="0"/>
          </a:xfrm>
          <a:prstGeom prst="straightConnector1">
            <a:avLst/>
          </a:prstGeom>
          <a:noFill/>
          <a:ln cap="flat" cmpd="sng" w="19050">
            <a:solidFill>
              <a:srgbClr val="667085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349" name="Google Shape;349;p11"/>
          <p:cNvCxnSpPr/>
          <p:nvPr/>
        </p:nvCxnSpPr>
        <p:spPr>
          <a:xfrm rot="1566291">
            <a:off x="3581629" y="3729038"/>
            <a:ext cx="742491" cy="0"/>
          </a:xfrm>
          <a:prstGeom prst="straightConnector1">
            <a:avLst/>
          </a:prstGeom>
          <a:noFill/>
          <a:ln cap="flat" cmpd="sng" w="19050">
            <a:solidFill>
              <a:srgbClr val="667085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350" name="Google Shape;350;p11"/>
          <p:cNvCxnSpPr/>
          <p:nvPr/>
        </p:nvCxnSpPr>
        <p:spPr>
          <a:xfrm rot="562163">
            <a:off x="4281742" y="3947398"/>
            <a:ext cx="675765" cy="0"/>
          </a:xfrm>
          <a:prstGeom prst="straightConnector1">
            <a:avLst/>
          </a:prstGeom>
          <a:noFill/>
          <a:ln cap="flat" cmpd="sng" w="19050">
            <a:solidFill>
              <a:srgbClr val="667085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351" name="Google Shape;351;p11"/>
          <p:cNvCxnSpPr/>
          <p:nvPr/>
        </p:nvCxnSpPr>
        <p:spPr>
          <a:xfrm rot="662053">
            <a:off x="4946721" y="4067413"/>
            <a:ext cx="679308" cy="0"/>
          </a:xfrm>
          <a:prstGeom prst="straightConnector1">
            <a:avLst/>
          </a:prstGeom>
          <a:noFill/>
          <a:ln cap="flat" cmpd="sng" w="19050">
            <a:solidFill>
              <a:srgbClr val="667085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352" name="Google Shape;352;p11"/>
          <p:cNvCxnSpPr/>
          <p:nvPr/>
        </p:nvCxnSpPr>
        <p:spPr>
          <a:xfrm rot="1049066">
            <a:off x="5603602" y="4237434"/>
            <a:ext cx="699047" cy="0"/>
          </a:xfrm>
          <a:prstGeom prst="straightConnector1">
            <a:avLst/>
          </a:prstGeom>
          <a:noFill/>
          <a:ln cap="flat" cmpd="sng" w="19050">
            <a:solidFill>
              <a:srgbClr val="667085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353" name="Google Shape;353;p11"/>
          <p:cNvSpPr/>
          <p:nvPr/>
        </p:nvSpPr>
        <p:spPr>
          <a:xfrm>
            <a:off x="904875" y="4414838"/>
            <a:ext cx="95250" cy="95250"/>
          </a:xfrm>
          <a:prstGeom prst="ellipse">
            <a:avLst/>
          </a:prstGeom>
          <a:solidFill>
            <a:srgbClr val="66708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11"/>
          <p:cNvSpPr/>
          <p:nvPr/>
        </p:nvSpPr>
        <p:spPr>
          <a:xfrm>
            <a:off x="1571625" y="4031456"/>
            <a:ext cx="95250" cy="95250"/>
          </a:xfrm>
          <a:prstGeom prst="ellipse">
            <a:avLst/>
          </a:prstGeom>
          <a:solidFill>
            <a:srgbClr val="66708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11"/>
          <p:cNvSpPr/>
          <p:nvPr/>
        </p:nvSpPr>
        <p:spPr>
          <a:xfrm>
            <a:off x="2238375" y="3781425"/>
            <a:ext cx="95250" cy="95250"/>
          </a:xfrm>
          <a:prstGeom prst="ellipse">
            <a:avLst/>
          </a:prstGeom>
          <a:solidFill>
            <a:srgbClr val="66708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11"/>
          <p:cNvSpPr/>
          <p:nvPr/>
        </p:nvSpPr>
        <p:spPr>
          <a:xfrm>
            <a:off x="2905125" y="3029664"/>
            <a:ext cx="95250" cy="95250"/>
          </a:xfrm>
          <a:prstGeom prst="ellipse">
            <a:avLst/>
          </a:prstGeom>
          <a:solidFill>
            <a:srgbClr val="66708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11"/>
          <p:cNvSpPr/>
          <p:nvPr/>
        </p:nvSpPr>
        <p:spPr>
          <a:xfrm>
            <a:off x="3571875" y="3518059"/>
            <a:ext cx="95250" cy="95250"/>
          </a:xfrm>
          <a:prstGeom prst="ellipse">
            <a:avLst/>
          </a:prstGeom>
          <a:solidFill>
            <a:srgbClr val="66708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11"/>
          <p:cNvSpPr/>
          <p:nvPr/>
        </p:nvSpPr>
        <p:spPr>
          <a:xfrm>
            <a:off x="4238625" y="3844766"/>
            <a:ext cx="95250" cy="95250"/>
          </a:xfrm>
          <a:prstGeom prst="ellipse">
            <a:avLst/>
          </a:prstGeom>
          <a:solidFill>
            <a:srgbClr val="66708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11"/>
          <p:cNvSpPr/>
          <p:nvPr/>
        </p:nvSpPr>
        <p:spPr>
          <a:xfrm>
            <a:off x="4905375" y="3954780"/>
            <a:ext cx="95250" cy="95250"/>
          </a:xfrm>
          <a:prstGeom prst="ellipse">
            <a:avLst/>
          </a:prstGeom>
          <a:solidFill>
            <a:srgbClr val="66708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11"/>
          <p:cNvSpPr/>
          <p:nvPr/>
        </p:nvSpPr>
        <p:spPr>
          <a:xfrm>
            <a:off x="5572125" y="4084796"/>
            <a:ext cx="95250" cy="95250"/>
          </a:xfrm>
          <a:prstGeom prst="ellipse">
            <a:avLst/>
          </a:prstGeom>
          <a:solidFill>
            <a:srgbClr val="66708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11"/>
          <p:cNvSpPr/>
          <p:nvPr/>
        </p:nvSpPr>
        <p:spPr>
          <a:xfrm>
            <a:off x="6238875" y="4294823"/>
            <a:ext cx="95250" cy="95250"/>
          </a:xfrm>
          <a:prstGeom prst="ellipse">
            <a:avLst/>
          </a:prstGeom>
          <a:solidFill>
            <a:srgbClr val="66708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62" name="Google Shape;362;p11"/>
          <p:cNvCxnSpPr/>
          <p:nvPr/>
        </p:nvCxnSpPr>
        <p:spPr>
          <a:xfrm rot="-1981432">
            <a:off x="888263" y="4405789"/>
            <a:ext cx="795223" cy="0"/>
          </a:xfrm>
          <a:prstGeom prst="straightConnector1">
            <a:avLst/>
          </a:prstGeom>
          <a:noFill/>
          <a:ln cap="flat" cmpd="sng" w="19050">
            <a:solidFill>
              <a:srgbClr val="A64B4B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363" name="Google Shape;363;p11"/>
          <p:cNvCxnSpPr/>
          <p:nvPr/>
        </p:nvCxnSpPr>
        <p:spPr>
          <a:xfrm rot="-1845159">
            <a:off x="1564701" y="3990737"/>
            <a:ext cx="775848" cy="0"/>
          </a:xfrm>
          <a:prstGeom prst="straightConnector1">
            <a:avLst/>
          </a:prstGeom>
          <a:noFill/>
          <a:ln cap="flat" cmpd="sng" w="19050">
            <a:solidFill>
              <a:srgbClr val="A64B4B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364" name="Google Shape;364;p11"/>
          <p:cNvSpPr/>
          <p:nvPr/>
        </p:nvSpPr>
        <p:spPr>
          <a:xfrm>
            <a:off x="904875" y="4574858"/>
            <a:ext cx="95250" cy="95250"/>
          </a:xfrm>
          <a:prstGeom prst="ellipse">
            <a:avLst/>
          </a:prstGeom>
          <a:solidFill>
            <a:srgbClr val="A64B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11"/>
          <p:cNvSpPr/>
          <p:nvPr/>
        </p:nvSpPr>
        <p:spPr>
          <a:xfrm>
            <a:off x="1571625" y="4141470"/>
            <a:ext cx="95250" cy="95250"/>
          </a:xfrm>
          <a:prstGeom prst="ellipse">
            <a:avLst/>
          </a:prstGeom>
          <a:solidFill>
            <a:srgbClr val="A64B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11"/>
          <p:cNvSpPr/>
          <p:nvPr/>
        </p:nvSpPr>
        <p:spPr>
          <a:xfrm>
            <a:off x="2238375" y="3744754"/>
            <a:ext cx="95250" cy="95250"/>
          </a:xfrm>
          <a:prstGeom prst="ellipse">
            <a:avLst/>
          </a:prstGeom>
          <a:solidFill>
            <a:srgbClr val="A64B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11"/>
          <p:cNvSpPr/>
          <p:nvPr/>
        </p:nvSpPr>
        <p:spPr>
          <a:xfrm>
            <a:off x="3429000" y="5391150"/>
            <a:ext cx="1714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900"/>
              <a:buFont typeface="Arial"/>
              <a:buNone/>
            </a:pPr>
            <a:r>
              <a:rPr b="0" lang="en-US" sz="900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経過年数</a:t>
            </a:r>
            <a:endParaRPr/>
          </a:p>
        </p:txBody>
      </p:sp>
      <p:sp>
        <p:nvSpPr>
          <p:cNvPr id="368" name="Google Shape;368;p11"/>
          <p:cNvSpPr/>
          <p:nvPr/>
        </p:nvSpPr>
        <p:spPr>
          <a:xfrm>
            <a:off x="8096250" y="1733550"/>
            <a:ext cx="3409950" cy="3752850"/>
          </a:xfrm>
          <a:prstGeom prst="roundRect">
            <a:avLst>
              <a:gd fmla="val 4469" name="adj"/>
            </a:avLst>
          </a:prstGeom>
          <a:solidFill>
            <a:srgbClr val="FFFFFF"/>
          </a:solidFill>
          <a:ln cap="flat" cmpd="sng" w="9525">
            <a:solidFill>
              <a:srgbClr val="D9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11"/>
          <p:cNvSpPr/>
          <p:nvPr/>
        </p:nvSpPr>
        <p:spPr>
          <a:xfrm>
            <a:off x="8362950" y="1981200"/>
            <a:ext cx="2895600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152255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152255"/>
                </a:solidFill>
                <a:latin typeface="Arial"/>
                <a:ea typeface="Arial"/>
                <a:cs typeface="Arial"/>
                <a:sym typeface="Arial"/>
              </a:rPr>
              <a:t>成果主義だから、</a:t>
            </a:r>
            <a:endParaRPr/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152255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152255"/>
                </a:solidFill>
                <a:latin typeface="Arial"/>
                <a:ea typeface="Arial"/>
                <a:cs typeface="Arial"/>
                <a:sym typeface="Arial"/>
              </a:rPr>
              <a:t>上がり下がりもある。</a:t>
            </a:r>
            <a:endParaRPr/>
          </a:p>
        </p:txBody>
      </p:sp>
      <p:sp>
        <p:nvSpPr>
          <p:cNvPr id="370" name="Google Shape;370;p11"/>
          <p:cNvSpPr/>
          <p:nvPr/>
        </p:nvSpPr>
        <p:spPr>
          <a:xfrm>
            <a:off x="8382000" y="2876550"/>
            <a:ext cx="114300" cy="114300"/>
          </a:xfrm>
          <a:prstGeom prst="roundRect">
            <a:avLst>
              <a:gd fmla="val 50000" name="adj"/>
            </a:avLst>
          </a:prstGeom>
          <a:solidFill>
            <a:srgbClr val="1522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11"/>
          <p:cNvSpPr/>
          <p:nvPr/>
        </p:nvSpPr>
        <p:spPr>
          <a:xfrm>
            <a:off x="8610600" y="2781300"/>
            <a:ext cx="26479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4054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344054"/>
                </a:solidFill>
                <a:latin typeface="Arial"/>
                <a:ea typeface="Arial"/>
                <a:cs typeface="Arial"/>
                <a:sym typeface="Arial"/>
              </a:rPr>
              <a:t>A｜350万から1,484万（11年目・4.2倍）</a:t>
            </a:r>
            <a:endParaRPr/>
          </a:p>
        </p:txBody>
      </p:sp>
      <p:sp>
        <p:nvSpPr>
          <p:cNvPr id="372" name="Google Shape;372;p11"/>
          <p:cNvSpPr/>
          <p:nvPr/>
        </p:nvSpPr>
        <p:spPr>
          <a:xfrm>
            <a:off x="8382000" y="3343275"/>
            <a:ext cx="114300" cy="114300"/>
          </a:xfrm>
          <a:prstGeom prst="roundRect">
            <a:avLst>
              <a:gd fmla="val 50000" name="adj"/>
            </a:avLst>
          </a:prstGeom>
          <a:solidFill>
            <a:srgbClr val="4D79C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11"/>
          <p:cNvSpPr/>
          <p:nvPr/>
        </p:nvSpPr>
        <p:spPr>
          <a:xfrm>
            <a:off x="8610600" y="3248025"/>
            <a:ext cx="26479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4054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344054"/>
                </a:solidFill>
                <a:latin typeface="Arial"/>
                <a:ea typeface="Arial"/>
                <a:cs typeface="Arial"/>
                <a:sym typeface="Arial"/>
              </a:rPr>
              <a:t>B｜440万から1,307万（8年目・3.0倍）</a:t>
            </a:r>
            <a:endParaRPr/>
          </a:p>
        </p:txBody>
      </p:sp>
      <p:sp>
        <p:nvSpPr>
          <p:cNvPr id="374" name="Google Shape;374;p11"/>
          <p:cNvSpPr/>
          <p:nvPr/>
        </p:nvSpPr>
        <p:spPr>
          <a:xfrm>
            <a:off x="8382000" y="3810000"/>
            <a:ext cx="114300" cy="114300"/>
          </a:xfrm>
          <a:prstGeom prst="roundRect">
            <a:avLst>
              <a:gd fmla="val 50000" name="adj"/>
            </a:avLst>
          </a:prstGeom>
          <a:solidFill>
            <a:srgbClr val="F474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11"/>
          <p:cNvSpPr/>
          <p:nvPr/>
        </p:nvSpPr>
        <p:spPr>
          <a:xfrm>
            <a:off x="8610600" y="3714750"/>
            <a:ext cx="26479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4054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344054"/>
                </a:solidFill>
                <a:latin typeface="Arial"/>
                <a:ea typeface="Arial"/>
                <a:cs typeface="Arial"/>
                <a:sym typeface="Arial"/>
              </a:rPr>
              <a:t>C｜4年目1,357万／5年目で課長</a:t>
            </a:r>
            <a:endParaRPr/>
          </a:p>
        </p:txBody>
      </p:sp>
      <p:sp>
        <p:nvSpPr>
          <p:cNvPr id="376" name="Google Shape;376;p11"/>
          <p:cNvSpPr/>
          <p:nvPr/>
        </p:nvSpPr>
        <p:spPr>
          <a:xfrm>
            <a:off x="8382000" y="4276725"/>
            <a:ext cx="114300" cy="114300"/>
          </a:xfrm>
          <a:prstGeom prst="roundRect">
            <a:avLst>
              <a:gd fmla="val 50000" name="adj"/>
            </a:avLst>
          </a:prstGeom>
          <a:solidFill>
            <a:srgbClr val="66708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11"/>
          <p:cNvSpPr/>
          <p:nvPr/>
        </p:nvSpPr>
        <p:spPr>
          <a:xfrm>
            <a:off x="8610600" y="4181475"/>
            <a:ext cx="26479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4054"/>
              </a:buClr>
              <a:buSzPts val="1050"/>
              <a:buFont typeface="Arial"/>
              <a:buNone/>
            </a:pPr>
            <a:r>
              <a:rPr b="0" lang="en-US" sz="1050">
                <a:solidFill>
                  <a:srgbClr val="344054"/>
                </a:solidFill>
                <a:latin typeface="Arial"/>
                <a:ea typeface="Arial"/>
                <a:cs typeface="Arial"/>
                <a:sym typeface="Arial"/>
              </a:rPr>
              <a:t>D｜4年目1,251万から9年目492万</a:t>
            </a:r>
            <a:endParaRPr/>
          </a:p>
        </p:txBody>
      </p:sp>
      <p:sp>
        <p:nvSpPr>
          <p:cNvPr id="378" name="Google Shape;378;p11"/>
          <p:cNvSpPr/>
          <p:nvPr/>
        </p:nvSpPr>
        <p:spPr>
          <a:xfrm>
            <a:off x="8382000" y="4743450"/>
            <a:ext cx="114300" cy="114300"/>
          </a:xfrm>
          <a:prstGeom prst="roundRect">
            <a:avLst>
              <a:gd fmla="val 50000" name="adj"/>
            </a:avLst>
          </a:prstGeom>
          <a:solidFill>
            <a:srgbClr val="A64B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11"/>
          <p:cNvSpPr/>
          <p:nvPr/>
        </p:nvSpPr>
        <p:spPr>
          <a:xfrm>
            <a:off x="8610600" y="4648200"/>
            <a:ext cx="26479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4054"/>
              </a:buClr>
              <a:buSzPts val="1050"/>
              <a:buFont typeface="Arial"/>
              <a:buNone/>
            </a:pPr>
            <a:r>
              <a:rPr b="0" lang="en-US" sz="1050">
                <a:solidFill>
                  <a:srgbClr val="344054"/>
                </a:solidFill>
                <a:latin typeface="Arial"/>
                <a:ea typeface="Arial"/>
                <a:cs typeface="Arial"/>
                <a:sym typeface="Arial"/>
              </a:rPr>
              <a:t>E｜3年目822万</a:t>
            </a:r>
            <a:endParaRPr/>
          </a:p>
        </p:txBody>
      </p:sp>
      <p:sp>
        <p:nvSpPr>
          <p:cNvPr id="380" name="Google Shape;380;p11"/>
          <p:cNvSpPr/>
          <p:nvPr/>
        </p:nvSpPr>
        <p:spPr>
          <a:xfrm>
            <a:off x="533400" y="5810250"/>
            <a:ext cx="109728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975"/>
              <a:buFont typeface="Arial"/>
              <a:buNone/>
            </a:pPr>
            <a:r>
              <a:rPr b="0" lang="en-US" sz="975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注：数値は実在5名の社内実績。未集計年は前後の実績値を線で結んで表示。将来の年収を保証するものではありません。</a:t>
            </a:r>
            <a:endParaRPr/>
          </a:p>
        </p:txBody>
      </p:sp>
      <p:pic>
        <p:nvPicPr>
          <p:cNvPr id="381" name="Google Shape;381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11399" y="119051"/>
            <a:ext cx="2095500" cy="4450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F0"/>
        </a:solidFill>
      </p:bgPr>
    </p:bg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12"/>
          <p:cNvSpPr/>
          <p:nvPr/>
        </p:nvSpPr>
        <p:spPr>
          <a:xfrm>
            <a:off x="533400" y="276225"/>
            <a:ext cx="76200" cy="238125"/>
          </a:xfrm>
          <a:prstGeom prst="roundRect">
            <a:avLst>
              <a:gd fmla="val 50000" name="adj"/>
            </a:avLst>
          </a:prstGeom>
          <a:solidFill>
            <a:srgbClr val="F474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12"/>
          <p:cNvSpPr/>
          <p:nvPr/>
        </p:nvSpPr>
        <p:spPr>
          <a:xfrm>
            <a:off x="742950" y="2667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125"/>
              <a:buFont typeface="Arial"/>
              <a:buNone/>
            </a:pPr>
            <a:r>
              <a:rPr b="1" lang="en-US" sz="1125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05｜育成の現実</a:t>
            </a:r>
            <a:endParaRPr/>
          </a:p>
        </p:txBody>
      </p:sp>
      <p:sp>
        <p:nvSpPr>
          <p:cNvPr id="389" name="Google Shape;389;p12"/>
          <p:cNvSpPr/>
          <p:nvPr/>
        </p:nvSpPr>
        <p:spPr>
          <a:xfrm>
            <a:off x="533400" y="723900"/>
            <a:ext cx="106680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55"/>
              </a:buClr>
              <a:buSzPts val="2925"/>
              <a:buFont typeface="Arial"/>
              <a:buNone/>
            </a:pPr>
            <a:r>
              <a:rPr b="1" lang="en-US" sz="2925">
                <a:solidFill>
                  <a:srgbClr val="152255"/>
                </a:solidFill>
                <a:latin typeface="Arial"/>
                <a:ea typeface="Arial"/>
                <a:cs typeface="Arial"/>
                <a:sym typeface="Arial"/>
              </a:rPr>
              <a:t>3か月で別人になるために、打席と支援を増やす</a:t>
            </a:r>
            <a:endParaRPr/>
          </a:p>
        </p:txBody>
      </p:sp>
      <p:cxnSp>
        <p:nvCxnSpPr>
          <p:cNvPr id="390" name="Google Shape;390;p12"/>
          <p:cNvCxnSpPr/>
          <p:nvPr/>
        </p:nvCxnSpPr>
        <p:spPr>
          <a:xfrm>
            <a:off x="533400" y="6315075"/>
            <a:ext cx="11125200" cy="0"/>
          </a:xfrm>
          <a:prstGeom prst="straightConnector1">
            <a:avLst/>
          </a:prstGeom>
          <a:noFill/>
          <a:ln cap="flat" cmpd="sng" w="9525">
            <a:solidFill>
              <a:srgbClr val="D9DE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1" name="Google Shape;391;p12"/>
          <p:cNvSpPr/>
          <p:nvPr/>
        </p:nvSpPr>
        <p:spPr>
          <a:xfrm>
            <a:off x="533400" y="6448425"/>
            <a:ext cx="88582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825"/>
              <a:buFont typeface="Arial"/>
              <a:buNone/>
            </a:pPr>
            <a:r>
              <a:rPr b="0" lang="en-US" sz="825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TOKYO BIG HOUSE 最終面接資料｜社外秘・面接時のみ提示</a:t>
            </a:r>
            <a:endParaRPr/>
          </a:p>
        </p:txBody>
      </p:sp>
      <p:sp>
        <p:nvSpPr>
          <p:cNvPr id="392" name="Google Shape;392;p12"/>
          <p:cNvSpPr/>
          <p:nvPr/>
        </p:nvSpPr>
        <p:spPr>
          <a:xfrm>
            <a:off x="10744200" y="6419850"/>
            <a:ext cx="9144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55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152255"/>
                </a:solidFill>
                <a:latin typeface="Arial"/>
                <a:ea typeface="Arial"/>
                <a:cs typeface="Arial"/>
                <a:sym typeface="Arial"/>
              </a:rPr>
              <a:t>P.10</a:t>
            </a:r>
            <a:endParaRPr/>
          </a:p>
        </p:txBody>
      </p:sp>
      <p:sp>
        <p:nvSpPr>
          <p:cNvPr id="393" name="Google Shape;393;p12"/>
          <p:cNvSpPr/>
          <p:nvPr/>
        </p:nvSpPr>
        <p:spPr>
          <a:xfrm>
            <a:off x="533400" y="1390650"/>
            <a:ext cx="11125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4054"/>
              </a:buClr>
              <a:buSzPts val="1425"/>
              <a:buFont typeface="Arial"/>
              <a:buNone/>
            </a:pPr>
            <a:r>
              <a:rPr b="1" lang="en-US" sz="1425">
                <a:solidFill>
                  <a:srgbClr val="344054"/>
                </a:solidFill>
                <a:latin typeface="Arial"/>
                <a:ea typeface="Arial"/>
                <a:cs typeface="Arial"/>
                <a:sym typeface="Arial"/>
              </a:rPr>
              <a:t>「手厚いから安心」ではなく、「本気で鍛える修行」。</a:t>
            </a:r>
            <a:endParaRPr/>
          </a:p>
        </p:txBody>
      </p:sp>
      <p:sp>
        <p:nvSpPr>
          <p:cNvPr id="394" name="Google Shape;394;p12"/>
          <p:cNvSpPr/>
          <p:nvPr/>
        </p:nvSpPr>
        <p:spPr>
          <a:xfrm>
            <a:off x="533400" y="1885950"/>
            <a:ext cx="5219700" cy="3314700"/>
          </a:xfrm>
          <a:prstGeom prst="roundRect">
            <a:avLst>
              <a:gd fmla="val 5172" name="adj"/>
            </a:avLst>
          </a:prstGeom>
          <a:solidFill>
            <a:srgbClr val="FFFFFF"/>
          </a:solidFill>
          <a:ln cap="flat" cmpd="sng" w="9525">
            <a:solidFill>
              <a:srgbClr val="D9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12"/>
          <p:cNvSpPr/>
          <p:nvPr/>
        </p:nvSpPr>
        <p:spPr>
          <a:xfrm>
            <a:off x="819150" y="211455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7421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F47421"/>
                </a:solidFill>
                <a:latin typeface="Arial"/>
                <a:ea typeface="Arial"/>
                <a:cs typeface="Arial"/>
                <a:sym typeface="Arial"/>
              </a:rPr>
              <a:t>TRAINING</a:t>
            </a:r>
            <a:endParaRPr/>
          </a:p>
        </p:txBody>
      </p:sp>
      <p:sp>
        <p:nvSpPr>
          <p:cNvPr id="396" name="Google Shape;396;p12"/>
          <p:cNvSpPr/>
          <p:nvPr/>
        </p:nvSpPr>
        <p:spPr>
          <a:xfrm>
            <a:off x="819150" y="2419350"/>
            <a:ext cx="2095500" cy="70485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7421"/>
              </a:buClr>
              <a:buSzPts val="4200"/>
              <a:buFont typeface="Arial"/>
              <a:buNone/>
            </a:pPr>
            <a:r>
              <a:rPr b="1" lang="en-US" sz="4200">
                <a:solidFill>
                  <a:srgbClr val="F47421"/>
                </a:solidFill>
                <a:latin typeface="Arial"/>
                <a:ea typeface="Arial"/>
                <a:cs typeface="Arial"/>
                <a:sym typeface="Arial"/>
              </a:rPr>
              <a:t>250</a:t>
            </a:r>
            <a:endParaRPr/>
          </a:p>
        </p:txBody>
      </p:sp>
      <p:sp>
        <p:nvSpPr>
          <p:cNvPr id="397" name="Google Shape;397;p12"/>
          <p:cNvSpPr/>
          <p:nvPr/>
        </p:nvSpPr>
        <p:spPr>
          <a:xfrm>
            <a:off x="2171700" y="2733675"/>
            <a:ext cx="6667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55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152255"/>
                </a:solidFill>
                <a:latin typeface="Arial"/>
                <a:ea typeface="Arial"/>
                <a:cs typeface="Arial"/>
                <a:sym typeface="Arial"/>
              </a:rPr>
              <a:t>時間</a:t>
            </a:r>
            <a:endParaRPr/>
          </a:p>
        </p:txBody>
      </p:sp>
      <p:sp>
        <p:nvSpPr>
          <p:cNvPr id="398" name="Google Shape;398;p12"/>
          <p:cNvSpPr/>
          <p:nvPr/>
        </p:nvSpPr>
        <p:spPr>
          <a:xfrm>
            <a:off x="819150" y="3200400"/>
            <a:ext cx="209550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344054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344054"/>
                </a:solidFill>
                <a:latin typeface="Arial"/>
                <a:ea typeface="Arial"/>
                <a:cs typeface="Arial"/>
                <a:sym typeface="Arial"/>
              </a:rPr>
              <a:t>年間の育成時間を</a:t>
            </a:r>
            <a:endParaRPr/>
          </a:p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344054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344054"/>
                </a:solidFill>
                <a:latin typeface="Arial"/>
                <a:ea typeface="Arial"/>
                <a:cs typeface="Arial"/>
                <a:sym typeface="Arial"/>
              </a:rPr>
              <a:t>徹底的に確保</a:t>
            </a:r>
            <a:endParaRPr/>
          </a:p>
        </p:txBody>
      </p:sp>
      <p:cxnSp>
        <p:nvCxnSpPr>
          <p:cNvPr id="399" name="Google Shape;399;p12"/>
          <p:cNvCxnSpPr/>
          <p:nvPr/>
        </p:nvCxnSpPr>
        <p:spPr>
          <a:xfrm>
            <a:off x="3067050" y="2457450"/>
            <a:ext cx="0" cy="2095500"/>
          </a:xfrm>
          <a:prstGeom prst="straightConnector1">
            <a:avLst/>
          </a:prstGeom>
          <a:noFill/>
          <a:ln cap="flat" cmpd="sng" w="19050">
            <a:solidFill>
              <a:srgbClr val="D9DE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0" name="Google Shape;400;p12"/>
          <p:cNvSpPr/>
          <p:nvPr/>
        </p:nvSpPr>
        <p:spPr>
          <a:xfrm>
            <a:off x="3371850" y="2419350"/>
            <a:ext cx="2000250" cy="70485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7421"/>
              </a:buClr>
              <a:buSzPts val="4200"/>
              <a:buFont typeface="Arial"/>
              <a:buNone/>
            </a:pPr>
            <a:r>
              <a:rPr b="1" lang="en-US" sz="4200">
                <a:solidFill>
                  <a:srgbClr val="F47421"/>
                </a:solidFill>
                <a:latin typeface="Arial"/>
                <a:ea typeface="Arial"/>
                <a:cs typeface="Arial"/>
                <a:sym typeface="Arial"/>
              </a:rPr>
              <a:t>14</a:t>
            </a:r>
            <a:endParaRPr/>
          </a:p>
        </p:txBody>
      </p:sp>
      <p:sp>
        <p:nvSpPr>
          <p:cNvPr id="401" name="Google Shape;401;p12"/>
          <p:cNvSpPr/>
          <p:nvPr/>
        </p:nvSpPr>
        <p:spPr>
          <a:xfrm>
            <a:off x="4457700" y="2733675"/>
            <a:ext cx="6667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55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152255"/>
                </a:solidFill>
                <a:latin typeface="Arial"/>
                <a:ea typeface="Arial"/>
                <a:cs typeface="Arial"/>
                <a:sym typeface="Arial"/>
              </a:rPr>
              <a:t>日</a:t>
            </a:r>
            <a:endParaRPr/>
          </a:p>
        </p:txBody>
      </p:sp>
      <p:sp>
        <p:nvSpPr>
          <p:cNvPr id="402" name="Google Shape;402;p12"/>
          <p:cNvSpPr/>
          <p:nvPr/>
        </p:nvSpPr>
        <p:spPr>
          <a:xfrm>
            <a:off x="3371850" y="3200400"/>
            <a:ext cx="20002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344054"/>
              </a:buClr>
              <a:buSzPts val="1275"/>
              <a:buFont typeface="Arial"/>
              <a:buNone/>
            </a:pPr>
            <a:r>
              <a:rPr b="1" lang="en-US" sz="1275">
                <a:solidFill>
                  <a:srgbClr val="344054"/>
                </a:solidFill>
                <a:latin typeface="Arial"/>
                <a:ea typeface="Arial"/>
                <a:cs typeface="Arial"/>
                <a:sym typeface="Arial"/>
              </a:rPr>
              <a:t>入社後の導入研修</a:t>
            </a:r>
            <a:endParaRPr/>
          </a:p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344054"/>
              </a:buClr>
              <a:buSzPts val="1275"/>
              <a:buFont typeface="Arial"/>
              <a:buNone/>
            </a:pPr>
            <a:r>
              <a:rPr b="1" lang="en-US" sz="1275">
                <a:solidFill>
                  <a:srgbClr val="344054"/>
                </a:solidFill>
                <a:latin typeface="Arial"/>
                <a:ea typeface="Arial"/>
                <a:cs typeface="Arial"/>
                <a:sym typeface="Arial"/>
              </a:rPr>
              <a:t>会社・営業・商品・業界理解</a:t>
            </a:r>
            <a:endParaRPr/>
          </a:p>
        </p:txBody>
      </p:sp>
      <p:sp>
        <p:nvSpPr>
          <p:cNvPr id="403" name="Google Shape;403;p12"/>
          <p:cNvSpPr/>
          <p:nvPr/>
        </p:nvSpPr>
        <p:spPr>
          <a:xfrm>
            <a:off x="819150" y="4248150"/>
            <a:ext cx="4552950" cy="590550"/>
          </a:xfrm>
          <a:prstGeom prst="roundRect">
            <a:avLst>
              <a:gd fmla="val 16129" name="adj"/>
            </a:avLst>
          </a:prstGeom>
          <a:solidFill>
            <a:srgbClr val="FFF0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12"/>
          <p:cNvSpPr/>
          <p:nvPr/>
        </p:nvSpPr>
        <p:spPr>
          <a:xfrm>
            <a:off x="1028700" y="4362450"/>
            <a:ext cx="41338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55"/>
              </a:buClr>
              <a:buSzPts val="1425"/>
              <a:buFont typeface="Arial"/>
              <a:buNone/>
            </a:pPr>
            <a:r>
              <a:rPr b="1" lang="en-US" sz="1425">
                <a:solidFill>
                  <a:srgbClr val="152255"/>
                </a:solidFill>
                <a:latin typeface="Arial"/>
                <a:ea typeface="Arial"/>
                <a:cs typeface="Arial"/>
                <a:sym typeface="Arial"/>
              </a:rPr>
              <a:t>毎日：KPI振り返り＋定期的な個別面談</a:t>
            </a:r>
            <a:endParaRPr/>
          </a:p>
        </p:txBody>
      </p:sp>
      <p:sp>
        <p:nvSpPr>
          <p:cNvPr id="405" name="Google Shape;405;p12"/>
          <p:cNvSpPr/>
          <p:nvPr/>
        </p:nvSpPr>
        <p:spPr>
          <a:xfrm>
            <a:off x="6019800" y="1885950"/>
            <a:ext cx="5638800" cy="3314700"/>
          </a:xfrm>
          <a:prstGeom prst="roundRect">
            <a:avLst>
              <a:gd fmla="val 5172" name="adj"/>
            </a:avLst>
          </a:prstGeom>
          <a:solidFill>
            <a:srgbClr val="1522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12"/>
          <p:cNvSpPr/>
          <p:nvPr/>
        </p:nvSpPr>
        <p:spPr>
          <a:xfrm>
            <a:off x="6305550" y="2114550"/>
            <a:ext cx="25717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8C0DB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B8C0DB"/>
                </a:solidFill>
                <a:latin typeface="Arial"/>
                <a:ea typeface="Arial"/>
                <a:cs typeface="Arial"/>
                <a:sym typeface="Arial"/>
              </a:rPr>
              <a:t>SUPPORT &amp; REPETITION</a:t>
            </a:r>
            <a:endParaRPr/>
          </a:p>
        </p:txBody>
      </p:sp>
      <p:sp>
        <p:nvSpPr>
          <p:cNvPr id="407" name="Google Shape;407;p12"/>
          <p:cNvSpPr/>
          <p:nvPr/>
        </p:nvSpPr>
        <p:spPr>
          <a:xfrm>
            <a:off x="6305550" y="2419350"/>
            <a:ext cx="1619250" cy="70485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7421"/>
              </a:buClr>
              <a:buSzPts val="3900"/>
              <a:buFont typeface="Arial"/>
              <a:buNone/>
            </a:pPr>
            <a:r>
              <a:rPr b="1" lang="en-US" sz="3900">
                <a:solidFill>
                  <a:srgbClr val="F4742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  <p:sp>
        <p:nvSpPr>
          <p:cNvPr id="408" name="Google Shape;408;p12"/>
          <p:cNvSpPr/>
          <p:nvPr/>
        </p:nvSpPr>
        <p:spPr>
          <a:xfrm>
            <a:off x="6953250" y="2733675"/>
            <a:ext cx="6667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本/日</a:t>
            </a:r>
            <a:endParaRPr/>
          </a:p>
        </p:txBody>
      </p:sp>
      <p:sp>
        <p:nvSpPr>
          <p:cNvPr id="409" name="Google Shape;409;p12"/>
          <p:cNvSpPr/>
          <p:nvPr/>
        </p:nvSpPr>
        <p:spPr>
          <a:xfrm>
            <a:off x="6305550" y="3200400"/>
            <a:ext cx="16192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5"/>
              <a:buFont typeface="Arial"/>
              <a:buNone/>
            </a:pPr>
            <a:r>
              <a:rPr b="1" lang="en-US" sz="112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お手本トークを模倣</a:t>
            </a:r>
            <a:endParaRPr/>
          </a:p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5"/>
              <a:buFont typeface="Arial"/>
              <a:buNone/>
            </a:pPr>
            <a:r>
              <a:rPr b="1" lang="en-US" sz="112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自分で録画して提出</a:t>
            </a:r>
            <a:endParaRPr/>
          </a:p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5"/>
              <a:buFont typeface="Arial"/>
              <a:buNone/>
            </a:pPr>
            <a:r>
              <a:rPr b="1" lang="en-US" sz="112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AI・上長がFB</a:t>
            </a:r>
            <a:endParaRPr/>
          </a:p>
        </p:txBody>
      </p:sp>
      <p:cxnSp>
        <p:nvCxnSpPr>
          <p:cNvPr id="410" name="Google Shape;410;p12"/>
          <p:cNvCxnSpPr/>
          <p:nvPr/>
        </p:nvCxnSpPr>
        <p:spPr>
          <a:xfrm>
            <a:off x="8096250" y="2438400"/>
            <a:ext cx="0" cy="1066800"/>
          </a:xfrm>
          <a:prstGeom prst="straightConnector1">
            <a:avLst/>
          </a:prstGeom>
          <a:noFill/>
          <a:ln cap="flat" cmpd="sng" w="19050">
            <a:solidFill>
              <a:srgbClr val="42507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1" name="Google Shape;411;p12"/>
          <p:cNvSpPr/>
          <p:nvPr/>
        </p:nvSpPr>
        <p:spPr>
          <a:xfrm>
            <a:off x="8401050" y="2419350"/>
            <a:ext cx="1428750" cy="70485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7421"/>
              </a:buClr>
              <a:buSzPts val="3900"/>
              <a:buFont typeface="Arial"/>
              <a:buNone/>
            </a:pPr>
            <a:r>
              <a:rPr b="1" lang="en-US" sz="3900">
                <a:solidFill>
                  <a:srgbClr val="F47421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/>
          </a:p>
        </p:txBody>
      </p:sp>
      <p:sp>
        <p:nvSpPr>
          <p:cNvPr id="412" name="Google Shape;412;p12"/>
          <p:cNvSpPr/>
          <p:nvPr/>
        </p:nvSpPr>
        <p:spPr>
          <a:xfrm>
            <a:off x="9010650" y="2733675"/>
            <a:ext cx="6667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人</a:t>
            </a:r>
            <a:endParaRPr/>
          </a:p>
        </p:txBody>
      </p:sp>
      <p:sp>
        <p:nvSpPr>
          <p:cNvPr id="413" name="Google Shape;413;p12"/>
          <p:cNvSpPr/>
          <p:nvPr/>
        </p:nvSpPr>
        <p:spPr>
          <a:xfrm>
            <a:off x="8401050" y="3200400"/>
            <a:ext cx="14287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1人を支える</a:t>
            </a:r>
            <a:endParaRPr/>
          </a:p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サポート人数</a:t>
            </a:r>
            <a:endParaRPr/>
          </a:p>
        </p:txBody>
      </p:sp>
      <p:cxnSp>
        <p:nvCxnSpPr>
          <p:cNvPr id="414" name="Google Shape;414;p12"/>
          <p:cNvCxnSpPr/>
          <p:nvPr/>
        </p:nvCxnSpPr>
        <p:spPr>
          <a:xfrm>
            <a:off x="9982200" y="2438400"/>
            <a:ext cx="0" cy="1066800"/>
          </a:xfrm>
          <a:prstGeom prst="straightConnector1">
            <a:avLst/>
          </a:prstGeom>
          <a:noFill/>
          <a:ln cap="flat" cmpd="sng" w="19050">
            <a:solidFill>
              <a:srgbClr val="42507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5" name="Google Shape;415;p12"/>
          <p:cNvSpPr/>
          <p:nvPr/>
        </p:nvSpPr>
        <p:spPr>
          <a:xfrm>
            <a:off x="10210800" y="2419350"/>
            <a:ext cx="1200150" cy="70485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7421"/>
              </a:buClr>
              <a:buSzPts val="2700"/>
              <a:buFont typeface="Arial"/>
              <a:buNone/>
            </a:pPr>
            <a:r>
              <a:rPr b="1" lang="en-US" sz="2700">
                <a:solidFill>
                  <a:srgbClr val="F47421"/>
                </a:solidFill>
                <a:latin typeface="Arial"/>
                <a:ea typeface="Arial"/>
                <a:cs typeface="Arial"/>
                <a:sym typeface="Arial"/>
              </a:rPr>
              <a:t>2,000</a:t>
            </a:r>
            <a:endParaRPr/>
          </a:p>
        </p:txBody>
      </p:sp>
      <p:sp>
        <p:nvSpPr>
          <p:cNvPr id="416" name="Google Shape;416;p12"/>
          <p:cNvSpPr/>
          <p:nvPr/>
        </p:nvSpPr>
        <p:spPr>
          <a:xfrm>
            <a:off x="10210800" y="3200400"/>
            <a:ext cx="12001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5"/>
              <a:buFont typeface="Arial"/>
              <a:buNone/>
            </a:pPr>
            <a:r>
              <a:rPr b="1" lang="en-US" sz="112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戸/月</a:t>
            </a:r>
            <a:endParaRPr/>
          </a:p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5"/>
              <a:buFont typeface="Arial"/>
              <a:buNone/>
            </a:pPr>
            <a:r>
              <a:rPr b="1" lang="en-US" sz="112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打席に立つ回数</a:t>
            </a:r>
            <a:endParaRPr/>
          </a:p>
        </p:txBody>
      </p:sp>
      <p:sp>
        <p:nvSpPr>
          <p:cNvPr id="417" name="Google Shape;417;p12"/>
          <p:cNvSpPr/>
          <p:nvPr/>
        </p:nvSpPr>
        <p:spPr>
          <a:xfrm>
            <a:off x="6324600" y="4191000"/>
            <a:ext cx="5029200" cy="5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E1F0"/>
              </a:buClr>
              <a:buSzPts val="1125"/>
              <a:buFont typeface="Arial"/>
              <a:buNone/>
            </a:pPr>
            <a:r>
              <a:rPr b="0" lang="en-US" sz="1125">
                <a:solidFill>
                  <a:srgbClr val="DCE1F0"/>
                </a:solidFill>
                <a:latin typeface="Arial"/>
                <a:ea typeface="Arial"/>
                <a:cs typeface="Arial"/>
                <a:sym typeface="Arial"/>
              </a:rPr>
              <a:t>リーダー／課長／人事／育成担当／メンター／営業サポート課長</a:t>
            </a:r>
            <a:endParaRPr b="0" sz="1125">
              <a:solidFill>
                <a:srgbClr val="DCE1F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E1F0"/>
              </a:buClr>
              <a:buSzPts val="1125"/>
              <a:buFont typeface="Arial"/>
              <a:buNone/>
            </a:pPr>
            <a:r>
              <a:rPr lang="en-US" sz="1125">
                <a:solidFill>
                  <a:srgbClr val="DCE1F0"/>
                </a:solidFill>
              </a:rPr>
              <a:t>6人体制であなたの成長に本気で関わります</a:t>
            </a:r>
            <a:endParaRPr sz="1125">
              <a:solidFill>
                <a:srgbClr val="DCE1F0"/>
              </a:solidFill>
            </a:endParaRPr>
          </a:p>
        </p:txBody>
      </p:sp>
      <p:sp>
        <p:nvSpPr>
          <p:cNvPr id="418" name="Google Shape;418;p12"/>
          <p:cNvSpPr/>
          <p:nvPr/>
        </p:nvSpPr>
        <p:spPr>
          <a:xfrm>
            <a:off x="533400" y="5524500"/>
            <a:ext cx="111252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7421"/>
              </a:buClr>
              <a:buSzPts val="1725"/>
              <a:buFont typeface="Arial"/>
              <a:buNone/>
            </a:pPr>
            <a:r>
              <a:rPr b="1" lang="en-US" sz="1725">
                <a:solidFill>
                  <a:srgbClr val="F47421"/>
                </a:solidFill>
                <a:latin typeface="Arial"/>
                <a:ea typeface="Arial"/>
                <a:cs typeface="Arial"/>
                <a:sym typeface="Arial"/>
              </a:rPr>
              <a:t>ラクな道はない。3か月で別人になる覚悟があるなら、徹底的に支える。</a:t>
            </a:r>
            <a:endParaRPr/>
          </a:p>
        </p:txBody>
      </p:sp>
      <p:sp>
        <p:nvSpPr>
          <p:cNvPr id="419" name="Google Shape;419;p12"/>
          <p:cNvSpPr/>
          <p:nvPr/>
        </p:nvSpPr>
        <p:spPr>
          <a:xfrm>
            <a:off x="10001250" y="6000750"/>
            <a:ext cx="16573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825"/>
              <a:buFont typeface="Arial"/>
              <a:buNone/>
            </a:pPr>
            <a:r>
              <a:rPr b="0" lang="en-US" sz="825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注：数値は社内集計</a:t>
            </a:r>
            <a:endParaRPr/>
          </a:p>
        </p:txBody>
      </p:sp>
      <p:pic>
        <p:nvPicPr>
          <p:cNvPr id="420" name="Google Shape;420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11399" y="119051"/>
            <a:ext cx="2095500" cy="4450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F0"/>
        </a:solidFill>
      </p:bgPr>
    </p:bg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13"/>
          <p:cNvSpPr/>
          <p:nvPr/>
        </p:nvSpPr>
        <p:spPr>
          <a:xfrm>
            <a:off x="533400" y="276225"/>
            <a:ext cx="76200" cy="238125"/>
          </a:xfrm>
          <a:prstGeom prst="roundRect">
            <a:avLst>
              <a:gd fmla="val 50000" name="adj"/>
            </a:avLst>
          </a:prstGeom>
          <a:solidFill>
            <a:srgbClr val="F474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13"/>
          <p:cNvSpPr/>
          <p:nvPr/>
        </p:nvSpPr>
        <p:spPr>
          <a:xfrm>
            <a:off x="742950" y="2667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125"/>
              <a:buFont typeface="Arial"/>
              <a:buNone/>
            </a:pPr>
            <a:r>
              <a:rPr b="1" lang="en-US" sz="1125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06｜仕事の意味</a:t>
            </a:r>
            <a:endParaRPr/>
          </a:p>
        </p:txBody>
      </p:sp>
      <p:sp>
        <p:nvSpPr>
          <p:cNvPr id="428" name="Google Shape;428;p13"/>
          <p:cNvSpPr/>
          <p:nvPr/>
        </p:nvSpPr>
        <p:spPr>
          <a:xfrm>
            <a:off x="762000" y="752475"/>
            <a:ext cx="10668000" cy="5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55"/>
              </a:buClr>
              <a:buSzPts val="3000"/>
              <a:buFont typeface="Arial"/>
              <a:buNone/>
            </a:pPr>
            <a:r>
              <a:rPr b="1" lang="en-US" sz="3000">
                <a:solidFill>
                  <a:srgbClr val="152255"/>
                </a:solidFill>
              </a:rPr>
              <a:t>誇りが持てる</a:t>
            </a:r>
            <a:r>
              <a:rPr b="1" lang="en-US" sz="3000">
                <a:solidFill>
                  <a:srgbClr val="152255"/>
                </a:solidFill>
                <a:latin typeface="Arial"/>
                <a:ea typeface="Arial"/>
                <a:cs typeface="Arial"/>
                <a:sym typeface="Arial"/>
              </a:rPr>
              <a:t>商品</a:t>
            </a:r>
            <a:r>
              <a:rPr b="1" lang="en-US" sz="3000">
                <a:solidFill>
                  <a:srgbClr val="152255"/>
                </a:solidFill>
              </a:rPr>
              <a:t>を売る。</a:t>
            </a:r>
            <a:endParaRPr/>
          </a:p>
        </p:txBody>
      </p:sp>
      <p:cxnSp>
        <p:nvCxnSpPr>
          <p:cNvPr id="429" name="Google Shape;429;p13"/>
          <p:cNvCxnSpPr/>
          <p:nvPr/>
        </p:nvCxnSpPr>
        <p:spPr>
          <a:xfrm>
            <a:off x="533400" y="6315075"/>
            <a:ext cx="11125200" cy="0"/>
          </a:xfrm>
          <a:prstGeom prst="straightConnector1">
            <a:avLst/>
          </a:prstGeom>
          <a:noFill/>
          <a:ln cap="flat" cmpd="sng" w="9525">
            <a:solidFill>
              <a:srgbClr val="D9DE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30" name="Google Shape;430;p13"/>
          <p:cNvSpPr/>
          <p:nvPr/>
        </p:nvSpPr>
        <p:spPr>
          <a:xfrm>
            <a:off x="533400" y="6448425"/>
            <a:ext cx="88582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825"/>
              <a:buFont typeface="Arial"/>
              <a:buNone/>
            </a:pPr>
            <a:r>
              <a:rPr b="0" lang="en-US" sz="825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TOKYO BIG HOUSE 最終面接資料｜社外秘・面接時のみ提示</a:t>
            </a:r>
            <a:endParaRPr/>
          </a:p>
        </p:txBody>
      </p:sp>
      <p:sp>
        <p:nvSpPr>
          <p:cNvPr id="431" name="Google Shape;431;p13"/>
          <p:cNvSpPr/>
          <p:nvPr/>
        </p:nvSpPr>
        <p:spPr>
          <a:xfrm>
            <a:off x="10744200" y="6419850"/>
            <a:ext cx="9144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55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152255"/>
                </a:solidFill>
                <a:latin typeface="Arial"/>
                <a:ea typeface="Arial"/>
                <a:cs typeface="Arial"/>
                <a:sym typeface="Arial"/>
              </a:rPr>
              <a:t>P.11</a:t>
            </a:r>
            <a:endParaRPr/>
          </a:p>
        </p:txBody>
      </p:sp>
      <p:sp>
        <p:nvSpPr>
          <p:cNvPr id="432" name="Google Shape;432;p13"/>
          <p:cNvSpPr/>
          <p:nvPr/>
        </p:nvSpPr>
        <p:spPr>
          <a:xfrm>
            <a:off x="533400" y="1543050"/>
            <a:ext cx="26670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7421"/>
              </a:buClr>
              <a:buSzPts val="1125"/>
              <a:buFont typeface="Arial"/>
              <a:buNone/>
            </a:pPr>
            <a:r>
              <a:rPr b="1" lang="en-US" sz="1125">
                <a:solidFill>
                  <a:srgbClr val="F47421"/>
                </a:solidFill>
                <a:latin typeface="Arial"/>
                <a:ea typeface="Arial"/>
                <a:cs typeface="Arial"/>
                <a:sym typeface="Arial"/>
              </a:rPr>
              <a:t>WHY NEW HOMES?</a:t>
            </a:r>
            <a:endParaRPr/>
          </a:p>
        </p:txBody>
      </p:sp>
      <p:sp>
        <p:nvSpPr>
          <p:cNvPr id="433" name="Google Shape;433;p13"/>
          <p:cNvSpPr/>
          <p:nvPr/>
        </p:nvSpPr>
        <p:spPr>
          <a:xfrm>
            <a:off x="533400" y="2038350"/>
            <a:ext cx="10572900" cy="10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52255"/>
              </a:buClr>
              <a:buSzPts val="2775"/>
              <a:buFont typeface="Arial"/>
              <a:buNone/>
            </a:pPr>
            <a:r>
              <a:rPr b="1" lang="en-US" sz="2775">
                <a:solidFill>
                  <a:srgbClr val="152255"/>
                </a:solidFill>
                <a:latin typeface="Arial"/>
                <a:ea typeface="Arial"/>
                <a:cs typeface="Arial"/>
                <a:sym typeface="Arial"/>
              </a:rPr>
              <a:t>私たち</a:t>
            </a:r>
            <a:r>
              <a:rPr b="1" lang="en-US" sz="2775">
                <a:solidFill>
                  <a:srgbClr val="152255"/>
                </a:solidFill>
              </a:rPr>
              <a:t>の仕事は、その人の「大切な資産を守る」ご提案です。</a:t>
            </a:r>
            <a:endParaRPr/>
          </a:p>
        </p:txBody>
      </p:sp>
      <p:sp>
        <p:nvSpPr>
          <p:cNvPr id="434" name="Google Shape;434;p13"/>
          <p:cNvSpPr/>
          <p:nvPr/>
        </p:nvSpPr>
        <p:spPr>
          <a:xfrm>
            <a:off x="533400" y="3371850"/>
            <a:ext cx="10572750" cy="1123950"/>
          </a:xfrm>
          <a:prstGeom prst="roundRect">
            <a:avLst>
              <a:gd fmla="val 13559" name="adj"/>
            </a:avLst>
          </a:prstGeom>
          <a:solidFill>
            <a:srgbClr val="1522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13"/>
          <p:cNvSpPr/>
          <p:nvPr/>
        </p:nvSpPr>
        <p:spPr>
          <a:xfrm>
            <a:off x="857250" y="3600450"/>
            <a:ext cx="9906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25"/>
              <a:buFont typeface="Arial"/>
              <a:buNone/>
            </a:pPr>
            <a:r>
              <a:rPr b="1" lang="en-US" sz="292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「家賃、もったいなくないですか」</a:t>
            </a:r>
            <a:endParaRPr/>
          </a:p>
        </p:txBody>
      </p:sp>
      <p:sp>
        <p:nvSpPr>
          <p:cNvPr id="436" name="Google Shape;436;p13"/>
          <p:cNvSpPr/>
          <p:nvPr/>
        </p:nvSpPr>
        <p:spPr>
          <a:xfrm>
            <a:off x="533400" y="4819650"/>
            <a:ext cx="91440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4054"/>
              </a:buClr>
              <a:buSzPts val="1500"/>
              <a:buFont typeface="Arial"/>
              <a:buNone/>
            </a:pPr>
            <a:r>
              <a:rPr b="0" lang="en-US" sz="1500">
                <a:solidFill>
                  <a:srgbClr val="344054"/>
                </a:solidFill>
                <a:latin typeface="Arial"/>
                <a:ea typeface="Arial"/>
                <a:cs typeface="Arial"/>
                <a:sym typeface="Arial"/>
              </a:rPr>
              <a:t>家賃は人生で一番高い支払い。それなのに、一番考えられていない。</a:t>
            </a:r>
            <a:endParaRPr/>
          </a:p>
        </p:txBody>
      </p:sp>
      <p:cxnSp>
        <p:nvCxnSpPr>
          <p:cNvPr id="437" name="Google Shape;437;p13"/>
          <p:cNvCxnSpPr/>
          <p:nvPr/>
        </p:nvCxnSpPr>
        <p:spPr>
          <a:xfrm>
            <a:off x="533400" y="5314950"/>
            <a:ext cx="8001000" cy="0"/>
          </a:xfrm>
          <a:prstGeom prst="straightConnector1">
            <a:avLst/>
          </a:prstGeom>
          <a:noFill/>
          <a:ln cap="flat" cmpd="sng" w="47625">
            <a:solidFill>
              <a:srgbClr val="F4742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38" name="Google Shape;438;p13"/>
          <p:cNvSpPr/>
          <p:nvPr/>
        </p:nvSpPr>
        <p:spPr>
          <a:xfrm>
            <a:off x="533400" y="5486400"/>
            <a:ext cx="85725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55"/>
              </a:buClr>
              <a:buSzPts val="1875"/>
              <a:buFont typeface="Arial"/>
              <a:buNone/>
            </a:pPr>
            <a:r>
              <a:rPr b="1" lang="en-US" sz="1875">
                <a:solidFill>
                  <a:srgbClr val="152255"/>
                </a:solidFill>
              </a:rPr>
              <a:t>この</a:t>
            </a:r>
            <a:r>
              <a:rPr b="1" lang="en-US" sz="1875">
                <a:solidFill>
                  <a:srgbClr val="152255"/>
                </a:solidFill>
                <a:latin typeface="Arial"/>
                <a:ea typeface="Arial"/>
                <a:cs typeface="Arial"/>
                <a:sym typeface="Arial"/>
              </a:rPr>
              <a:t>一言から、仕事が始まる。</a:t>
            </a:r>
            <a:endParaRPr/>
          </a:p>
        </p:txBody>
      </p:sp>
      <p:pic>
        <p:nvPicPr>
          <p:cNvPr id="439" name="Google Shape;439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11399" y="119051"/>
            <a:ext cx="2095500" cy="4450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F0"/>
        </a:solidFill>
      </p:bgPr>
    </p:bg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14"/>
          <p:cNvSpPr/>
          <p:nvPr/>
        </p:nvSpPr>
        <p:spPr>
          <a:xfrm>
            <a:off x="533400" y="276225"/>
            <a:ext cx="76200" cy="238125"/>
          </a:xfrm>
          <a:prstGeom prst="roundRect">
            <a:avLst>
              <a:gd fmla="val 50000" name="adj"/>
            </a:avLst>
          </a:prstGeom>
          <a:solidFill>
            <a:srgbClr val="F474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14"/>
          <p:cNvSpPr/>
          <p:nvPr/>
        </p:nvSpPr>
        <p:spPr>
          <a:xfrm>
            <a:off x="742950" y="2667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125"/>
              <a:buFont typeface="Arial"/>
              <a:buNone/>
            </a:pPr>
            <a:r>
              <a:rPr b="1" lang="en-US" sz="1125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07｜他の仕事との違い</a:t>
            </a:r>
            <a:endParaRPr/>
          </a:p>
        </p:txBody>
      </p:sp>
      <p:sp>
        <p:nvSpPr>
          <p:cNvPr id="447" name="Google Shape;447;p14"/>
          <p:cNvSpPr/>
          <p:nvPr/>
        </p:nvSpPr>
        <p:spPr>
          <a:xfrm>
            <a:off x="533400" y="723900"/>
            <a:ext cx="106680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55"/>
              </a:buClr>
              <a:buSzPts val="2925"/>
              <a:buFont typeface="Arial"/>
              <a:buNone/>
            </a:pPr>
            <a:r>
              <a:rPr b="1" lang="en-US" sz="2925">
                <a:solidFill>
                  <a:srgbClr val="152255"/>
                </a:solidFill>
                <a:latin typeface="Arial"/>
                <a:ea typeface="Arial"/>
                <a:cs typeface="Arial"/>
                <a:sym typeface="Arial"/>
              </a:rPr>
              <a:t>投資用不動産との違いは、10年後に残る力</a:t>
            </a:r>
            <a:endParaRPr/>
          </a:p>
        </p:txBody>
      </p:sp>
      <p:cxnSp>
        <p:nvCxnSpPr>
          <p:cNvPr id="448" name="Google Shape;448;p14"/>
          <p:cNvCxnSpPr/>
          <p:nvPr/>
        </p:nvCxnSpPr>
        <p:spPr>
          <a:xfrm>
            <a:off x="533400" y="6315075"/>
            <a:ext cx="11125200" cy="0"/>
          </a:xfrm>
          <a:prstGeom prst="straightConnector1">
            <a:avLst/>
          </a:prstGeom>
          <a:noFill/>
          <a:ln cap="flat" cmpd="sng" w="9525">
            <a:solidFill>
              <a:srgbClr val="D9DE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9" name="Google Shape;449;p14"/>
          <p:cNvSpPr/>
          <p:nvPr/>
        </p:nvSpPr>
        <p:spPr>
          <a:xfrm>
            <a:off x="533400" y="6448425"/>
            <a:ext cx="88582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825"/>
              <a:buFont typeface="Arial"/>
              <a:buNone/>
            </a:pPr>
            <a:r>
              <a:rPr b="0" lang="en-US" sz="825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TOKYO BIG HOUSE 最終面接資料｜社外秘・面接時のみ提示</a:t>
            </a:r>
            <a:endParaRPr/>
          </a:p>
        </p:txBody>
      </p:sp>
      <p:sp>
        <p:nvSpPr>
          <p:cNvPr id="450" name="Google Shape;450;p14"/>
          <p:cNvSpPr/>
          <p:nvPr/>
        </p:nvSpPr>
        <p:spPr>
          <a:xfrm>
            <a:off x="10744200" y="6419850"/>
            <a:ext cx="9144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55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152255"/>
                </a:solidFill>
                <a:latin typeface="Arial"/>
                <a:ea typeface="Arial"/>
                <a:cs typeface="Arial"/>
                <a:sym typeface="Arial"/>
              </a:rPr>
              <a:t>P.12</a:t>
            </a:r>
            <a:endParaRPr/>
          </a:p>
        </p:txBody>
      </p:sp>
      <p:sp>
        <p:nvSpPr>
          <p:cNvPr id="451" name="Google Shape;451;p14"/>
          <p:cNvSpPr/>
          <p:nvPr/>
        </p:nvSpPr>
        <p:spPr>
          <a:xfrm>
            <a:off x="2190750" y="1428750"/>
            <a:ext cx="44767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4054"/>
              </a:buClr>
              <a:buSzPts val="1650"/>
              <a:buFont typeface="Arial"/>
              <a:buNone/>
            </a:pPr>
            <a:r>
              <a:rPr b="1" lang="en-US" sz="1650">
                <a:solidFill>
                  <a:srgbClr val="344054"/>
                </a:solidFill>
                <a:latin typeface="Arial"/>
                <a:ea typeface="Arial"/>
                <a:cs typeface="Arial"/>
                <a:sym typeface="Arial"/>
              </a:rPr>
              <a:t>投資用不動産の営業（一般的な型）</a:t>
            </a:r>
            <a:endParaRPr/>
          </a:p>
        </p:txBody>
      </p:sp>
      <p:sp>
        <p:nvSpPr>
          <p:cNvPr id="452" name="Google Shape;452;p14"/>
          <p:cNvSpPr/>
          <p:nvPr/>
        </p:nvSpPr>
        <p:spPr>
          <a:xfrm>
            <a:off x="6858000" y="1428750"/>
            <a:ext cx="44767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55"/>
              </a:buClr>
              <a:buSzPts val="1650"/>
              <a:buFont typeface="Arial"/>
              <a:buNone/>
            </a:pPr>
            <a:r>
              <a:rPr b="1" lang="en-US" sz="1650">
                <a:solidFill>
                  <a:srgbClr val="152255"/>
                </a:solidFill>
              </a:rPr>
              <a:t>東京ビッグハウス</a:t>
            </a:r>
            <a:r>
              <a:rPr b="1" lang="en-US" sz="1650">
                <a:solidFill>
                  <a:srgbClr val="152255"/>
                </a:solidFill>
                <a:latin typeface="Arial"/>
                <a:ea typeface="Arial"/>
                <a:cs typeface="Arial"/>
                <a:sym typeface="Arial"/>
              </a:rPr>
              <a:t>の新築戸建て営業</a:t>
            </a:r>
            <a:endParaRPr/>
          </a:p>
        </p:txBody>
      </p:sp>
      <p:cxnSp>
        <p:nvCxnSpPr>
          <p:cNvPr id="453" name="Google Shape;453;p14"/>
          <p:cNvCxnSpPr/>
          <p:nvPr/>
        </p:nvCxnSpPr>
        <p:spPr>
          <a:xfrm>
            <a:off x="2190750" y="1905000"/>
            <a:ext cx="9334500" cy="0"/>
          </a:xfrm>
          <a:prstGeom prst="straightConnector1">
            <a:avLst/>
          </a:prstGeom>
          <a:noFill/>
          <a:ln cap="flat" cmpd="sng" w="19050">
            <a:solidFill>
              <a:srgbClr val="D9DE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4" name="Google Shape;454;p14"/>
          <p:cNvSpPr/>
          <p:nvPr/>
        </p:nvSpPr>
        <p:spPr>
          <a:xfrm>
            <a:off x="533400" y="2000250"/>
            <a:ext cx="10991850" cy="742950"/>
          </a:xfrm>
          <a:prstGeom prst="roundRect">
            <a:avLst>
              <a:gd fmla="val 10256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14"/>
          <p:cNvSpPr/>
          <p:nvPr/>
        </p:nvSpPr>
        <p:spPr>
          <a:xfrm>
            <a:off x="628650" y="2105025"/>
            <a:ext cx="14287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7421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F47421"/>
                </a:solidFill>
                <a:latin typeface="Arial"/>
                <a:ea typeface="Arial"/>
                <a:cs typeface="Arial"/>
                <a:sym typeface="Arial"/>
              </a:rPr>
              <a:t>商品</a:t>
            </a:r>
            <a:endParaRPr/>
          </a:p>
        </p:txBody>
      </p:sp>
      <p:sp>
        <p:nvSpPr>
          <p:cNvPr id="456" name="Google Shape;456;p14"/>
          <p:cNvSpPr/>
          <p:nvPr/>
        </p:nvSpPr>
        <p:spPr>
          <a:xfrm>
            <a:off x="2190750" y="2105025"/>
            <a:ext cx="43624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344054"/>
              </a:buClr>
              <a:buSzPts val="1275"/>
              <a:buFont typeface="Arial"/>
              <a:buNone/>
            </a:pPr>
            <a:r>
              <a:rPr b="0" lang="en-US" sz="1275">
                <a:solidFill>
                  <a:srgbClr val="344054"/>
                </a:solidFill>
                <a:latin typeface="Arial"/>
                <a:ea typeface="Arial"/>
                <a:cs typeface="Arial"/>
                <a:sym typeface="Arial"/>
              </a:rPr>
              <a:t>投資用ワンルーム＝利回りの商品</a:t>
            </a:r>
            <a:endParaRPr/>
          </a:p>
        </p:txBody>
      </p:sp>
      <p:sp>
        <p:nvSpPr>
          <p:cNvPr id="457" name="Google Shape;457;p14"/>
          <p:cNvSpPr/>
          <p:nvPr/>
        </p:nvSpPr>
        <p:spPr>
          <a:xfrm>
            <a:off x="6858000" y="2105025"/>
            <a:ext cx="43624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52255"/>
              </a:buClr>
              <a:buSzPts val="1275"/>
              <a:buFont typeface="Arial"/>
              <a:buNone/>
            </a:pPr>
            <a:r>
              <a:rPr b="1" lang="en-US" sz="1275">
                <a:solidFill>
                  <a:srgbClr val="152255"/>
                </a:solidFill>
                <a:latin typeface="Arial"/>
                <a:ea typeface="Arial"/>
                <a:cs typeface="Arial"/>
                <a:sym typeface="Arial"/>
              </a:rPr>
              <a:t>家族が何十年も住む新築戸建て</a:t>
            </a:r>
            <a:endParaRPr/>
          </a:p>
        </p:txBody>
      </p:sp>
      <p:cxnSp>
        <p:nvCxnSpPr>
          <p:cNvPr id="458" name="Google Shape;458;p14"/>
          <p:cNvCxnSpPr/>
          <p:nvPr/>
        </p:nvCxnSpPr>
        <p:spPr>
          <a:xfrm>
            <a:off x="1962150" y="2724150"/>
            <a:ext cx="9553575" cy="0"/>
          </a:xfrm>
          <a:prstGeom prst="straightConnector1">
            <a:avLst/>
          </a:prstGeom>
          <a:noFill/>
          <a:ln cap="flat" cmpd="sng" w="9525">
            <a:solidFill>
              <a:srgbClr val="D9DE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9" name="Google Shape;459;p14"/>
          <p:cNvSpPr/>
          <p:nvPr/>
        </p:nvSpPr>
        <p:spPr>
          <a:xfrm>
            <a:off x="628650" y="2943225"/>
            <a:ext cx="14287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7421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F47421"/>
                </a:solidFill>
                <a:latin typeface="Arial"/>
                <a:ea typeface="Arial"/>
                <a:cs typeface="Arial"/>
                <a:sym typeface="Arial"/>
              </a:rPr>
              <a:t>顧客との関係</a:t>
            </a:r>
            <a:endParaRPr/>
          </a:p>
        </p:txBody>
      </p:sp>
      <p:sp>
        <p:nvSpPr>
          <p:cNvPr id="460" name="Google Shape;460;p14"/>
          <p:cNvSpPr/>
          <p:nvPr/>
        </p:nvSpPr>
        <p:spPr>
          <a:xfrm>
            <a:off x="2190750" y="2943225"/>
            <a:ext cx="43624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344054"/>
              </a:buClr>
              <a:buSzPts val="1275"/>
              <a:buFont typeface="Arial"/>
              <a:buNone/>
            </a:pPr>
            <a:r>
              <a:rPr b="0" lang="en-US" sz="1275">
                <a:solidFill>
                  <a:srgbClr val="344054"/>
                </a:solidFill>
                <a:latin typeface="Arial"/>
                <a:ea typeface="Arial"/>
                <a:cs typeface="Arial"/>
                <a:sym typeface="Arial"/>
              </a:rPr>
              <a:t>利回り提案で完結しやすい</a:t>
            </a:r>
            <a:endParaRPr/>
          </a:p>
        </p:txBody>
      </p:sp>
      <p:sp>
        <p:nvSpPr>
          <p:cNvPr id="461" name="Google Shape;461;p14"/>
          <p:cNvSpPr/>
          <p:nvPr/>
        </p:nvSpPr>
        <p:spPr>
          <a:xfrm>
            <a:off x="6858000" y="2943225"/>
            <a:ext cx="43624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52255"/>
              </a:buClr>
              <a:buSzPts val="1275"/>
              <a:buFont typeface="Arial"/>
              <a:buNone/>
            </a:pPr>
            <a:r>
              <a:rPr b="1" lang="en-US" sz="1275">
                <a:solidFill>
                  <a:srgbClr val="152255"/>
                </a:solidFill>
                <a:latin typeface="Arial"/>
                <a:ea typeface="Arial"/>
                <a:cs typeface="Arial"/>
                <a:sym typeface="Arial"/>
              </a:rPr>
              <a:t>人生の大きな決断を起こす「決断のパートナー」</a:t>
            </a:r>
            <a:endParaRPr/>
          </a:p>
        </p:txBody>
      </p:sp>
      <p:cxnSp>
        <p:nvCxnSpPr>
          <p:cNvPr id="462" name="Google Shape;462;p14"/>
          <p:cNvCxnSpPr/>
          <p:nvPr/>
        </p:nvCxnSpPr>
        <p:spPr>
          <a:xfrm>
            <a:off x="1962150" y="3562350"/>
            <a:ext cx="9553575" cy="0"/>
          </a:xfrm>
          <a:prstGeom prst="straightConnector1">
            <a:avLst/>
          </a:prstGeom>
          <a:noFill/>
          <a:ln cap="flat" cmpd="sng" w="9525">
            <a:solidFill>
              <a:srgbClr val="D9DE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3" name="Google Shape;463;p14"/>
          <p:cNvSpPr/>
          <p:nvPr/>
        </p:nvSpPr>
        <p:spPr>
          <a:xfrm>
            <a:off x="533400" y="3676650"/>
            <a:ext cx="10991850" cy="742950"/>
          </a:xfrm>
          <a:prstGeom prst="roundRect">
            <a:avLst>
              <a:gd fmla="val 10256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14"/>
          <p:cNvSpPr/>
          <p:nvPr/>
        </p:nvSpPr>
        <p:spPr>
          <a:xfrm>
            <a:off x="628650" y="3781425"/>
            <a:ext cx="14287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7421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F47421"/>
                </a:solidFill>
                <a:latin typeface="Arial"/>
                <a:ea typeface="Arial"/>
                <a:cs typeface="Arial"/>
                <a:sym typeface="Arial"/>
              </a:rPr>
              <a:t>主な手法</a:t>
            </a:r>
            <a:endParaRPr/>
          </a:p>
        </p:txBody>
      </p:sp>
      <p:sp>
        <p:nvSpPr>
          <p:cNvPr id="465" name="Google Shape;465;p14"/>
          <p:cNvSpPr/>
          <p:nvPr/>
        </p:nvSpPr>
        <p:spPr>
          <a:xfrm>
            <a:off x="2190750" y="3781425"/>
            <a:ext cx="43624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344054"/>
              </a:buClr>
              <a:buSzPts val="1275"/>
              <a:buFont typeface="Arial"/>
              <a:buNone/>
            </a:pPr>
            <a:r>
              <a:rPr b="0" lang="en-US" sz="1275">
                <a:solidFill>
                  <a:srgbClr val="344054"/>
                </a:solidFill>
                <a:latin typeface="Arial"/>
                <a:ea typeface="Arial"/>
                <a:cs typeface="Arial"/>
                <a:sym typeface="Arial"/>
              </a:rPr>
              <a:t>リストへの電話中心／トーク力が問われる</a:t>
            </a:r>
            <a:endParaRPr/>
          </a:p>
        </p:txBody>
      </p:sp>
      <p:sp>
        <p:nvSpPr>
          <p:cNvPr id="466" name="Google Shape;466;p14"/>
          <p:cNvSpPr/>
          <p:nvPr/>
        </p:nvSpPr>
        <p:spPr>
          <a:xfrm>
            <a:off x="6858000" y="3781425"/>
            <a:ext cx="43624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52255"/>
              </a:buClr>
              <a:buSzPts val="1275"/>
              <a:buFont typeface="Arial"/>
              <a:buNone/>
            </a:pPr>
            <a:r>
              <a:rPr b="1" lang="en-US" sz="1275">
                <a:solidFill>
                  <a:srgbClr val="152255"/>
                </a:solidFill>
                <a:latin typeface="Arial"/>
                <a:ea typeface="Arial"/>
                <a:cs typeface="Arial"/>
                <a:sym typeface="Arial"/>
              </a:rPr>
              <a:t>訪問・対面中心／人間力が問われる</a:t>
            </a:r>
            <a:endParaRPr/>
          </a:p>
        </p:txBody>
      </p:sp>
      <p:cxnSp>
        <p:nvCxnSpPr>
          <p:cNvPr id="467" name="Google Shape;467;p14"/>
          <p:cNvCxnSpPr/>
          <p:nvPr/>
        </p:nvCxnSpPr>
        <p:spPr>
          <a:xfrm>
            <a:off x="1962150" y="4400550"/>
            <a:ext cx="9553575" cy="0"/>
          </a:xfrm>
          <a:prstGeom prst="straightConnector1">
            <a:avLst/>
          </a:prstGeom>
          <a:noFill/>
          <a:ln cap="flat" cmpd="sng" w="9525">
            <a:solidFill>
              <a:srgbClr val="D9DE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8" name="Google Shape;468;p14"/>
          <p:cNvSpPr/>
          <p:nvPr/>
        </p:nvSpPr>
        <p:spPr>
          <a:xfrm>
            <a:off x="628650" y="4619625"/>
            <a:ext cx="14287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7421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F47421"/>
                </a:solidFill>
                <a:latin typeface="Arial"/>
                <a:ea typeface="Arial"/>
                <a:cs typeface="Arial"/>
                <a:sym typeface="Arial"/>
              </a:rPr>
              <a:t>10年後に残る力</a:t>
            </a:r>
            <a:endParaRPr/>
          </a:p>
        </p:txBody>
      </p:sp>
      <p:sp>
        <p:nvSpPr>
          <p:cNvPr id="469" name="Google Shape;469;p14"/>
          <p:cNvSpPr/>
          <p:nvPr/>
        </p:nvSpPr>
        <p:spPr>
          <a:xfrm>
            <a:off x="2190750" y="4619625"/>
            <a:ext cx="43624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344054"/>
              </a:buClr>
              <a:buSzPts val="1275"/>
              <a:buFont typeface="Arial"/>
              <a:buNone/>
            </a:pPr>
            <a:r>
              <a:rPr b="0" lang="en-US" sz="1275">
                <a:solidFill>
                  <a:srgbClr val="344054"/>
                </a:solidFill>
                <a:latin typeface="Arial"/>
                <a:ea typeface="Arial"/>
                <a:cs typeface="Arial"/>
                <a:sym typeface="Arial"/>
              </a:rPr>
              <a:t>電話営業・利回り計算・投資物件の目利き</a:t>
            </a:r>
            <a:endParaRPr/>
          </a:p>
        </p:txBody>
      </p:sp>
      <p:sp>
        <p:nvSpPr>
          <p:cNvPr id="470" name="Google Shape;470;p14"/>
          <p:cNvSpPr/>
          <p:nvPr/>
        </p:nvSpPr>
        <p:spPr>
          <a:xfrm>
            <a:off x="6858000" y="4619625"/>
            <a:ext cx="43624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52255"/>
              </a:buClr>
              <a:buSzPts val="1275"/>
              <a:buFont typeface="Arial"/>
              <a:buNone/>
            </a:pPr>
            <a:r>
              <a:rPr b="1" lang="en-US" sz="1275">
                <a:solidFill>
                  <a:srgbClr val="152255"/>
                </a:solidFill>
                <a:latin typeface="Arial"/>
                <a:ea typeface="Arial"/>
                <a:cs typeface="Arial"/>
                <a:sym typeface="Arial"/>
              </a:rPr>
              <a:t>対面営業・人生に踏み込む力・信頼関係構築</a:t>
            </a:r>
            <a:endParaRPr/>
          </a:p>
        </p:txBody>
      </p:sp>
      <p:cxnSp>
        <p:nvCxnSpPr>
          <p:cNvPr id="471" name="Google Shape;471;p14"/>
          <p:cNvCxnSpPr/>
          <p:nvPr/>
        </p:nvCxnSpPr>
        <p:spPr>
          <a:xfrm>
            <a:off x="1962150" y="5238750"/>
            <a:ext cx="9553575" cy="0"/>
          </a:xfrm>
          <a:prstGeom prst="straightConnector1">
            <a:avLst/>
          </a:prstGeom>
          <a:noFill/>
          <a:ln cap="flat" cmpd="sng" w="9525">
            <a:solidFill>
              <a:srgbClr val="D9DE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72" name="Google Shape;472;p14"/>
          <p:cNvSpPr/>
          <p:nvPr/>
        </p:nvSpPr>
        <p:spPr>
          <a:xfrm>
            <a:off x="533400" y="5657850"/>
            <a:ext cx="109918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4054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344054"/>
                </a:solidFill>
                <a:latin typeface="Arial"/>
                <a:ea typeface="Arial"/>
                <a:cs typeface="Arial"/>
                <a:sym typeface="Arial"/>
              </a:rPr>
              <a:t>「10年後に、自分に何を残したいか」で選ぶ。</a:t>
            </a:r>
            <a:endParaRPr/>
          </a:p>
        </p:txBody>
      </p:sp>
      <p:pic>
        <p:nvPicPr>
          <p:cNvPr id="473" name="Google Shape;47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11399" y="119051"/>
            <a:ext cx="2095500" cy="4450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F0"/>
        </a:solidFill>
      </p:bgPr>
    </p:bg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15"/>
          <p:cNvSpPr/>
          <p:nvPr/>
        </p:nvSpPr>
        <p:spPr>
          <a:xfrm>
            <a:off x="533400" y="276225"/>
            <a:ext cx="76200" cy="238125"/>
          </a:xfrm>
          <a:prstGeom prst="roundRect">
            <a:avLst>
              <a:gd fmla="val 50000" name="adj"/>
            </a:avLst>
          </a:prstGeom>
          <a:solidFill>
            <a:srgbClr val="F474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p15"/>
          <p:cNvSpPr/>
          <p:nvPr/>
        </p:nvSpPr>
        <p:spPr>
          <a:xfrm>
            <a:off x="742950" y="2667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125"/>
              <a:buFont typeface="Arial"/>
              <a:buNone/>
            </a:pPr>
            <a:r>
              <a:rPr b="1" lang="en-US" sz="1125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08｜年収比較</a:t>
            </a:r>
            <a:endParaRPr/>
          </a:p>
        </p:txBody>
      </p:sp>
      <p:sp>
        <p:nvSpPr>
          <p:cNvPr id="481" name="Google Shape;481;p15"/>
          <p:cNvSpPr/>
          <p:nvPr/>
        </p:nvSpPr>
        <p:spPr>
          <a:xfrm>
            <a:off x="533400" y="723900"/>
            <a:ext cx="106680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55"/>
              </a:buClr>
              <a:buSzPts val="2925"/>
              <a:buFont typeface="Arial"/>
              <a:buNone/>
            </a:pPr>
            <a:r>
              <a:rPr b="1" lang="en-US" sz="2925">
                <a:solidFill>
                  <a:srgbClr val="152255"/>
                </a:solidFill>
              </a:rPr>
              <a:t>不動産業VS</a:t>
            </a:r>
            <a:r>
              <a:rPr b="1" lang="en-US" sz="2925">
                <a:solidFill>
                  <a:srgbClr val="152255"/>
                </a:solidFill>
              </a:rPr>
              <a:t>人材業界</a:t>
            </a:r>
            <a:r>
              <a:rPr b="1" lang="en-US" sz="2925">
                <a:solidFill>
                  <a:srgbClr val="152255"/>
                </a:solidFill>
              </a:rPr>
              <a:t>　「稼げる」のリアル</a:t>
            </a:r>
            <a:endParaRPr/>
          </a:p>
        </p:txBody>
      </p:sp>
      <p:cxnSp>
        <p:nvCxnSpPr>
          <p:cNvPr id="482" name="Google Shape;482;p15"/>
          <p:cNvCxnSpPr/>
          <p:nvPr/>
        </p:nvCxnSpPr>
        <p:spPr>
          <a:xfrm>
            <a:off x="533400" y="6315075"/>
            <a:ext cx="11125200" cy="0"/>
          </a:xfrm>
          <a:prstGeom prst="straightConnector1">
            <a:avLst/>
          </a:prstGeom>
          <a:noFill/>
          <a:ln cap="flat" cmpd="sng" w="9525">
            <a:solidFill>
              <a:srgbClr val="D9DE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3" name="Google Shape;483;p15"/>
          <p:cNvSpPr/>
          <p:nvPr/>
        </p:nvSpPr>
        <p:spPr>
          <a:xfrm>
            <a:off x="533400" y="6448425"/>
            <a:ext cx="88582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825"/>
              <a:buFont typeface="Arial"/>
              <a:buNone/>
            </a:pPr>
            <a:r>
              <a:rPr b="0" lang="en-US" sz="825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TOKYO BIG HOUSE 最終面接資料｜社外秘・面接時のみ提示</a:t>
            </a:r>
            <a:endParaRPr/>
          </a:p>
        </p:txBody>
      </p:sp>
      <p:sp>
        <p:nvSpPr>
          <p:cNvPr id="484" name="Google Shape;484;p15"/>
          <p:cNvSpPr/>
          <p:nvPr/>
        </p:nvSpPr>
        <p:spPr>
          <a:xfrm>
            <a:off x="10744200" y="6419850"/>
            <a:ext cx="9144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55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152255"/>
                </a:solidFill>
                <a:latin typeface="Arial"/>
                <a:ea typeface="Arial"/>
                <a:cs typeface="Arial"/>
                <a:sym typeface="Arial"/>
              </a:rPr>
              <a:t>P.13</a:t>
            </a:r>
            <a:endParaRPr/>
          </a:p>
        </p:txBody>
      </p:sp>
      <p:sp>
        <p:nvSpPr>
          <p:cNvPr id="485" name="Google Shape;485;p15"/>
          <p:cNvSpPr/>
          <p:nvPr/>
        </p:nvSpPr>
        <p:spPr>
          <a:xfrm>
            <a:off x="533400" y="1390650"/>
            <a:ext cx="66675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275"/>
              <a:buFont typeface="Arial"/>
              <a:buNone/>
            </a:pPr>
            <a:r>
              <a:rPr b="1" lang="en-US" sz="1275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同じdoda登録者データ・同じ集計期間で比較</a:t>
            </a:r>
            <a:endParaRPr/>
          </a:p>
        </p:txBody>
      </p:sp>
      <p:sp>
        <p:nvSpPr>
          <p:cNvPr id="486" name="Google Shape;486;p15"/>
          <p:cNvSpPr/>
          <p:nvPr/>
        </p:nvSpPr>
        <p:spPr>
          <a:xfrm>
            <a:off x="533400" y="1866900"/>
            <a:ext cx="4991100" cy="2800350"/>
          </a:xfrm>
          <a:prstGeom prst="roundRect">
            <a:avLst>
              <a:gd fmla="val 6122" name="adj"/>
            </a:avLst>
          </a:prstGeom>
          <a:solidFill>
            <a:srgbClr val="FFFFFF"/>
          </a:solidFill>
          <a:ln cap="flat" cmpd="sng" w="9525">
            <a:solidFill>
              <a:srgbClr val="D9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15"/>
          <p:cNvSpPr/>
          <p:nvPr/>
        </p:nvSpPr>
        <p:spPr>
          <a:xfrm>
            <a:off x="819150" y="2114550"/>
            <a:ext cx="4419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55"/>
              </a:buClr>
              <a:buSzPts val="1725"/>
              <a:buFont typeface="Arial"/>
              <a:buNone/>
            </a:pPr>
            <a:r>
              <a:rPr b="1" lang="en-US" sz="1725">
                <a:solidFill>
                  <a:srgbClr val="152255"/>
                </a:solidFill>
                <a:latin typeface="Arial"/>
                <a:ea typeface="Arial"/>
                <a:cs typeface="Arial"/>
                <a:sym typeface="Arial"/>
              </a:rPr>
              <a:t>不動産営業</a:t>
            </a:r>
            <a:endParaRPr/>
          </a:p>
        </p:txBody>
      </p:sp>
      <p:sp>
        <p:nvSpPr>
          <p:cNvPr id="488" name="Google Shape;488;p15"/>
          <p:cNvSpPr/>
          <p:nvPr/>
        </p:nvSpPr>
        <p:spPr>
          <a:xfrm>
            <a:off x="819150" y="2628900"/>
            <a:ext cx="33337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7421"/>
              </a:buClr>
              <a:buSzPts val="5700"/>
              <a:buFont typeface="Arial"/>
              <a:buNone/>
            </a:pPr>
            <a:r>
              <a:rPr b="1" lang="en-US" sz="5700">
                <a:solidFill>
                  <a:srgbClr val="F47421"/>
                </a:solidFill>
                <a:latin typeface="Arial"/>
                <a:ea typeface="Arial"/>
                <a:cs typeface="Arial"/>
                <a:sym typeface="Arial"/>
              </a:rPr>
              <a:t>459.4</a:t>
            </a:r>
            <a:endParaRPr/>
          </a:p>
        </p:txBody>
      </p:sp>
      <p:sp>
        <p:nvSpPr>
          <p:cNvPr id="489" name="Google Shape;489;p15"/>
          <p:cNvSpPr/>
          <p:nvPr/>
        </p:nvSpPr>
        <p:spPr>
          <a:xfrm>
            <a:off x="4267200" y="3133725"/>
            <a:ext cx="8191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55"/>
              </a:buClr>
              <a:buSzPts val="1650"/>
              <a:buFont typeface="Arial"/>
              <a:buNone/>
            </a:pPr>
            <a:r>
              <a:rPr b="1" lang="en-US" sz="1650">
                <a:solidFill>
                  <a:srgbClr val="152255"/>
                </a:solidFill>
                <a:latin typeface="Arial"/>
                <a:ea typeface="Arial"/>
                <a:cs typeface="Arial"/>
                <a:sym typeface="Arial"/>
              </a:rPr>
              <a:t>万円</a:t>
            </a:r>
            <a:endParaRPr/>
          </a:p>
        </p:txBody>
      </p:sp>
      <p:sp>
        <p:nvSpPr>
          <p:cNvPr id="490" name="Google Shape;490;p15"/>
          <p:cNvSpPr/>
          <p:nvPr/>
        </p:nvSpPr>
        <p:spPr>
          <a:xfrm>
            <a:off x="819150" y="3733800"/>
            <a:ext cx="4419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4054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344054"/>
                </a:solidFill>
                <a:latin typeface="Arial"/>
                <a:ea typeface="Arial"/>
                <a:cs typeface="Arial"/>
                <a:sym typeface="Arial"/>
              </a:rPr>
              <a:t>平均年収</a:t>
            </a:r>
            <a:endParaRPr/>
          </a:p>
        </p:txBody>
      </p:sp>
      <p:sp>
        <p:nvSpPr>
          <p:cNvPr id="491" name="Google Shape;491;p15"/>
          <p:cNvSpPr/>
          <p:nvPr/>
        </p:nvSpPr>
        <p:spPr>
          <a:xfrm>
            <a:off x="6667500" y="1866900"/>
            <a:ext cx="4991100" cy="2800350"/>
          </a:xfrm>
          <a:prstGeom prst="roundRect">
            <a:avLst>
              <a:gd fmla="val 6122" name="adj"/>
            </a:avLst>
          </a:prstGeom>
          <a:solidFill>
            <a:srgbClr val="FFFFFF"/>
          </a:solidFill>
          <a:ln cap="flat" cmpd="sng" w="9525">
            <a:solidFill>
              <a:srgbClr val="D9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p15"/>
          <p:cNvSpPr/>
          <p:nvPr/>
        </p:nvSpPr>
        <p:spPr>
          <a:xfrm>
            <a:off x="6953250" y="2114550"/>
            <a:ext cx="4419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55"/>
              </a:buClr>
              <a:buSzPts val="1725"/>
              <a:buFont typeface="Arial"/>
              <a:buNone/>
            </a:pPr>
            <a:r>
              <a:rPr b="1" lang="en-US" sz="1725">
                <a:solidFill>
                  <a:srgbClr val="152255"/>
                </a:solidFill>
                <a:latin typeface="Arial"/>
                <a:ea typeface="Arial"/>
                <a:cs typeface="Arial"/>
                <a:sym typeface="Arial"/>
              </a:rPr>
              <a:t>人材サービスの営業</a:t>
            </a:r>
            <a:endParaRPr/>
          </a:p>
        </p:txBody>
      </p:sp>
      <p:sp>
        <p:nvSpPr>
          <p:cNvPr id="493" name="Google Shape;493;p15"/>
          <p:cNvSpPr/>
          <p:nvPr/>
        </p:nvSpPr>
        <p:spPr>
          <a:xfrm>
            <a:off x="6953250" y="2628900"/>
            <a:ext cx="2970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55"/>
              </a:buClr>
              <a:buSzPts val="5700"/>
              <a:buFont typeface="Arial"/>
              <a:buNone/>
            </a:pPr>
            <a:r>
              <a:rPr b="1" lang="en-US" sz="5700">
                <a:solidFill>
                  <a:srgbClr val="152255"/>
                </a:solidFill>
                <a:latin typeface="Arial"/>
                <a:ea typeface="Arial"/>
                <a:cs typeface="Arial"/>
                <a:sym typeface="Arial"/>
              </a:rPr>
              <a:t>414.8</a:t>
            </a:r>
            <a:endParaRPr/>
          </a:p>
        </p:txBody>
      </p:sp>
      <p:sp>
        <p:nvSpPr>
          <p:cNvPr id="494" name="Google Shape;494;p15"/>
          <p:cNvSpPr/>
          <p:nvPr/>
        </p:nvSpPr>
        <p:spPr>
          <a:xfrm>
            <a:off x="10133125" y="3095625"/>
            <a:ext cx="8193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55"/>
              </a:buClr>
              <a:buSzPts val="1650"/>
              <a:buFont typeface="Arial"/>
              <a:buNone/>
            </a:pPr>
            <a:r>
              <a:rPr b="1" lang="en-US" sz="1650">
                <a:solidFill>
                  <a:srgbClr val="152255"/>
                </a:solidFill>
                <a:latin typeface="Arial"/>
                <a:ea typeface="Arial"/>
                <a:cs typeface="Arial"/>
                <a:sym typeface="Arial"/>
              </a:rPr>
              <a:t>万円</a:t>
            </a:r>
            <a:endParaRPr/>
          </a:p>
        </p:txBody>
      </p:sp>
      <p:sp>
        <p:nvSpPr>
          <p:cNvPr id="495" name="Google Shape;495;p15"/>
          <p:cNvSpPr/>
          <p:nvPr/>
        </p:nvSpPr>
        <p:spPr>
          <a:xfrm>
            <a:off x="6953250" y="3733800"/>
            <a:ext cx="4419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4054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344054"/>
                </a:solidFill>
                <a:latin typeface="Arial"/>
                <a:ea typeface="Arial"/>
                <a:cs typeface="Arial"/>
                <a:sym typeface="Arial"/>
              </a:rPr>
              <a:t>平均年収</a:t>
            </a:r>
            <a:endParaRPr/>
          </a:p>
        </p:txBody>
      </p:sp>
      <p:sp>
        <p:nvSpPr>
          <p:cNvPr id="496" name="Google Shape;496;p15"/>
          <p:cNvSpPr/>
          <p:nvPr/>
        </p:nvSpPr>
        <p:spPr>
          <a:xfrm>
            <a:off x="4438650" y="4953000"/>
            <a:ext cx="3314700" cy="704850"/>
          </a:xfrm>
          <a:prstGeom prst="roundRect">
            <a:avLst>
              <a:gd fmla="val 18919" name="adj"/>
            </a:avLst>
          </a:prstGeom>
          <a:solidFill>
            <a:srgbClr val="1522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p15"/>
          <p:cNvSpPr/>
          <p:nvPr/>
        </p:nvSpPr>
        <p:spPr>
          <a:xfrm>
            <a:off x="4667250" y="5076825"/>
            <a:ext cx="2857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Arial"/>
              <a:buNone/>
            </a:pPr>
            <a:r>
              <a:rPr b="1" lang="en-US" sz="202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差は 44.6万円</a:t>
            </a:r>
            <a:endParaRPr/>
          </a:p>
        </p:txBody>
      </p:sp>
      <p:sp>
        <p:nvSpPr>
          <p:cNvPr id="498" name="Google Shape;498;p15"/>
          <p:cNvSpPr/>
          <p:nvPr/>
        </p:nvSpPr>
        <p:spPr>
          <a:xfrm>
            <a:off x="533400" y="6019800"/>
            <a:ext cx="11125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750"/>
              <a:buFont typeface="Arial"/>
              <a:buNone/>
            </a:pPr>
            <a:r>
              <a:rPr b="0" lang="en-US" sz="750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出典：doda 職種図鑑（2025年12月更新／約60万人、2024年9月〜2025年8月）</a:t>
            </a:r>
            <a:endParaRPr/>
          </a:p>
        </p:txBody>
      </p:sp>
      <p:pic>
        <p:nvPicPr>
          <p:cNvPr id="499" name="Google Shape;49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11399" y="119051"/>
            <a:ext cx="2095500" cy="4450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F0"/>
        </a:solidFill>
      </p:bgPr>
    </p:bg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16"/>
          <p:cNvSpPr/>
          <p:nvPr/>
        </p:nvSpPr>
        <p:spPr>
          <a:xfrm>
            <a:off x="533400" y="276225"/>
            <a:ext cx="76200" cy="238125"/>
          </a:xfrm>
          <a:prstGeom prst="roundRect">
            <a:avLst>
              <a:gd fmla="val 50000" name="adj"/>
            </a:avLst>
          </a:prstGeom>
          <a:solidFill>
            <a:srgbClr val="F474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p16"/>
          <p:cNvSpPr/>
          <p:nvPr/>
        </p:nvSpPr>
        <p:spPr>
          <a:xfrm>
            <a:off x="742950" y="2667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125"/>
              <a:buFont typeface="Arial"/>
              <a:buNone/>
            </a:pPr>
            <a:r>
              <a:rPr b="1" lang="en-US" sz="1125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08｜年収比較</a:t>
            </a:r>
            <a:endParaRPr/>
          </a:p>
        </p:txBody>
      </p:sp>
      <p:sp>
        <p:nvSpPr>
          <p:cNvPr id="507" name="Google Shape;507;p16"/>
          <p:cNvSpPr/>
          <p:nvPr/>
        </p:nvSpPr>
        <p:spPr>
          <a:xfrm>
            <a:off x="533400" y="723900"/>
            <a:ext cx="106680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55"/>
              </a:buClr>
              <a:buSzPts val="3000"/>
              <a:buFont typeface="Arial"/>
              <a:buNone/>
            </a:pPr>
            <a:r>
              <a:rPr b="1" lang="en-US" sz="3000">
                <a:solidFill>
                  <a:srgbClr val="152255"/>
                </a:solidFill>
                <a:latin typeface="Arial"/>
                <a:ea typeface="Arial"/>
                <a:cs typeface="Arial"/>
                <a:sym typeface="Arial"/>
              </a:rPr>
              <a:t>差が出るのは、平均より「上の年収帯」</a:t>
            </a:r>
            <a:endParaRPr/>
          </a:p>
        </p:txBody>
      </p:sp>
      <p:cxnSp>
        <p:nvCxnSpPr>
          <p:cNvPr id="508" name="Google Shape;508;p16"/>
          <p:cNvCxnSpPr/>
          <p:nvPr/>
        </p:nvCxnSpPr>
        <p:spPr>
          <a:xfrm>
            <a:off x="533400" y="6315075"/>
            <a:ext cx="11125200" cy="0"/>
          </a:xfrm>
          <a:prstGeom prst="straightConnector1">
            <a:avLst/>
          </a:prstGeom>
          <a:noFill/>
          <a:ln cap="flat" cmpd="sng" w="9525">
            <a:solidFill>
              <a:srgbClr val="D9DE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09" name="Google Shape;509;p16"/>
          <p:cNvSpPr/>
          <p:nvPr/>
        </p:nvSpPr>
        <p:spPr>
          <a:xfrm>
            <a:off x="533400" y="6448425"/>
            <a:ext cx="88582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825"/>
              <a:buFont typeface="Arial"/>
              <a:buNone/>
            </a:pPr>
            <a:r>
              <a:rPr b="0" lang="en-US" sz="825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TOKYO BIG HOUSE 最終面接資料｜社外秘・面接時のみ提示</a:t>
            </a:r>
            <a:endParaRPr/>
          </a:p>
        </p:txBody>
      </p:sp>
      <p:sp>
        <p:nvSpPr>
          <p:cNvPr id="510" name="Google Shape;510;p16"/>
          <p:cNvSpPr/>
          <p:nvPr/>
        </p:nvSpPr>
        <p:spPr>
          <a:xfrm>
            <a:off x="10744200" y="6419850"/>
            <a:ext cx="9144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55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152255"/>
                </a:solidFill>
                <a:latin typeface="Arial"/>
                <a:ea typeface="Arial"/>
                <a:cs typeface="Arial"/>
                <a:sym typeface="Arial"/>
              </a:rPr>
              <a:t>P.14</a:t>
            </a:r>
            <a:endParaRPr/>
          </a:p>
        </p:txBody>
      </p:sp>
      <p:sp>
        <p:nvSpPr>
          <p:cNvPr id="511" name="Google Shape;511;p16"/>
          <p:cNvSpPr/>
          <p:nvPr/>
        </p:nvSpPr>
        <p:spPr>
          <a:xfrm>
            <a:off x="533400" y="1466850"/>
            <a:ext cx="49530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4054"/>
              </a:buClr>
              <a:buSzPts val="1575"/>
              <a:buFont typeface="Arial"/>
              <a:buNone/>
            </a:pPr>
            <a:r>
              <a:rPr b="1" lang="en-US" sz="1575">
                <a:solidFill>
                  <a:srgbClr val="344054"/>
                </a:solidFill>
                <a:latin typeface="Arial"/>
                <a:ea typeface="Arial"/>
                <a:cs typeface="Arial"/>
                <a:sym typeface="Arial"/>
              </a:rPr>
              <a:t>年収800万円以上の割合</a:t>
            </a:r>
            <a:endParaRPr/>
          </a:p>
        </p:txBody>
      </p:sp>
      <p:sp>
        <p:nvSpPr>
          <p:cNvPr id="512" name="Google Shape;512;p16"/>
          <p:cNvSpPr/>
          <p:nvPr/>
        </p:nvSpPr>
        <p:spPr>
          <a:xfrm>
            <a:off x="762000" y="2228850"/>
            <a:ext cx="2667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55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152255"/>
                </a:solidFill>
                <a:latin typeface="Arial"/>
                <a:ea typeface="Arial"/>
                <a:cs typeface="Arial"/>
                <a:sym typeface="Arial"/>
              </a:rPr>
              <a:t>不動産営業</a:t>
            </a:r>
            <a:endParaRPr/>
          </a:p>
        </p:txBody>
      </p:sp>
      <p:sp>
        <p:nvSpPr>
          <p:cNvPr id="513" name="Google Shape;513;p16"/>
          <p:cNvSpPr/>
          <p:nvPr/>
        </p:nvSpPr>
        <p:spPr>
          <a:xfrm>
            <a:off x="3543300" y="2190750"/>
            <a:ext cx="6286500" cy="419100"/>
          </a:xfrm>
          <a:prstGeom prst="roundRect">
            <a:avLst>
              <a:gd fmla="val 22727" name="adj"/>
            </a:avLst>
          </a:prstGeom>
          <a:solidFill>
            <a:srgbClr val="F474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p16"/>
          <p:cNvSpPr/>
          <p:nvPr/>
        </p:nvSpPr>
        <p:spPr>
          <a:xfrm>
            <a:off x="10039350" y="2171700"/>
            <a:ext cx="1066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7421"/>
              </a:buClr>
              <a:buSzPts val="2325"/>
              <a:buFont typeface="Arial"/>
              <a:buNone/>
            </a:pPr>
            <a:r>
              <a:rPr b="1" lang="en-US" sz="2325">
                <a:solidFill>
                  <a:srgbClr val="F47421"/>
                </a:solidFill>
                <a:latin typeface="Arial"/>
                <a:ea typeface="Arial"/>
                <a:cs typeface="Arial"/>
                <a:sym typeface="Arial"/>
              </a:rPr>
              <a:t>6%</a:t>
            </a:r>
            <a:endParaRPr/>
          </a:p>
        </p:txBody>
      </p:sp>
      <p:sp>
        <p:nvSpPr>
          <p:cNvPr id="515" name="Google Shape;515;p16"/>
          <p:cNvSpPr/>
          <p:nvPr/>
        </p:nvSpPr>
        <p:spPr>
          <a:xfrm>
            <a:off x="762000" y="3067050"/>
            <a:ext cx="2667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55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152255"/>
                </a:solidFill>
                <a:latin typeface="Arial"/>
                <a:ea typeface="Arial"/>
                <a:cs typeface="Arial"/>
                <a:sym typeface="Arial"/>
              </a:rPr>
              <a:t>人材サービス営業</a:t>
            </a:r>
            <a:endParaRPr/>
          </a:p>
        </p:txBody>
      </p:sp>
      <p:sp>
        <p:nvSpPr>
          <p:cNvPr id="516" name="Google Shape;516;p16"/>
          <p:cNvSpPr/>
          <p:nvPr/>
        </p:nvSpPr>
        <p:spPr>
          <a:xfrm>
            <a:off x="3543300" y="3028950"/>
            <a:ext cx="6286500" cy="419100"/>
          </a:xfrm>
          <a:prstGeom prst="roundRect">
            <a:avLst>
              <a:gd fmla="val 22727" name="adj"/>
            </a:avLst>
          </a:prstGeom>
          <a:solidFill>
            <a:srgbClr val="EEF1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" name="Google Shape;517;p16"/>
          <p:cNvSpPr/>
          <p:nvPr/>
        </p:nvSpPr>
        <p:spPr>
          <a:xfrm>
            <a:off x="3543300" y="3028950"/>
            <a:ext cx="2095500" cy="419100"/>
          </a:xfrm>
          <a:prstGeom prst="roundRect">
            <a:avLst>
              <a:gd fmla="val 22727" name="adj"/>
            </a:avLst>
          </a:prstGeom>
          <a:solidFill>
            <a:srgbClr val="1522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" name="Google Shape;518;p16"/>
          <p:cNvSpPr/>
          <p:nvPr/>
        </p:nvSpPr>
        <p:spPr>
          <a:xfrm>
            <a:off x="10039350" y="3009900"/>
            <a:ext cx="1066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55"/>
              </a:buClr>
              <a:buSzPts val="2325"/>
              <a:buFont typeface="Arial"/>
              <a:buNone/>
            </a:pPr>
            <a:r>
              <a:rPr b="1" lang="en-US" sz="2325">
                <a:solidFill>
                  <a:srgbClr val="152255"/>
                </a:solidFill>
                <a:latin typeface="Arial"/>
                <a:ea typeface="Arial"/>
                <a:cs typeface="Arial"/>
                <a:sym typeface="Arial"/>
              </a:rPr>
              <a:t>2%</a:t>
            </a:r>
            <a:endParaRPr/>
          </a:p>
        </p:txBody>
      </p:sp>
      <p:sp>
        <p:nvSpPr>
          <p:cNvPr id="519" name="Google Shape;519;p16"/>
          <p:cNvSpPr/>
          <p:nvPr/>
        </p:nvSpPr>
        <p:spPr>
          <a:xfrm>
            <a:off x="533400" y="3962400"/>
            <a:ext cx="11125200" cy="1390650"/>
          </a:xfrm>
          <a:prstGeom prst="roundRect">
            <a:avLst>
              <a:gd fmla="val 12329" name="adj"/>
            </a:avLst>
          </a:prstGeom>
          <a:solidFill>
            <a:srgbClr val="FFFFFF"/>
          </a:solidFill>
          <a:ln cap="flat" cmpd="sng" w="9525">
            <a:solidFill>
              <a:srgbClr val="D9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" name="Google Shape;520;p16"/>
          <p:cNvSpPr/>
          <p:nvPr/>
        </p:nvSpPr>
        <p:spPr>
          <a:xfrm>
            <a:off x="857250" y="4210050"/>
            <a:ext cx="23812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4054"/>
              </a:buClr>
              <a:buSzPts val="1425"/>
              <a:buFont typeface="Arial"/>
              <a:buNone/>
            </a:pPr>
            <a:r>
              <a:rPr b="1" lang="en-US" sz="1425">
                <a:solidFill>
                  <a:srgbClr val="344054"/>
                </a:solidFill>
                <a:latin typeface="Arial"/>
                <a:ea typeface="Arial"/>
                <a:cs typeface="Arial"/>
                <a:sym typeface="Arial"/>
              </a:rPr>
              <a:t>1000万円以上</a:t>
            </a:r>
            <a:endParaRPr/>
          </a:p>
        </p:txBody>
      </p:sp>
      <p:sp>
        <p:nvSpPr>
          <p:cNvPr id="521" name="Google Shape;521;p16"/>
          <p:cNvSpPr/>
          <p:nvPr/>
        </p:nvSpPr>
        <p:spPr>
          <a:xfrm>
            <a:off x="3314700" y="4095750"/>
            <a:ext cx="14287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7421"/>
              </a:buClr>
              <a:buSzPts val="3150"/>
              <a:buFont typeface="Arial"/>
              <a:buNone/>
            </a:pPr>
            <a:r>
              <a:rPr b="1" lang="en-US" sz="3150">
                <a:solidFill>
                  <a:srgbClr val="F47421"/>
                </a:solidFill>
                <a:latin typeface="Arial"/>
                <a:ea typeface="Arial"/>
                <a:cs typeface="Arial"/>
                <a:sym typeface="Arial"/>
              </a:rPr>
              <a:t>2%</a:t>
            </a:r>
            <a:endParaRPr/>
          </a:p>
        </p:txBody>
      </p:sp>
      <p:sp>
        <p:nvSpPr>
          <p:cNvPr id="522" name="Google Shape;522;p16"/>
          <p:cNvSpPr/>
          <p:nvPr/>
        </p:nvSpPr>
        <p:spPr>
          <a:xfrm>
            <a:off x="2990850" y="4762500"/>
            <a:ext cx="2095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125"/>
              <a:buFont typeface="Arial"/>
              <a:buNone/>
            </a:pPr>
            <a:r>
              <a:rPr b="0" lang="en-US" sz="1125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不動産営業</a:t>
            </a:r>
            <a:endParaRPr/>
          </a:p>
        </p:txBody>
      </p:sp>
      <p:cxnSp>
        <p:nvCxnSpPr>
          <p:cNvPr id="523" name="Google Shape;523;p16"/>
          <p:cNvCxnSpPr/>
          <p:nvPr/>
        </p:nvCxnSpPr>
        <p:spPr>
          <a:xfrm>
            <a:off x="6019800" y="4191000"/>
            <a:ext cx="0" cy="838200"/>
          </a:xfrm>
          <a:prstGeom prst="straightConnector1">
            <a:avLst/>
          </a:prstGeom>
          <a:noFill/>
          <a:ln cap="flat" cmpd="sng" w="19050">
            <a:solidFill>
              <a:srgbClr val="D9DE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24" name="Google Shape;524;p16"/>
          <p:cNvSpPr/>
          <p:nvPr/>
        </p:nvSpPr>
        <p:spPr>
          <a:xfrm>
            <a:off x="7258050" y="4095750"/>
            <a:ext cx="14287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55"/>
              </a:buClr>
              <a:buSzPts val="3150"/>
              <a:buFont typeface="Arial"/>
              <a:buNone/>
            </a:pPr>
            <a:r>
              <a:rPr b="1" lang="en-US" sz="3150">
                <a:solidFill>
                  <a:srgbClr val="152255"/>
                </a:solidFill>
                <a:latin typeface="Arial"/>
                <a:ea typeface="Arial"/>
                <a:cs typeface="Arial"/>
                <a:sym typeface="Arial"/>
              </a:rPr>
              <a:t>1%</a:t>
            </a:r>
            <a:endParaRPr/>
          </a:p>
        </p:txBody>
      </p:sp>
      <p:sp>
        <p:nvSpPr>
          <p:cNvPr id="525" name="Google Shape;525;p16"/>
          <p:cNvSpPr/>
          <p:nvPr/>
        </p:nvSpPr>
        <p:spPr>
          <a:xfrm>
            <a:off x="6934200" y="4762500"/>
            <a:ext cx="2095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125"/>
              <a:buFont typeface="Arial"/>
              <a:buNone/>
            </a:pPr>
            <a:r>
              <a:rPr b="0" lang="en-US" sz="1125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人材サービスの営業</a:t>
            </a:r>
            <a:endParaRPr/>
          </a:p>
        </p:txBody>
      </p:sp>
      <p:sp>
        <p:nvSpPr>
          <p:cNvPr id="526" name="Google Shape;526;p16"/>
          <p:cNvSpPr/>
          <p:nvPr/>
        </p:nvSpPr>
        <p:spPr>
          <a:xfrm>
            <a:off x="9277350" y="4324350"/>
            <a:ext cx="18097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7421"/>
              </a:buClr>
              <a:buSzPts val="1650"/>
              <a:buFont typeface="Arial"/>
              <a:buNone/>
            </a:pPr>
            <a:r>
              <a:rPr b="1" lang="en-US" sz="1650">
                <a:solidFill>
                  <a:srgbClr val="F47421"/>
                </a:solidFill>
                <a:latin typeface="Arial"/>
                <a:ea typeface="Arial"/>
                <a:cs typeface="Arial"/>
                <a:sym typeface="Arial"/>
              </a:rPr>
              <a:t>上位帯は約3倍</a:t>
            </a:r>
            <a:endParaRPr/>
          </a:p>
        </p:txBody>
      </p:sp>
      <p:sp>
        <p:nvSpPr>
          <p:cNvPr id="527" name="Google Shape;527;p16"/>
          <p:cNvSpPr/>
          <p:nvPr/>
        </p:nvSpPr>
        <p:spPr>
          <a:xfrm>
            <a:off x="533400" y="5619750"/>
            <a:ext cx="111252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55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152255"/>
                </a:solidFill>
                <a:latin typeface="Arial"/>
                <a:ea typeface="Arial"/>
                <a:cs typeface="Arial"/>
                <a:sym typeface="Arial"/>
              </a:rPr>
              <a:t>平均年収だけでなく、分布を見ると「どこまで届くか」が分かる。</a:t>
            </a:r>
            <a:endParaRPr/>
          </a:p>
        </p:txBody>
      </p:sp>
      <p:sp>
        <p:nvSpPr>
          <p:cNvPr id="528" name="Google Shape;528;p16"/>
          <p:cNvSpPr/>
          <p:nvPr/>
        </p:nvSpPr>
        <p:spPr>
          <a:xfrm>
            <a:off x="533400" y="6019800"/>
            <a:ext cx="11125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750"/>
              <a:buFont typeface="Arial"/>
              <a:buNone/>
            </a:pPr>
            <a:r>
              <a:rPr b="0" lang="en-US" sz="750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出典：doda 職種図鑑。800万円以上は各年収帯の公表割合を合算</a:t>
            </a:r>
            <a:endParaRPr/>
          </a:p>
        </p:txBody>
      </p:sp>
      <p:pic>
        <p:nvPicPr>
          <p:cNvPr id="529" name="Google Shape;52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11399" y="119051"/>
            <a:ext cx="2095500" cy="4450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F0"/>
        </a:solidFill>
      </p:bgPr>
    </p:bg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17"/>
          <p:cNvSpPr/>
          <p:nvPr/>
        </p:nvSpPr>
        <p:spPr>
          <a:xfrm>
            <a:off x="533400" y="276225"/>
            <a:ext cx="76200" cy="238125"/>
          </a:xfrm>
          <a:prstGeom prst="roundRect">
            <a:avLst>
              <a:gd fmla="val 50000" name="adj"/>
            </a:avLst>
          </a:prstGeom>
          <a:solidFill>
            <a:srgbClr val="F474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6" name="Google Shape;536;p17"/>
          <p:cNvSpPr/>
          <p:nvPr/>
        </p:nvSpPr>
        <p:spPr>
          <a:xfrm>
            <a:off x="742950" y="2667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125"/>
              <a:buFont typeface="Arial"/>
              <a:buNone/>
            </a:pPr>
            <a:r>
              <a:rPr b="1" lang="en-US" sz="1125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08｜年収比較</a:t>
            </a:r>
            <a:endParaRPr/>
          </a:p>
        </p:txBody>
      </p:sp>
      <p:sp>
        <p:nvSpPr>
          <p:cNvPr id="537" name="Google Shape;537;p17"/>
          <p:cNvSpPr/>
          <p:nvPr/>
        </p:nvSpPr>
        <p:spPr>
          <a:xfrm>
            <a:off x="533400" y="723900"/>
            <a:ext cx="106680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55"/>
              </a:buClr>
              <a:buSzPts val="2850"/>
              <a:buFont typeface="Arial"/>
              <a:buNone/>
            </a:pPr>
            <a:r>
              <a:rPr b="1" lang="en-US" sz="2850">
                <a:solidFill>
                  <a:srgbClr val="152255"/>
                </a:solidFill>
                <a:latin typeface="Arial"/>
                <a:ea typeface="Arial"/>
                <a:cs typeface="Arial"/>
                <a:sym typeface="Arial"/>
              </a:rPr>
              <a:t>平均は参考値。最後は会社の「給与設計」を見る</a:t>
            </a:r>
            <a:endParaRPr/>
          </a:p>
        </p:txBody>
      </p:sp>
      <p:cxnSp>
        <p:nvCxnSpPr>
          <p:cNvPr id="538" name="Google Shape;538;p17"/>
          <p:cNvCxnSpPr/>
          <p:nvPr/>
        </p:nvCxnSpPr>
        <p:spPr>
          <a:xfrm>
            <a:off x="533400" y="6315075"/>
            <a:ext cx="11125200" cy="0"/>
          </a:xfrm>
          <a:prstGeom prst="straightConnector1">
            <a:avLst/>
          </a:prstGeom>
          <a:noFill/>
          <a:ln cap="flat" cmpd="sng" w="9525">
            <a:solidFill>
              <a:srgbClr val="D9DE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39" name="Google Shape;539;p17"/>
          <p:cNvSpPr/>
          <p:nvPr/>
        </p:nvSpPr>
        <p:spPr>
          <a:xfrm>
            <a:off x="533400" y="6448425"/>
            <a:ext cx="88582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825"/>
              <a:buFont typeface="Arial"/>
              <a:buNone/>
            </a:pPr>
            <a:r>
              <a:rPr b="0" lang="en-US" sz="825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TOKYO BIG HOUSE 最終面接資料｜社外秘・面接時のみ提示</a:t>
            </a:r>
            <a:endParaRPr/>
          </a:p>
        </p:txBody>
      </p:sp>
      <p:sp>
        <p:nvSpPr>
          <p:cNvPr id="540" name="Google Shape;540;p17"/>
          <p:cNvSpPr/>
          <p:nvPr/>
        </p:nvSpPr>
        <p:spPr>
          <a:xfrm>
            <a:off x="10744200" y="6419850"/>
            <a:ext cx="9144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55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152255"/>
                </a:solidFill>
                <a:latin typeface="Arial"/>
                <a:ea typeface="Arial"/>
                <a:cs typeface="Arial"/>
                <a:sym typeface="Arial"/>
              </a:rPr>
              <a:t>P.15</a:t>
            </a:r>
            <a:endParaRPr/>
          </a:p>
        </p:txBody>
      </p:sp>
      <p:sp>
        <p:nvSpPr>
          <p:cNvPr id="541" name="Google Shape;541;p17"/>
          <p:cNvSpPr/>
          <p:nvPr/>
        </p:nvSpPr>
        <p:spPr>
          <a:xfrm>
            <a:off x="533400" y="1657350"/>
            <a:ext cx="3028950" cy="3600450"/>
          </a:xfrm>
          <a:prstGeom prst="roundRect">
            <a:avLst>
              <a:gd fmla="val 5660" name="adj"/>
            </a:avLst>
          </a:prstGeom>
          <a:solidFill>
            <a:srgbClr val="FFFFFF"/>
          </a:solidFill>
          <a:ln cap="flat" cmpd="sng" w="9525">
            <a:solidFill>
              <a:srgbClr val="D9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2" name="Google Shape;542;p17"/>
          <p:cNvSpPr/>
          <p:nvPr/>
        </p:nvSpPr>
        <p:spPr>
          <a:xfrm>
            <a:off x="819150" y="1924050"/>
            <a:ext cx="24574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4054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344054"/>
                </a:solidFill>
              </a:rPr>
              <a:t>不動産営業</a:t>
            </a:r>
            <a:r>
              <a:rPr b="1" lang="en-US" sz="1500">
                <a:solidFill>
                  <a:srgbClr val="344054"/>
                </a:solidFill>
                <a:latin typeface="Arial"/>
                <a:ea typeface="Arial"/>
                <a:cs typeface="Arial"/>
                <a:sym typeface="Arial"/>
              </a:rPr>
              <a:t>平均</a:t>
            </a:r>
            <a:endParaRPr/>
          </a:p>
        </p:txBody>
      </p:sp>
      <p:sp>
        <p:nvSpPr>
          <p:cNvPr id="543" name="Google Shape;543;p17"/>
          <p:cNvSpPr/>
          <p:nvPr/>
        </p:nvSpPr>
        <p:spPr>
          <a:xfrm>
            <a:off x="819150" y="2457450"/>
            <a:ext cx="1866900" cy="74295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7421"/>
              </a:buClr>
              <a:buSzPts val="4200"/>
              <a:buFont typeface="Arial"/>
              <a:buNone/>
            </a:pPr>
            <a:r>
              <a:rPr b="1" lang="en-US" sz="4200">
                <a:solidFill>
                  <a:srgbClr val="F47421"/>
                </a:solidFill>
                <a:latin typeface="Arial"/>
                <a:ea typeface="Arial"/>
                <a:cs typeface="Arial"/>
                <a:sym typeface="Arial"/>
              </a:rPr>
              <a:t>459.4</a:t>
            </a:r>
            <a:endParaRPr/>
          </a:p>
        </p:txBody>
      </p:sp>
      <p:sp>
        <p:nvSpPr>
          <p:cNvPr id="544" name="Google Shape;544;p17"/>
          <p:cNvSpPr/>
          <p:nvPr/>
        </p:nvSpPr>
        <p:spPr>
          <a:xfrm>
            <a:off x="2724150" y="2857500"/>
            <a:ext cx="5524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55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152255"/>
                </a:solidFill>
                <a:latin typeface="Arial"/>
                <a:ea typeface="Arial"/>
                <a:cs typeface="Arial"/>
                <a:sym typeface="Arial"/>
              </a:rPr>
              <a:t>万円</a:t>
            </a:r>
            <a:endParaRPr/>
          </a:p>
        </p:txBody>
      </p:sp>
      <p:cxnSp>
        <p:nvCxnSpPr>
          <p:cNvPr id="545" name="Google Shape;545;p17"/>
          <p:cNvCxnSpPr/>
          <p:nvPr/>
        </p:nvCxnSpPr>
        <p:spPr>
          <a:xfrm>
            <a:off x="952500" y="3457575"/>
            <a:ext cx="2267100" cy="0"/>
          </a:xfrm>
          <a:prstGeom prst="straightConnector1">
            <a:avLst/>
          </a:prstGeom>
          <a:noFill/>
          <a:ln cap="flat" cmpd="sng" w="9525">
            <a:solidFill>
              <a:srgbClr val="D9DE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46" name="Google Shape;546;p17"/>
          <p:cNvSpPr/>
          <p:nvPr/>
        </p:nvSpPr>
        <p:spPr>
          <a:xfrm>
            <a:off x="914475" y="3848100"/>
            <a:ext cx="23433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344054"/>
              </a:buClr>
              <a:buSzPts val="1425"/>
              <a:buFont typeface="Arial"/>
              <a:buNone/>
            </a:pPr>
            <a:r>
              <a:rPr b="1" lang="en-US" sz="1425">
                <a:solidFill>
                  <a:srgbClr val="344054"/>
                </a:solidFill>
                <a:latin typeface="Arial"/>
                <a:ea typeface="Arial"/>
                <a:cs typeface="Arial"/>
                <a:sym typeface="Arial"/>
              </a:rPr>
              <a:t>これは会社も年齢も</a:t>
            </a:r>
            <a:endParaRPr/>
          </a:p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344054"/>
              </a:buClr>
              <a:buSzPts val="1425"/>
              <a:buFont typeface="Arial"/>
              <a:buNone/>
            </a:pPr>
            <a:r>
              <a:rPr b="1" lang="en-US" sz="1425">
                <a:solidFill>
                  <a:srgbClr val="344054"/>
                </a:solidFill>
                <a:latin typeface="Arial"/>
                <a:ea typeface="Arial"/>
                <a:cs typeface="Arial"/>
                <a:sym typeface="Arial"/>
              </a:rPr>
              <a:t>混ざった参考値</a:t>
            </a:r>
            <a:endParaRPr/>
          </a:p>
        </p:txBody>
      </p:sp>
      <p:sp>
        <p:nvSpPr>
          <p:cNvPr id="547" name="Google Shape;547;p17"/>
          <p:cNvSpPr/>
          <p:nvPr/>
        </p:nvSpPr>
        <p:spPr>
          <a:xfrm>
            <a:off x="4114800" y="1600200"/>
            <a:ext cx="571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55"/>
              </a:buClr>
              <a:buSzPts val="1650"/>
              <a:buFont typeface="Arial"/>
              <a:buNone/>
            </a:pPr>
            <a:r>
              <a:rPr b="1" lang="en-US" sz="1650">
                <a:solidFill>
                  <a:srgbClr val="152255"/>
                </a:solidFill>
              </a:rPr>
              <a:t>東京ビッグハウス</a:t>
            </a:r>
            <a:r>
              <a:rPr b="1" lang="en-US" sz="1650">
                <a:solidFill>
                  <a:srgbClr val="152255"/>
                </a:solidFill>
                <a:latin typeface="Arial"/>
                <a:ea typeface="Arial"/>
                <a:cs typeface="Arial"/>
                <a:sym typeface="Arial"/>
              </a:rPr>
              <a:t>の社内レンジ</a:t>
            </a:r>
            <a:endParaRPr/>
          </a:p>
        </p:txBody>
      </p:sp>
      <p:sp>
        <p:nvSpPr>
          <p:cNvPr id="548" name="Google Shape;548;p17"/>
          <p:cNvSpPr/>
          <p:nvPr/>
        </p:nvSpPr>
        <p:spPr>
          <a:xfrm>
            <a:off x="4114800" y="2190750"/>
            <a:ext cx="16192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4054"/>
              </a:buClr>
              <a:buSzPts val="1425"/>
              <a:buFont typeface="Arial"/>
              <a:buNone/>
            </a:pPr>
            <a:r>
              <a:rPr b="1" lang="en-US" sz="1425">
                <a:solidFill>
                  <a:srgbClr val="344054"/>
                </a:solidFill>
                <a:latin typeface="Arial"/>
                <a:ea typeface="Arial"/>
                <a:cs typeface="Arial"/>
                <a:sym typeface="Arial"/>
              </a:rPr>
              <a:t>営業担当</a:t>
            </a:r>
            <a:endParaRPr/>
          </a:p>
        </p:txBody>
      </p:sp>
      <p:sp>
        <p:nvSpPr>
          <p:cNvPr id="549" name="Google Shape;549;p17"/>
          <p:cNvSpPr/>
          <p:nvPr/>
        </p:nvSpPr>
        <p:spPr>
          <a:xfrm>
            <a:off x="5810250" y="2133600"/>
            <a:ext cx="5334000" cy="476250"/>
          </a:xfrm>
          <a:prstGeom prst="roundRect">
            <a:avLst>
              <a:gd fmla="val 20000" name="adj"/>
            </a:avLst>
          </a:prstGeom>
          <a:solidFill>
            <a:srgbClr val="EEF1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" name="Google Shape;550;p17"/>
          <p:cNvSpPr/>
          <p:nvPr/>
        </p:nvSpPr>
        <p:spPr>
          <a:xfrm>
            <a:off x="6057900" y="2171700"/>
            <a:ext cx="48387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55"/>
              </a:buClr>
              <a:buSzPts val="1875"/>
              <a:buFont typeface="Arial"/>
              <a:buNone/>
            </a:pPr>
            <a:r>
              <a:rPr b="1" lang="en-US" sz="1875">
                <a:solidFill>
                  <a:srgbClr val="152255"/>
                </a:solidFill>
                <a:latin typeface="Arial"/>
                <a:ea typeface="Arial"/>
                <a:cs typeface="Arial"/>
                <a:sym typeface="Arial"/>
              </a:rPr>
              <a:t>400〜850万円</a:t>
            </a:r>
            <a:endParaRPr/>
          </a:p>
        </p:txBody>
      </p:sp>
      <p:sp>
        <p:nvSpPr>
          <p:cNvPr id="551" name="Google Shape;551;p17"/>
          <p:cNvSpPr/>
          <p:nvPr/>
        </p:nvSpPr>
        <p:spPr>
          <a:xfrm>
            <a:off x="4114800" y="3181350"/>
            <a:ext cx="16192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4054"/>
              </a:buClr>
              <a:buSzPts val="1425"/>
              <a:buFont typeface="Arial"/>
              <a:buNone/>
            </a:pPr>
            <a:r>
              <a:rPr b="1" lang="en-US" sz="1425">
                <a:solidFill>
                  <a:srgbClr val="344054"/>
                </a:solidFill>
                <a:latin typeface="Arial"/>
                <a:ea typeface="Arial"/>
                <a:cs typeface="Arial"/>
                <a:sym typeface="Arial"/>
              </a:rPr>
              <a:t>リーダー</a:t>
            </a:r>
            <a:endParaRPr/>
          </a:p>
        </p:txBody>
      </p:sp>
      <p:sp>
        <p:nvSpPr>
          <p:cNvPr id="552" name="Google Shape;552;p17"/>
          <p:cNvSpPr/>
          <p:nvPr/>
        </p:nvSpPr>
        <p:spPr>
          <a:xfrm>
            <a:off x="5810250" y="3124200"/>
            <a:ext cx="5334000" cy="476250"/>
          </a:xfrm>
          <a:prstGeom prst="roundRect">
            <a:avLst>
              <a:gd fmla="val 20000" name="adj"/>
            </a:avLst>
          </a:prstGeom>
          <a:solidFill>
            <a:srgbClr val="FFF0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3" name="Google Shape;553;p17"/>
          <p:cNvSpPr/>
          <p:nvPr/>
        </p:nvSpPr>
        <p:spPr>
          <a:xfrm>
            <a:off x="6057900" y="3162300"/>
            <a:ext cx="48387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7421"/>
              </a:buClr>
              <a:buSzPts val="1875"/>
              <a:buFont typeface="Arial"/>
              <a:buNone/>
            </a:pPr>
            <a:r>
              <a:rPr b="1" lang="en-US" sz="1875">
                <a:solidFill>
                  <a:srgbClr val="F47421"/>
                </a:solidFill>
                <a:latin typeface="Arial"/>
                <a:ea typeface="Arial"/>
                <a:cs typeface="Arial"/>
                <a:sym typeface="Arial"/>
              </a:rPr>
              <a:t>600〜1,200万円</a:t>
            </a:r>
            <a:endParaRPr/>
          </a:p>
        </p:txBody>
      </p:sp>
      <p:sp>
        <p:nvSpPr>
          <p:cNvPr id="554" name="Google Shape;554;p17"/>
          <p:cNvSpPr/>
          <p:nvPr/>
        </p:nvSpPr>
        <p:spPr>
          <a:xfrm>
            <a:off x="4114800" y="4171950"/>
            <a:ext cx="16192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4054"/>
              </a:buClr>
              <a:buSzPts val="1425"/>
              <a:buFont typeface="Arial"/>
              <a:buNone/>
            </a:pPr>
            <a:r>
              <a:rPr b="1" lang="en-US" sz="1425">
                <a:solidFill>
                  <a:srgbClr val="344054"/>
                </a:solidFill>
                <a:latin typeface="Arial"/>
                <a:ea typeface="Arial"/>
                <a:cs typeface="Arial"/>
                <a:sym typeface="Arial"/>
              </a:rPr>
              <a:t>課長</a:t>
            </a:r>
            <a:endParaRPr/>
          </a:p>
        </p:txBody>
      </p:sp>
      <p:sp>
        <p:nvSpPr>
          <p:cNvPr id="555" name="Google Shape;555;p17"/>
          <p:cNvSpPr/>
          <p:nvPr/>
        </p:nvSpPr>
        <p:spPr>
          <a:xfrm>
            <a:off x="5810250" y="4114800"/>
            <a:ext cx="5334000" cy="476250"/>
          </a:xfrm>
          <a:prstGeom prst="roundRect">
            <a:avLst>
              <a:gd fmla="val 20000" name="adj"/>
            </a:avLst>
          </a:prstGeom>
          <a:solidFill>
            <a:srgbClr val="FFF0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6" name="Google Shape;556;p17"/>
          <p:cNvSpPr/>
          <p:nvPr/>
        </p:nvSpPr>
        <p:spPr>
          <a:xfrm>
            <a:off x="6057900" y="4152900"/>
            <a:ext cx="48387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7421"/>
              </a:buClr>
              <a:buSzPts val="1875"/>
              <a:buFont typeface="Arial"/>
              <a:buNone/>
            </a:pPr>
            <a:r>
              <a:rPr b="1" lang="en-US" sz="1875">
                <a:solidFill>
                  <a:srgbClr val="F47421"/>
                </a:solidFill>
                <a:latin typeface="Arial"/>
                <a:ea typeface="Arial"/>
                <a:cs typeface="Arial"/>
                <a:sym typeface="Arial"/>
              </a:rPr>
              <a:t>900〜1,800万円</a:t>
            </a:r>
            <a:endParaRPr/>
          </a:p>
        </p:txBody>
      </p:sp>
      <p:sp>
        <p:nvSpPr>
          <p:cNvPr id="557" name="Google Shape;557;p17"/>
          <p:cNvSpPr/>
          <p:nvPr/>
        </p:nvSpPr>
        <p:spPr>
          <a:xfrm>
            <a:off x="4114800" y="5143500"/>
            <a:ext cx="7029450" cy="628650"/>
          </a:xfrm>
          <a:prstGeom prst="roundRect">
            <a:avLst>
              <a:gd fmla="val 18182" name="adj"/>
            </a:avLst>
          </a:prstGeom>
          <a:solidFill>
            <a:srgbClr val="1522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8" name="Google Shape;558;p17"/>
          <p:cNvSpPr/>
          <p:nvPr/>
        </p:nvSpPr>
        <p:spPr>
          <a:xfrm>
            <a:off x="4305300" y="5257800"/>
            <a:ext cx="66484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5"/>
              <a:buFont typeface="Arial"/>
              <a:buNone/>
            </a:pPr>
            <a:r>
              <a:rPr b="1" lang="en-US" sz="157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見るべきは、固定給・歩合・昇格条件・実績分布。</a:t>
            </a:r>
            <a:endParaRPr/>
          </a:p>
        </p:txBody>
      </p:sp>
      <p:sp>
        <p:nvSpPr>
          <p:cNvPr id="559" name="Google Shape;559;p17"/>
          <p:cNvSpPr/>
          <p:nvPr/>
        </p:nvSpPr>
        <p:spPr>
          <a:xfrm>
            <a:off x="533400" y="6019800"/>
            <a:ext cx="11125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750"/>
              <a:buFont typeface="Arial"/>
              <a:buNone/>
            </a:pPr>
            <a:r>
              <a:rPr b="0" lang="en-US" sz="750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外部平均：doda／社内レンジ：TBH実績値。到達時期や支給を保証するものではありません</a:t>
            </a:r>
            <a:endParaRPr/>
          </a:p>
        </p:txBody>
      </p:sp>
      <p:pic>
        <p:nvPicPr>
          <p:cNvPr id="560" name="Google Shape;56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11399" y="119051"/>
            <a:ext cx="2095500" cy="4450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F0"/>
        </a:solidFill>
      </p:bgPr>
    </p:bg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18"/>
          <p:cNvSpPr/>
          <p:nvPr/>
        </p:nvSpPr>
        <p:spPr>
          <a:xfrm>
            <a:off x="533400" y="276225"/>
            <a:ext cx="76200" cy="238125"/>
          </a:xfrm>
          <a:prstGeom prst="roundRect">
            <a:avLst>
              <a:gd fmla="val 50000" name="adj"/>
            </a:avLst>
          </a:prstGeom>
          <a:solidFill>
            <a:srgbClr val="F474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18"/>
          <p:cNvSpPr/>
          <p:nvPr/>
        </p:nvSpPr>
        <p:spPr>
          <a:xfrm>
            <a:off x="742950" y="2667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125"/>
              <a:buFont typeface="Arial"/>
              <a:buNone/>
            </a:pPr>
            <a:r>
              <a:rPr b="1" lang="en-US" sz="1125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09｜住宅市場</a:t>
            </a:r>
            <a:endParaRPr/>
          </a:p>
        </p:txBody>
      </p:sp>
      <p:sp>
        <p:nvSpPr>
          <p:cNvPr id="568" name="Google Shape;568;p18"/>
          <p:cNvSpPr/>
          <p:nvPr/>
        </p:nvSpPr>
        <p:spPr>
          <a:xfrm>
            <a:off x="533400" y="723900"/>
            <a:ext cx="106680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55"/>
              </a:buClr>
              <a:buSzPts val="3000"/>
              <a:buFont typeface="Arial"/>
              <a:buNone/>
            </a:pPr>
            <a:r>
              <a:rPr b="1" lang="en-US" sz="3000">
                <a:solidFill>
                  <a:srgbClr val="152255"/>
                </a:solidFill>
                <a:latin typeface="Arial"/>
                <a:ea typeface="Arial"/>
                <a:cs typeface="Arial"/>
                <a:sym typeface="Arial"/>
              </a:rPr>
              <a:t>住宅は、生活に根ざした大きな市場</a:t>
            </a:r>
            <a:endParaRPr/>
          </a:p>
        </p:txBody>
      </p:sp>
      <p:cxnSp>
        <p:nvCxnSpPr>
          <p:cNvPr id="569" name="Google Shape;569;p18"/>
          <p:cNvCxnSpPr/>
          <p:nvPr/>
        </p:nvCxnSpPr>
        <p:spPr>
          <a:xfrm>
            <a:off x="533400" y="6315075"/>
            <a:ext cx="11125200" cy="0"/>
          </a:xfrm>
          <a:prstGeom prst="straightConnector1">
            <a:avLst/>
          </a:prstGeom>
          <a:noFill/>
          <a:ln cap="flat" cmpd="sng" w="9525">
            <a:solidFill>
              <a:srgbClr val="D9DE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70" name="Google Shape;570;p18"/>
          <p:cNvSpPr/>
          <p:nvPr/>
        </p:nvSpPr>
        <p:spPr>
          <a:xfrm>
            <a:off x="533400" y="6448425"/>
            <a:ext cx="88582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825"/>
              <a:buFont typeface="Arial"/>
              <a:buNone/>
            </a:pPr>
            <a:r>
              <a:rPr b="0" lang="en-US" sz="825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TOKYO BIG HOUSE 最終面接資料｜社外秘・面接時のみ提示</a:t>
            </a:r>
            <a:endParaRPr/>
          </a:p>
        </p:txBody>
      </p:sp>
      <p:sp>
        <p:nvSpPr>
          <p:cNvPr id="571" name="Google Shape;571;p18"/>
          <p:cNvSpPr/>
          <p:nvPr/>
        </p:nvSpPr>
        <p:spPr>
          <a:xfrm>
            <a:off x="10744200" y="6419850"/>
            <a:ext cx="9144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55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152255"/>
                </a:solidFill>
                <a:latin typeface="Arial"/>
                <a:ea typeface="Arial"/>
                <a:cs typeface="Arial"/>
                <a:sym typeface="Arial"/>
              </a:rPr>
              <a:t>P.16</a:t>
            </a:r>
            <a:endParaRPr/>
          </a:p>
        </p:txBody>
      </p:sp>
      <p:sp>
        <p:nvSpPr>
          <p:cNvPr id="572" name="Google Shape;572;p18"/>
          <p:cNvSpPr/>
          <p:nvPr/>
        </p:nvSpPr>
        <p:spPr>
          <a:xfrm>
            <a:off x="533400" y="1390650"/>
            <a:ext cx="6858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「不動産はなくなる？」を、3つの公的数字で見る</a:t>
            </a:r>
            <a:endParaRPr/>
          </a:p>
        </p:txBody>
      </p:sp>
      <p:sp>
        <p:nvSpPr>
          <p:cNvPr id="573" name="Google Shape;573;p18"/>
          <p:cNvSpPr/>
          <p:nvPr/>
        </p:nvSpPr>
        <p:spPr>
          <a:xfrm>
            <a:off x="685800" y="2076450"/>
            <a:ext cx="2857500" cy="70485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7421"/>
              </a:buClr>
              <a:buSzPts val="4350"/>
              <a:buFont typeface="Arial"/>
              <a:buNone/>
            </a:pPr>
            <a:r>
              <a:rPr b="1" lang="en-US" sz="4350">
                <a:solidFill>
                  <a:srgbClr val="F47421"/>
                </a:solidFill>
                <a:latin typeface="Arial"/>
                <a:ea typeface="Arial"/>
                <a:cs typeface="Arial"/>
                <a:sym typeface="Arial"/>
              </a:rPr>
              <a:t>6,502</a:t>
            </a:r>
            <a:endParaRPr/>
          </a:p>
        </p:txBody>
      </p:sp>
      <p:sp>
        <p:nvSpPr>
          <p:cNvPr id="574" name="Google Shape;574;p18"/>
          <p:cNvSpPr/>
          <p:nvPr/>
        </p:nvSpPr>
        <p:spPr>
          <a:xfrm>
            <a:off x="2495550" y="2390775"/>
            <a:ext cx="6667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55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152255"/>
                </a:solidFill>
                <a:latin typeface="Arial"/>
                <a:ea typeface="Arial"/>
                <a:cs typeface="Arial"/>
                <a:sym typeface="Arial"/>
              </a:rPr>
              <a:t>万戸</a:t>
            </a:r>
            <a:endParaRPr/>
          </a:p>
        </p:txBody>
      </p:sp>
      <p:sp>
        <p:nvSpPr>
          <p:cNvPr id="575" name="Google Shape;575;p18"/>
          <p:cNvSpPr/>
          <p:nvPr/>
        </p:nvSpPr>
        <p:spPr>
          <a:xfrm>
            <a:off x="685800" y="2857500"/>
            <a:ext cx="285750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344054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344054"/>
                </a:solidFill>
                <a:latin typeface="Arial"/>
                <a:ea typeface="Arial"/>
                <a:cs typeface="Arial"/>
                <a:sym typeface="Arial"/>
              </a:rPr>
              <a:t>国内の総住宅数</a:t>
            </a:r>
            <a:endParaRPr/>
          </a:p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344054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344054"/>
                </a:solidFill>
                <a:latin typeface="Arial"/>
                <a:ea typeface="Arial"/>
                <a:cs typeface="Arial"/>
                <a:sym typeface="Arial"/>
              </a:rPr>
              <a:t>（2023年）</a:t>
            </a:r>
            <a:endParaRPr/>
          </a:p>
        </p:txBody>
      </p:sp>
      <p:cxnSp>
        <p:nvCxnSpPr>
          <p:cNvPr id="576" name="Google Shape;576;p18"/>
          <p:cNvCxnSpPr/>
          <p:nvPr/>
        </p:nvCxnSpPr>
        <p:spPr>
          <a:xfrm>
            <a:off x="3924300" y="2038350"/>
            <a:ext cx="0" cy="2381250"/>
          </a:xfrm>
          <a:prstGeom prst="straightConnector1">
            <a:avLst/>
          </a:prstGeom>
          <a:noFill/>
          <a:ln cap="flat" cmpd="sng" w="19050">
            <a:solidFill>
              <a:srgbClr val="D9DE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77" name="Google Shape;577;p18"/>
          <p:cNvSpPr/>
          <p:nvPr/>
        </p:nvSpPr>
        <p:spPr>
          <a:xfrm>
            <a:off x="4457700" y="2076450"/>
            <a:ext cx="2857500" cy="70485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7421"/>
              </a:buClr>
              <a:buSzPts val="4350"/>
              <a:buFont typeface="Arial"/>
              <a:buNone/>
            </a:pPr>
            <a:r>
              <a:rPr b="1" lang="en-US" sz="4350">
                <a:solidFill>
                  <a:srgbClr val="F47421"/>
                </a:solidFill>
                <a:latin typeface="Arial"/>
                <a:ea typeface="Arial"/>
                <a:cs typeface="Arial"/>
                <a:sym typeface="Arial"/>
              </a:rPr>
              <a:t>60.9</a:t>
            </a:r>
            <a:endParaRPr/>
          </a:p>
        </p:txBody>
      </p:sp>
      <p:sp>
        <p:nvSpPr>
          <p:cNvPr id="578" name="Google Shape;578;p18"/>
          <p:cNvSpPr/>
          <p:nvPr/>
        </p:nvSpPr>
        <p:spPr>
          <a:xfrm>
            <a:off x="6267450" y="2390775"/>
            <a:ext cx="6667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55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152255"/>
                </a:solidFill>
                <a:latin typeface="Arial"/>
                <a:ea typeface="Arial"/>
                <a:cs typeface="Arial"/>
                <a:sym typeface="Arial"/>
              </a:rPr>
              <a:t>%</a:t>
            </a:r>
            <a:endParaRPr/>
          </a:p>
        </p:txBody>
      </p:sp>
      <p:sp>
        <p:nvSpPr>
          <p:cNvPr id="579" name="Google Shape;579;p18"/>
          <p:cNvSpPr/>
          <p:nvPr/>
        </p:nvSpPr>
        <p:spPr>
          <a:xfrm>
            <a:off x="4457700" y="2857500"/>
            <a:ext cx="285750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344054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344054"/>
                </a:solidFill>
                <a:latin typeface="Arial"/>
                <a:ea typeface="Arial"/>
                <a:cs typeface="Arial"/>
                <a:sym typeface="Arial"/>
              </a:rPr>
              <a:t>持ち家住宅率</a:t>
            </a:r>
            <a:endParaRPr/>
          </a:p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344054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344054"/>
                </a:solidFill>
                <a:latin typeface="Arial"/>
                <a:ea typeface="Arial"/>
                <a:cs typeface="Arial"/>
                <a:sym typeface="Arial"/>
              </a:rPr>
              <a:t>30年間ほぼ60%前後</a:t>
            </a:r>
            <a:endParaRPr/>
          </a:p>
        </p:txBody>
      </p:sp>
      <p:cxnSp>
        <p:nvCxnSpPr>
          <p:cNvPr id="580" name="Google Shape;580;p18"/>
          <p:cNvCxnSpPr/>
          <p:nvPr/>
        </p:nvCxnSpPr>
        <p:spPr>
          <a:xfrm>
            <a:off x="7696200" y="2038350"/>
            <a:ext cx="0" cy="2381250"/>
          </a:xfrm>
          <a:prstGeom prst="straightConnector1">
            <a:avLst/>
          </a:prstGeom>
          <a:noFill/>
          <a:ln cap="flat" cmpd="sng" w="19050">
            <a:solidFill>
              <a:srgbClr val="D9DE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1" name="Google Shape;581;p18"/>
          <p:cNvSpPr/>
          <p:nvPr/>
        </p:nvSpPr>
        <p:spPr>
          <a:xfrm>
            <a:off x="8229600" y="2076450"/>
            <a:ext cx="3048000" cy="70485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7421"/>
              </a:buClr>
              <a:buSzPts val="4350"/>
              <a:buFont typeface="Arial"/>
              <a:buNone/>
            </a:pPr>
            <a:r>
              <a:rPr b="1" lang="en-US" sz="4350">
                <a:solidFill>
                  <a:srgbClr val="F47421"/>
                </a:solidFill>
                <a:latin typeface="Arial"/>
                <a:ea typeface="Arial"/>
                <a:cs typeface="Arial"/>
                <a:sym typeface="Arial"/>
              </a:rPr>
              <a:t>23.2</a:t>
            </a:r>
            <a:endParaRPr/>
          </a:p>
        </p:txBody>
      </p:sp>
      <p:sp>
        <p:nvSpPr>
          <p:cNvPr id="582" name="Google Shape;582;p18"/>
          <p:cNvSpPr/>
          <p:nvPr/>
        </p:nvSpPr>
        <p:spPr>
          <a:xfrm>
            <a:off x="10020300" y="2390775"/>
            <a:ext cx="6667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55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152255"/>
                </a:solidFill>
                <a:latin typeface="Arial"/>
                <a:ea typeface="Arial"/>
                <a:cs typeface="Arial"/>
                <a:sym typeface="Arial"/>
              </a:rPr>
              <a:t>兆円</a:t>
            </a:r>
            <a:endParaRPr/>
          </a:p>
        </p:txBody>
      </p:sp>
      <p:sp>
        <p:nvSpPr>
          <p:cNvPr id="583" name="Google Shape;583;p18"/>
          <p:cNvSpPr/>
          <p:nvPr/>
        </p:nvSpPr>
        <p:spPr>
          <a:xfrm>
            <a:off x="8229600" y="2857500"/>
            <a:ext cx="304800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344054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344054"/>
                </a:solidFill>
                <a:latin typeface="Arial"/>
                <a:ea typeface="Arial"/>
                <a:cs typeface="Arial"/>
                <a:sym typeface="Arial"/>
              </a:rPr>
              <a:t>民間住宅投資</a:t>
            </a:r>
            <a:endParaRPr/>
          </a:p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344054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344054"/>
                </a:solidFill>
                <a:latin typeface="Arial"/>
                <a:ea typeface="Arial"/>
                <a:cs typeface="Arial"/>
                <a:sym typeface="Arial"/>
              </a:rPr>
              <a:t>（2024年度・名目）</a:t>
            </a:r>
            <a:endParaRPr/>
          </a:p>
        </p:txBody>
      </p:sp>
      <p:sp>
        <p:nvSpPr>
          <p:cNvPr id="584" name="Google Shape;584;p18"/>
          <p:cNvSpPr/>
          <p:nvPr/>
        </p:nvSpPr>
        <p:spPr>
          <a:xfrm>
            <a:off x="685800" y="4857750"/>
            <a:ext cx="10629900" cy="781050"/>
          </a:xfrm>
          <a:prstGeom prst="roundRect">
            <a:avLst>
              <a:gd fmla="val 17073" name="adj"/>
            </a:avLst>
          </a:prstGeom>
          <a:solidFill>
            <a:srgbClr val="1522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p18"/>
          <p:cNvSpPr/>
          <p:nvPr/>
        </p:nvSpPr>
        <p:spPr>
          <a:xfrm>
            <a:off x="952500" y="5010150"/>
            <a:ext cx="100965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50"/>
              <a:buFont typeface="Arial"/>
              <a:buNone/>
            </a:pPr>
            <a:r>
              <a:rPr b="1" lang="en-US" sz="16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市場が大きい＝誰でも稼げる、ではない。生活に必要な市場で営業力を磨ける。</a:t>
            </a:r>
            <a:endParaRPr/>
          </a:p>
        </p:txBody>
      </p:sp>
      <p:sp>
        <p:nvSpPr>
          <p:cNvPr id="586" name="Google Shape;586;p18"/>
          <p:cNvSpPr/>
          <p:nvPr/>
        </p:nvSpPr>
        <p:spPr>
          <a:xfrm>
            <a:off x="533400" y="6019800"/>
            <a:ext cx="11125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750"/>
              <a:buFont typeface="Arial"/>
              <a:buNone/>
            </a:pPr>
            <a:r>
              <a:rPr b="0" lang="en-US" sz="750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出典：総務省 令和5年住宅・土地統計調査／内閣府 2024年度国民経済計算年次推計</a:t>
            </a:r>
            <a:endParaRPr/>
          </a:p>
        </p:txBody>
      </p:sp>
      <p:pic>
        <p:nvPicPr>
          <p:cNvPr id="587" name="Google Shape;58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11399" y="119051"/>
            <a:ext cx="2095500" cy="4450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F0"/>
        </a:solidFill>
      </p:bgPr>
    </p:bg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19"/>
          <p:cNvSpPr/>
          <p:nvPr/>
        </p:nvSpPr>
        <p:spPr>
          <a:xfrm>
            <a:off x="533400" y="276225"/>
            <a:ext cx="76200" cy="238125"/>
          </a:xfrm>
          <a:prstGeom prst="roundRect">
            <a:avLst>
              <a:gd fmla="val 50000" name="adj"/>
            </a:avLst>
          </a:prstGeom>
          <a:solidFill>
            <a:srgbClr val="F474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4" name="Google Shape;594;p19"/>
          <p:cNvSpPr/>
          <p:nvPr/>
        </p:nvSpPr>
        <p:spPr>
          <a:xfrm>
            <a:off x="742950" y="2667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125"/>
              <a:buFont typeface="Arial"/>
              <a:buNone/>
            </a:pPr>
            <a:r>
              <a:rPr b="1" lang="en-US" sz="1125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09｜住宅市場</a:t>
            </a:r>
            <a:endParaRPr/>
          </a:p>
        </p:txBody>
      </p:sp>
      <p:sp>
        <p:nvSpPr>
          <p:cNvPr id="595" name="Google Shape;595;p19"/>
          <p:cNvSpPr/>
          <p:nvPr/>
        </p:nvSpPr>
        <p:spPr>
          <a:xfrm>
            <a:off x="533400" y="723900"/>
            <a:ext cx="106680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55"/>
              </a:buClr>
              <a:buSzPts val="2925"/>
              <a:buFont typeface="Arial"/>
              <a:buNone/>
            </a:pPr>
            <a:r>
              <a:rPr b="1" lang="en-US" sz="2925">
                <a:solidFill>
                  <a:srgbClr val="152255"/>
                </a:solidFill>
                <a:latin typeface="Arial"/>
                <a:ea typeface="Arial"/>
                <a:cs typeface="Arial"/>
                <a:sym typeface="Arial"/>
              </a:rPr>
              <a:t>2026年も、家を買う人を支える制度がある</a:t>
            </a:r>
            <a:endParaRPr/>
          </a:p>
        </p:txBody>
      </p:sp>
      <p:cxnSp>
        <p:nvCxnSpPr>
          <p:cNvPr id="596" name="Google Shape;596;p19"/>
          <p:cNvCxnSpPr/>
          <p:nvPr/>
        </p:nvCxnSpPr>
        <p:spPr>
          <a:xfrm>
            <a:off x="533400" y="6315075"/>
            <a:ext cx="11125200" cy="0"/>
          </a:xfrm>
          <a:prstGeom prst="straightConnector1">
            <a:avLst/>
          </a:prstGeom>
          <a:noFill/>
          <a:ln cap="flat" cmpd="sng" w="9525">
            <a:solidFill>
              <a:srgbClr val="D9DE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97" name="Google Shape;597;p19"/>
          <p:cNvSpPr/>
          <p:nvPr/>
        </p:nvSpPr>
        <p:spPr>
          <a:xfrm>
            <a:off x="533400" y="6448425"/>
            <a:ext cx="88582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825"/>
              <a:buFont typeface="Arial"/>
              <a:buNone/>
            </a:pPr>
            <a:r>
              <a:rPr b="0" lang="en-US" sz="825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TOKYO BIG HOUSE 最終面接資料｜社外秘・面接時のみ提示</a:t>
            </a:r>
            <a:endParaRPr/>
          </a:p>
        </p:txBody>
      </p:sp>
      <p:sp>
        <p:nvSpPr>
          <p:cNvPr id="598" name="Google Shape;598;p19"/>
          <p:cNvSpPr/>
          <p:nvPr/>
        </p:nvSpPr>
        <p:spPr>
          <a:xfrm>
            <a:off x="10744200" y="6419850"/>
            <a:ext cx="9144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55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152255"/>
                </a:solidFill>
                <a:latin typeface="Arial"/>
                <a:ea typeface="Arial"/>
                <a:cs typeface="Arial"/>
                <a:sym typeface="Arial"/>
              </a:rPr>
              <a:t>P.17</a:t>
            </a:r>
            <a:endParaRPr/>
          </a:p>
        </p:txBody>
      </p:sp>
      <p:sp>
        <p:nvSpPr>
          <p:cNvPr id="599" name="Google Shape;599;p19"/>
          <p:cNvSpPr/>
          <p:nvPr/>
        </p:nvSpPr>
        <p:spPr>
          <a:xfrm>
            <a:off x="533400" y="1695450"/>
            <a:ext cx="3467100" cy="3714750"/>
          </a:xfrm>
          <a:prstGeom prst="roundRect">
            <a:avLst>
              <a:gd fmla="val 4945" name="adj"/>
            </a:avLst>
          </a:prstGeom>
          <a:solidFill>
            <a:srgbClr val="FFFFFF"/>
          </a:solidFill>
          <a:ln cap="flat" cmpd="sng" w="9525">
            <a:solidFill>
              <a:srgbClr val="D9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0" name="Google Shape;600;p19"/>
          <p:cNvSpPr/>
          <p:nvPr/>
        </p:nvSpPr>
        <p:spPr>
          <a:xfrm>
            <a:off x="800100" y="1981200"/>
            <a:ext cx="29337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55"/>
              </a:buClr>
              <a:buSzPts val="1575"/>
              <a:buFont typeface="Arial"/>
              <a:buNone/>
            </a:pPr>
            <a:r>
              <a:rPr b="1" lang="en-US" sz="1575">
                <a:solidFill>
                  <a:srgbClr val="152255"/>
                </a:solidFill>
                <a:latin typeface="Arial"/>
                <a:ea typeface="Arial"/>
                <a:cs typeface="Arial"/>
                <a:sym typeface="Arial"/>
              </a:rPr>
              <a:t>住宅ローン減税</a:t>
            </a:r>
            <a:endParaRPr/>
          </a:p>
        </p:txBody>
      </p:sp>
      <p:sp>
        <p:nvSpPr>
          <p:cNvPr id="601" name="Google Shape;601;p19"/>
          <p:cNvSpPr/>
          <p:nvPr/>
        </p:nvSpPr>
        <p:spPr>
          <a:xfrm>
            <a:off x="781050" y="2647950"/>
            <a:ext cx="2971800" cy="781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7421"/>
              </a:buClr>
              <a:buSzPts val="4050"/>
              <a:buFont typeface="Arial"/>
              <a:buNone/>
            </a:pPr>
            <a:r>
              <a:rPr b="1" lang="en-US" sz="4050">
                <a:solidFill>
                  <a:srgbClr val="F47421"/>
                </a:solidFill>
                <a:latin typeface="Arial"/>
                <a:ea typeface="Arial"/>
                <a:cs typeface="Arial"/>
                <a:sym typeface="Arial"/>
              </a:rPr>
              <a:t>0.7%</a:t>
            </a:r>
            <a:endParaRPr/>
          </a:p>
        </p:txBody>
      </p:sp>
      <p:cxnSp>
        <p:nvCxnSpPr>
          <p:cNvPr id="602" name="Google Shape;602;p19"/>
          <p:cNvCxnSpPr/>
          <p:nvPr/>
        </p:nvCxnSpPr>
        <p:spPr>
          <a:xfrm>
            <a:off x="990600" y="3733800"/>
            <a:ext cx="2552700" cy="0"/>
          </a:xfrm>
          <a:prstGeom prst="straightConnector1">
            <a:avLst/>
          </a:prstGeom>
          <a:noFill/>
          <a:ln cap="flat" cmpd="sng" w="9525">
            <a:solidFill>
              <a:srgbClr val="D9DE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03" name="Google Shape;603;p19"/>
          <p:cNvSpPr/>
          <p:nvPr/>
        </p:nvSpPr>
        <p:spPr>
          <a:xfrm>
            <a:off x="857250" y="4038600"/>
            <a:ext cx="2819400" cy="8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44054"/>
              </a:buClr>
              <a:buSzPts val="1275"/>
              <a:buFont typeface="Arial"/>
              <a:buNone/>
            </a:pPr>
            <a:r>
              <a:rPr b="1" lang="en-US" sz="1275">
                <a:solidFill>
                  <a:srgbClr val="344054"/>
                </a:solidFill>
                <a:latin typeface="Arial"/>
                <a:ea typeface="Arial"/>
                <a:cs typeface="Arial"/>
                <a:sym typeface="Arial"/>
              </a:rPr>
              <a:t>控除率／新築は最大13年</a:t>
            </a:r>
            <a:endParaRPr/>
          </a:p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44054"/>
              </a:buClr>
              <a:buSzPts val="1275"/>
              <a:buFont typeface="Arial"/>
              <a:buNone/>
            </a:pPr>
            <a:r>
              <a:rPr b="1" lang="en-US" sz="1275">
                <a:solidFill>
                  <a:srgbClr val="344054"/>
                </a:solidFill>
                <a:latin typeface="Arial"/>
                <a:ea typeface="Arial"/>
                <a:cs typeface="Arial"/>
                <a:sym typeface="Arial"/>
              </a:rPr>
              <a:t>制度は2030年入居まで延長</a:t>
            </a:r>
            <a:endParaRPr/>
          </a:p>
        </p:txBody>
      </p:sp>
      <p:sp>
        <p:nvSpPr>
          <p:cNvPr id="604" name="Google Shape;604;p19"/>
          <p:cNvSpPr/>
          <p:nvPr/>
        </p:nvSpPr>
        <p:spPr>
          <a:xfrm>
            <a:off x="4286250" y="1695450"/>
            <a:ext cx="3467100" cy="3714750"/>
          </a:xfrm>
          <a:prstGeom prst="roundRect">
            <a:avLst>
              <a:gd fmla="val 4945" name="adj"/>
            </a:avLst>
          </a:prstGeom>
          <a:solidFill>
            <a:srgbClr val="1522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5" name="Google Shape;605;p19"/>
          <p:cNvSpPr/>
          <p:nvPr/>
        </p:nvSpPr>
        <p:spPr>
          <a:xfrm>
            <a:off x="4552950" y="1981200"/>
            <a:ext cx="29337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5"/>
              <a:buFont typeface="Arial"/>
              <a:buNone/>
            </a:pPr>
            <a:r>
              <a:rPr b="1" lang="en-US" sz="157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省エネ住宅補助</a:t>
            </a:r>
            <a:endParaRPr/>
          </a:p>
        </p:txBody>
      </p:sp>
      <p:sp>
        <p:nvSpPr>
          <p:cNvPr id="606" name="Google Shape;606;p19"/>
          <p:cNvSpPr/>
          <p:nvPr/>
        </p:nvSpPr>
        <p:spPr>
          <a:xfrm>
            <a:off x="4533900" y="2647950"/>
            <a:ext cx="2971800" cy="781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7421"/>
              </a:buClr>
              <a:buSzPts val="3300"/>
              <a:buFont typeface="Arial"/>
              <a:buNone/>
            </a:pPr>
            <a:r>
              <a:rPr b="1" lang="en-US" sz="3300">
                <a:solidFill>
                  <a:srgbClr val="F47421"/>
                </a:solidFill>
                <a:latin typeface="Arial"/>
                <a:ea typeface="Arial"/>
                <a:cs typeface="Arial"/>
                <a:sym typeface="Arial"/>
              </a:rPr>
              <a:t>最大125万円</a:t>
            </a:r>
            <a:endParaRPr/>
          </a:p>
        </p:txBody>
      </p:sp>
      <p:cxnSp>
        <p:nvCxnSpPr>
          <p:cNvPr id="607" name="Google Shape;607;p19"/>
          <p:cNvCxnSpPr/>
          <p:nvPr/>
        </p:nvCxnSpPr>
        <p:spPr>
          <a:xfrm>
            <a:off x="4743450" y="3733800"/>
            <a:ext cx="2552700" cy="0"/>
          </a:xfrm>
          <a:prstGeom prst="straightConnector1">
            <a:avLst/>
          </a:prstGeom>
          <a:noFill/>
          <a:ln cap="flat" cmpd="sng" w="9525">
            <a:solidFill>
              <a:srgbClr val="42507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08" name="Google Shape;608;p19"/>
          <p:cNvSpPr/>
          <p:nvPr/>
        </p:nvSpPr>
        <p:spPr>
          <a:xfrm>
            <a:off x="4610100" y="4038600"/>
            <a:ext cx="2819400" cy="8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75"/>
              <a:buFont typeface="Arial"/>
              <a:buNone/>
            </a:pPr>
            <a:r>
              <a:rPr b="1" lang="en-US" sz="127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みらいエコ住宅2026</a:t>
            </a:r>
            <a:endParaRPr/>
          </a:p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75"/>
              <a:buFont typeface="Arial"/>
              <a:buNone/>
            </a:pPr>
            <a:r>
              <a:rPr b="1" lang="en-US" sz="127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GX志向型住宅・地域区分1〜4</a:t>
            </a:r>
            <a:endParaRPr/>
          </a:p>
        </p:txBody>
      </p:sp>
      <p:sp>
        <p:nvSpPr>
          <p:cNvPr id="609" name="Google Shape;609;p19"/>
          <p:cNvSpPr/>
          <p:nvPr/>
        </p:nvSpPr>
        <p:spPr>
          <a:xfrm>
            <a:off x="8039100" y="1695450"/>
            <a:ext cx="3467100" cy="3714750"/>
          </a:xfrm>
          <a:prstGeom prst="roundRect">
            <a:avLst>
              <a:gd fmla="val 4945" name="adj"/>
            </a:avLst>
          </a:prstGeom>
          <a:solidFill>
            <a:srgbClr val="FFFFFF"/>
          </a:solidFill>
          <a:ln cap="flat" cmpd="sng" w="9525">
            <a:solidFill>
              <a:srgbClr val="D9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0" name="Google Shape;610;p19"/>
          <p:cNvSpPr/>
          <p:nvPr/>
        </p:nvSpPr>
        <p:spPr>
          <a:xfrm>
            <a:off x="8305800" y="1981200"/>
            <a:ext cx="29337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55"/>
              </a:buClr>
              <a:buSzPts val="1575"/>
              <a:buFont typeface="Arial"/>
              <a:buNone/>
            </a:pPr>
            <a:r>
              <a:rPr b="1" lang="en-US" sz="1575">
                <a:solidFill>
                  <a:srgbClr val="152255"/>
                </a:solidFill>
                <a:latin typeface="Arial"/>
                <a:ea typeface="Arial"/>
                <a:cs typeface="Arial"/>
                <a:sym typeface="Arial"/>
              </a:rPr>
              <a:t>贈与税の非課税</a:t>
            </a:r>
            <a:endParaRPr/>
          </a:p>
        </p:txBody>
      </p:sp>
      <p:sp>
        <p:nvSpPr>
          <p:cNvPr id="611" name="Google Shape;611;p19"/>
          <p:cNvSpPr/>
          <p:nvPr/>
        </p:nvSpPr>
        <p:spPr>
          <a:xfrm>
            <a:off x="8286750" y="2647950"/>
            <a:ext cx="2971800" cy="781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7421"/>
              </a:buClr>
              <a:buSzPts val="3300"/>
              <a:buFont typeface="Arial"/>
              <a:buNone/>
            </a:pPr>
            <a:r>
              <a:rPr b="1" lang="en-US" sz="3300">
                <a:solidFill>
                  <a:srgbClr val="F47421"/>
                </a:solidFill>
                <a:latin typeface="Arial"/>
                <a:ea typeface="Arial"/>
                <a:cs typeface="Arial"/>
                <a:sym typeface="Arial"/>
              </a:rPr>
              <a:t>最大1,000万円</a:t>
            </a:r>
            <a:endParaRPr/>
          </a:p>
        </p:txBody>
      </p:sp>
      <p:cxnSp>
        <p:nvCxnSpPr>
          <p:cNvPr id="612" name="Google Shape;612;p19"/>
          <p:cNvCxnSpPr/>
          <p:nvPr/>
        </p:nvCxnSpPr>
        <p:spPr>
          <a:xfrm>
            <a:off x="8496300" y="3733800"/>
            <a:ext cx="2552700" cy="0"/>
          </a:xfrm>
          <a:prstGeom prst="straightConnector1">
            <a:avLst/>
          </a:prstGeom>
          <a:noFill/>
          <a:ln cap="flat" cmpd="sng" w="9525">
            <a:solidFill>
              <a:srgbClr val="D9DE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13" name="Google Shape;613;p19"/>
          <p:cNvSpPr/>
          <p:nvPr/>
        </p:nvSpPr>
        <p:spPr>
          <a:xfrm>
            <a:off x="8362950" y="4038600"/>
            <a:ext cx="2819400" cy="8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44054"/>
              </a:buClr>
              <a:buSzPts val="1275"/>
              <a:buFont typeface="Arial"/>
              <a:buNone/>
            </a:pPr>
            <a:r>
              <a:rPr b="1" lang="en-US" sz="1275">
                <a:solidFill>
                  <a:srgbClr val="344054"/>
                </a:solidFill>
                <a:latin typeface="Arial"/>
                <a:ea typeface="Arial"/>
                <a:cs typeface="Arial"/>
                <a:sym typeface="Arial"/>
              </a:rPr>
              <a:t>省エネ等住宅の取得資金</a:t>
            </a:r>
            <a:endParaRPr/>
          </a:p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44054"/>
              </a:buClr>
              <a:buSzPts val="1275"/>
              <a:buFont typeface="Arial"/>
              <a:buNone/>
            </a:pPr>
            <a:r>
              <a:rPr b="1" lang="en-US" sz="1275">
                <a:solidFill>
                  <a:srgbClr val="344054"/>
                </a:solidFill>
                <a:latin typeface="Arial"/>
                <a:ea typeface="Arial"/>
                <a:cs typeface="Arial"/>
                <a:sym typeface="Arial"/>
              </a:rPr>
              <a:t>2026年12月31日まで</a:t>
            </a:r>
            <a:endParaRPr/>
          </a:p>
        </p:txBody>
      </p:sp>
      <p:sp>
        <p:nvSpPr>
          <p:cNvPr id="614" name="Google Shape;614;p19"/>
          <p:cNvSpPr/>
          <p:nvPr/>
        </p:nvSpPr>
        <p:spPr>
          <a:xfrm>
            <a:off x="533400" y="6019800"/>
            <a:ext cx="11125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750"/>
              <a:buFont typeface="Arial"/>
              <a:buNone/>
            </a:pPr>
            <a:r>
              <a:rPr b="0" lang="en-US" sz="750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出典：国土交通省・環境省「みらいエコ住宅2026」／国土交通省 住宅ローン減税／国税庁</a:t>
            </a:r>
            <a:endParaRPr/>
          </a:p>
        </p:txBody>
      </p:sp>
      <p:pic>
        <p:nvPicPr>
          <p:cNvPr id="615" name="Google Shape;61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11399" y="119051"/>
            <a:ext cx="2095500" cy="4450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F0"/>
        </a:solidFill>
      </p:bgPr>
    </p:bg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p20"/>
          <p:cNvSpPr/>
          <p:nvPr/>
        </p:nvSpPr>
        <p:spPr>
          <a:xfrm>
            <a:off x="533400" y="276225"/>
            <a:ext cx="76200" cy="238125"/>
          </a:xfrm>
          <a:prstGeom prst="roundRect">
            <a:avLst>
              <a:gd fmla="val 50000" name="adj"/>
            </a:avLst>
          </a:prstGeom>
          <a:solidFill>
            <a:srgbClr val="F474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2" name="Google Shape;622;p20"/>
          <p:cNvSpPr/>
          <p:nvPr/>
        </p:nvSpPr>
        <p:spPr>
          <a:xfrm>
            <a:off x="742950" y="2667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125"/>
              <a:buFont typeface="Arial"/>
              <a:buNone/>
            </a:pPr>
            <a:r>
              <a:rPr b="1" lang="en-US" sz="1125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10｜20代の1000万円</a:t>
            </a:r>
            <a:endParaRPr/>
          </a:p>
        </p:txBody>
      </p:sp>
      <p:sp>
        <p:nvSpPr>
          <p:cNvPr id="623" name="Google Shape;623;p20"/>
          <p:cNvSpPr/>
          <p:nvPr/>
        </p:nvSpPr>
        <p:spPr>
          <a:xfrm>
            <a:off x="533400" y="723900"/>
            <a:ext cx="106680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55"/>
              </a:buClr>
              <a:buSzPts val="3000"/>
              <a:buFont typeface="Arial"/>
              <a:buNone/>
            </a:pPr>
            <a:r>
              <a:rPr b="1" lang="en-US" sz="3000">
                <a:solidFill>
                  <a:srgbClr val="152255"/>
                </a:solidFill>
                <a:latin typeface="Arial"/>
                <a:ea typeface="Arial"/>
                <a:cs typeface="Arial"/>
                <a:sym typeface="Arial"/>
              </a:rPr>
              <a:t>22歳で年収1000万円は、約6,000人に1人</a:t>
            </a:r>
            <a:endParaRPr/>
          </a:p>
        </p:txBody>
      </p:sp>
      <p:cxnSp>
        <p:nvCxnSpPr>
          <p:cNvPr id="624" name="Google Shape;624;p20"/>
          <p:cNvCxnSpPr/>
          <p:nvPr/>
        </p:nvCxnSpPr>
        <p:spPr>
          <a:xfrm>
            <a:off x="533400" y="6315075"/>
            <a:ext cx="11125200" cy="0"/>
          </a:xfrm>
          <a:prstGeom prst="straightConnector1">
            <a:avLst/>
          </a:prstGeom>
          <a:noFill/>
          <a:ln cap="flat" cmpd="sng" w="9525">
            <a:solidFill>
              <a:srgbClr val="D9DE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5" name="Google Shape;625;p20"/>
          <p:cNvSpPr/>
          <p:nvPr/>
        </p:nvSpPr>
        <p:spPr>
          <a:xfrm>
            <a:off x="533400" y="6448425"/>
            <a:ext cx="88582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825"/>
              <a:buFont typeface="Arial"/>
              <a:buNone/>
            </a:pPr>
            <a:r>
              <a:rPr b="0" lang="en-US" sz="825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TOKYO BIG HOUSE 最終面接資料｜社外秘・面接時のみ提示</a:t>
            </a:r>
            <a:endParaRPr/>
          </a:p>
        </p:txBody>
      </p:sp>
      <p:sp>
        <p:nvSpPr>
          <p:cNvPr id="626" name="Google Shape;626;p20"/>
          <p:cNvSpPr/>
          <p:nvPr/>
        </p:nvSpPr>
        <p:spPr>
          <a:xfrm>
            <a:off x="10744200" y="6419850"/>
            <a:ext cx="9144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55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152255"/>
                </a:solidFill>
                <a:latin typeface="Arial"/>
                <a:ea typeface="Arial"/>
                <a:cs typeface="Arial"/>
                <a:sym typeface="Arial"/>
              </a:rPr>
              <a:t>P.18</a:t>
            </a:r>
            <a:endParaRPr/>
          </a:p>
        </p:txBody>
      </p:sp>
      <p:sp>
        <p:nvSpPr>
          <p:cNvPr id="627" name="Google Shape;627;p20"/>
          <p:cNvSpPr/>
          <p:nvPr/>
        </p:nvSpPr>
        <p:spPr>
          <a:xfrm>
            <a:off x="533400" y="1390650"/>
            <a:ext cx="6667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総務省の全国調査｜20〜24歳の雇用者 421.7万人</a:t>
            </a:r>
            <a:endParaRPr/>
          </a:p>
        </p:txBody>
      </p:sp>
      <p:sp>
        <p:nvSpPr>
          <p:cNvPr id="628" name="Google Shape;628;p20"/>
          <p:cNvSpPr/>
          <p:nvPr/>
        </p:nvSpPr>
        <p:spPr>
          <a:xfrm>
            <a:off x="971550" y="2019300"/>
            <a:ext cx="4095750" cy="146685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7421"/>
              </a:buClr>
              <a:buSzPts val="8250"/>
              <a:buFont typeface="Arial"/>
              <a:buNone/>
            </a:pPr>
            <a:r>
              <a:rPr b="1" lang="en-US" sz="8250">
                <a:solidFill>
                  <a:srgbClr val="F47421"/>
                </a:solidFill>
                <a:latin typeface="Arial"/>
                <a:ea typeface="Arial"/>
                <a:cs typeface="Arial"/>
                <a:sym typeface="Arial"/>
              </a:rPr>
              <a:t>0.017</a:t>
            </a:r>
            <a:endParaRPr/>
          </a:p>
        </p:txBody>
      </p:sp>
      <p:sp>
        <p:nvSpPr>
          <p:cNvPr id="629" name="Google Shape;629;p20"/>
          <p:cNvSpPr/>
          <p:nvPr/>
        </p:nvSpPr>
        <p:spPr>
          <a:xfrm>
            <a:off x="5067300" y="2914650"/>
            <a:ext cx="6667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55"/>
              </a:buClr>
              <a:buSzPts val="3150"/>
              <a:buFont typeface="Arial"/>
              <a:buNone/>
            </a:pPr>
            <a:r>
              <a:rPr b="1" lang="en-US" sz="3150">
                <a:solidFill>
                  <a:srgbClr val="152255"/>
                </a:solidFill>
                <a:latin typeface="Arial"/>
                <a:ea typeface="Arial"/>
                <a:cs typeface="Arial"/>
                <a:sym typeface="Arial"/>
              </a:rPr>
              <a:t>%</a:t>
            </a:r>
            <a:endParaRPr/>
          </a:p>
        </p:txBody>
      </p:sp>
      <p:sp>
        <p:nvSpPr>
          <p:cNvPr id="630" name="Google Shape;630;p20"/>
          <p:cNvSpPr/>
          <p:nvPr/>
        </p:nvSpPr>
        <p:spPr>
          <a:xfrm>
            <a:off x="876300" y="3695700"/>
            <a:ext cx="52006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55"/>
              </a:buClr>
              <a:buSzPts val="1650"/>
              <a:buFont typeface="Arial"/>
              <a:buNone/>
            </a:pPr>
            <a:r>
              <a:rPr b="1" lang="en-US" sz="1650">
                <a:solidFill>
                  <a:srgbClr val="152255"/>
                </a:solidFill>
                <a:latin typeface="Arial"/>
                <a:ea typeface="Arial"/>
                <a:cs typeface="Arial"/>
                <a:sym typeface="Arial"/>
              </a:rPr>
              <a:t>20〜24歳の「年収1000万円以上」</a:t>
            </a:r>
            <a:endParaRPr/>
          </a:p>
        </p:txBody>
      </p:sp>
      <p:sp>
        <p:nvSpPr>
          <p:cNvPr id="631" name="Google Shape;631;p20"/>
          <p:cNvSpPr/>
          <p:nvPr/>
        </p:nvSpPr>
        <p:spPr>
          <a:xfrm>
            <a:off x="876300" y="4143375"/>
            <a:ext cx="52006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275"/>
              <a:buFont typeface="Arial"/>
              <a:buNone/>
            </a:pPr>
            <a:r>
              <a:rPr b="0" lang="en-US" sz="1275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421.7万人のうち700人</a:t>
            </a:r>
            <a:endParaRPr/>
          </a:p>
        </p:txBody>
      </p:sp>
      <p:cxnSp>
        <p:nvCxnSpPr>
          <p:cNvPr id="632" name="Google Shape;632;p20"/>
          <p:cNvCxnSpPr/>
          <p:nvPr/>
        </p:nvCxnSpPr>
        <p:spPr>
          <a:xfrm>
            <a:off x="6362700" y="1866900"/>
            <a:ext cx="0" cy="2819400"/>
          </a:xfrm>
          <a:prstGeom prst="straightConnector1">
            <a:avLst/>
          </a:prstGeom>
          <a:noFill/>
          <a:ln cap="flat" cmpd="sng" w="19050">
            <a:solidFill>
              <a:srgbClr val="D9DE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33" name="Google Shape;633;p20"/>
          <p:cNvSpPr/>
          <p:nvPr/>
        </p:nvSpPr>
        <p:spPr>
          <a:xfrm>
            <a:off x="7067550" y="2095500"/>
            <a:ext cx="34290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4054"/>
              </a:buClr>
              <a:buSzPts val="1650"/>
              <a:buFont typeface="Arial"/>
              <a:buNone/>
            </a:pPr>
            <a:r>
              <a:rPr b="1" lang="en-US" sz="1650">
                <a:solidFill>
                  <a:srgbClr val="344054"/>
                </a:solidFill>
                <a:latin typeface="Arial"/>
                <a:ea typeface="Arial"/>
                <a:cs typeface="Arial"/>
                <a:sym typeface="Arial"/>
              </a:rPr>
              <a:t>同世代なら</a:t>
            </a:r>
            <a:endParaRPr/>
          </a:p>
        </p:txBody>
      </p:sp>
      <p:sp>
        <p:nvSpPr>
          <p:cNvPr id="634" name="Google Shape;634;p20"/>
          <p:cNvSpPr/>
          <p:nvPr/>
        </p:nvSpPr>
        <p:spPr>
          <a:xfrm>
            <a:off x="6781800" y="2647950"/>
            <a:ext cx="400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55"/>
              </a:buClr>
              <a:buSzPts val="3750"/>
              <a:buFont typeface="Arial"/>
              <a:buNone/>
            </a:pPr>
            <a:r>
              <a:rPr b="1" lang="en-US" sz="3750">
                <a:solidFill>
                  <a:srgbClr val="152255"/>
                </a:solidFill>
                <a:latin typeface="Arial"/>
                <a:ea typeface="Arial"/>
                <a:cs typeface="Arial"/>
                <a:sym typeface="Arial"/>
              </a:rPr>
              <a:t>約6,000人に1人</a:t>
            </a:r>
            <a:endParaRPr/>
          </a:p>
        </p:txBody>
      </p:sp>
      <p:sp>
        <p:nvSpPr>
          <p:cNvPr id="635" name="Google Shape;635;p20"/>
          <p:cNvSpPr/>
          <p:nvPr/>
        </p:nvSpPr>
        <p:spPr>
          <a:xfrm>
            <a:off x="7067550" y="3714750"/>
            <a:ext cx="3429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425"/>
              <a:buFont typeface="Arial"/>
              <a:buNone/>
            </a:pPr>
            <a:r>
              <a:rPr b="0" lang="en-US" sz="1425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くらいの水準</a:t>
            </a:r>
            <a:endParaRPr/>
          </a:p>
        </p:txBody>
      </p:sp>
      <p:sp>
        <p:nvSpPr>
          <p:cNvPr id="636" name="Google Shape;636;p20"/>
          <p:cNvSpPr/>
          <p:nvPr/>
        </p:nvSpPr>
        <p:spPr>
          <a:xfrm>
            <a:off x="685800" y="4953000"/>
            <a:ext cx="10629900" cy="723900"/>
          </a:xfrm>
          <a:prstGeom prst="roundRect">
            <a:avLst>
              <a:gd fmla="val 18421" name="adj"/>
            </a:avLst>
          </a:prstGeom>
          <a:solidFill>
            <a:srgbClr val="1522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7" name="Google Shape;637;p20"/>
          <p:cNvSpPr/>
          <p:nvPr/>
        </p:nvSpPr>
        <p:spPr>
          <a:xfrm>
            <a:off x="990600" y="5086350"/>
            <a:ext cx="10020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業界・商材・報酬設計まで</a:t>
            </a:r>
            <a:r>
              <a:rPr b="1" lang="en-US" sz="1800">
                <a:solidFill>
                  <a:srgbClr val="FFFFFF"/>
                </a:solidFill>
              </a:rPr>
              <a:t>選ばないと、到達できない狭き門。</a:t>
            </a:r>
            <a:endParaRPr/>
          </a:p>
        </p:txBody>
      </p:sp>
      <p:sp>
        <p:nvSpPr>
          <p:cNvPr id="638" name="Google Shape;638;p20"/>
          <p:cNvSpPr/>
          <p:nvPr/>
        </p:nvSpPr>
        <p:spPr>
          <a:xfrm>
            <a:off x="533400" y="6019800"/>
            <a:ext cx="11125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750"/>
              <a:buFont typeface="Arial"/>
              <a:buNone/>
            </a:pPr>
            <a:r>
              <a:rPr b="0" lang="en-US" sz="750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出典：総務省「令和4年就業構造基本調査」第45表（主な仕事からの年間収入1,000万円以上）</a:t>
            </a:r>
            <a:endParaRPr/>
          </a:p>
        </p:txBody>
      </p:sp>
      <p:pic>
        <p:nvPicPr>
          <p:cNvPr id="639" name="Google Shape;63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11399" y="119051"/>
            <a:ext cx="2095500" cy="4450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F0"/>
        </a:solidFill>
      </p:bgPr>
    </p:bg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21"/>
          <p:cNvSpPr/>
          <p:nvPr/>
        </p:nvSpPr>
        <p:spPr>
          <a:xfrm>
            <a:off x="533400" y="276225"/>
            <a:ext cx="76200" cy="238125"/>
          </a:xfrm>
          <a:prstGeom prst="roundRect">
            <a:avLst>
              <a:gd fmla="val 50000" name="adj"/>
            </a:avLst>
          </a:prstGeom>
          <a:solidFill>
            <a:srgbClr val="F474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6" name="Google Shape;646;p21"/>
          <p:cNvSpPr/>
          <p:nvPr/>
        </p:nvSpPr>
        <p:spPr>
          <a:xfrm>
            <a:off x="742950" y="2667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125"/>
              <a:buFont typeface="Arial"/>
              <a:buNone/>
            </a:pPr>
            <a:r>
              <a:rPr b="1" lang="en-US" sz="1125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10｜20代の1000万円</a:t>
            </a:r>
            <a:endParaRPr/>
          </a:p>
        </p:txBody>
      </p:sp>
      <p:sp>
        <p:nvSpPr>
          <p:cNvPr id="647" name="Google Shape;647;p21"/>
          <p:cNvSpPr/>
          <p:nvPr/>
        </p:nvSpPr>
        <p:spPr>
          <a:xfrm>
            <a:off x="533400" y="723900"/>
            <a:ext cx="106680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55"/>
              </a:buClr>
              <a:buSzPts val="2925"/>
              <a:buFont typeface="Arial"/>
              <a:buNone/>
            </a:pPr>
            <a:r>
              <a:rPr b="1" lang="en-US" sz="2925">
                <a:solidFill>
                  <a:srgbClr val="152255"/>
                </a:solidFill>
                <a:latin typeface="Arial"/>
                <a:ea typeface="Arial"/>
                <a:cs typeface="Arial"/>
                <a:sym typeface="Arial"/>
              </a:rPr>
              <a:t>高年収が生まれる仕事には、共通点がある</a:t>
            </a:r>
            <a:endParaRPr/>
          </a:p>
        </p:txBody>
      </p:sp>
      <p:cxnSp>
        <p:nvCxnSpPr>
          <p:cNvPr id="648" name="Google Shape;648;p21"/>
          <p:cNvCxnSpPr/>
          <p:nvPr/>
        </p:nvCxnSpPr>
        <p:spPr>
          <a:xfrm>
            <a:off x="533400" y="6315075"/>
            <a:ext cx="11125200" cy="0"/>
          </a:xfrm>
          <a:prstGeom prst="straightConnector1">
            <a:avLst/>
          </a:prstGeom>
          <a:noFill/>
          <a:ln cap="flat" cmpd="sng" w="9525">
            <a:solidFill>
              <a:srgbClr val="D9DE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49" name="Google Shape;649;p21"/>
          <p:cNvSpPr/>
          <p:nvPr/>
        </p:nvSpPr>
        <p:spPr>
          <a:xfrm>
            <a:off x="533400" y="6448425"/>
            <a:ext cx="88582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825"/>
              <a:buFont typeface="Arial"/>
              <a:buNone/>
            </a:pPr>
            <a:r>
              <a:rPr b="0" lang="en-US" sz="825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TOKYO BIG HOUSE 最終面接資料｜社外秘・面接時のみ提示</a:t>
            </a:r>
            <a:endParaRPr/>
          </a:p>
        </p:txBody>
      </p:sp>
      <p:sp>
        <p:nvSpPr>
          <p:cNvPr id="650" name="Google Shape;650;p21"/>
          <p:cNvSpPr/>
          <p:nvPr/>
        </p:nvSpPr>
        <p:spPr>
          <a:xfrm>
            <a:off x="10744200" y="6419850"/>
            <a:ext cx="9144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55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152255"/>
                </a:solidFill>
                <a:latin typeface="Arial"/>
                <a:ea typeface="Arial"/>
                <a:cs typeface="Arial"/>
                <a:sym typeface="Arial"/>
              </a:rPr>
              <a:t>P.19</a:t>
            </a:r>
            <a:endParaRPr/>
          </a:p>
        </p:txBody>
      </p:sp>
      <p:sp>
        <p:nvSpPr>
          <p:cNvPr id="651" name="Google Shape;651;p21"/>
          <p:cNvSpPr/>
          <p:nvPr/>
        </p:nvSpPr>
        <p:spPr>
          <a:xfrm>
            <a:off x="533400" y="1619250"/>
            <a:ext cx="9525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7421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F47421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/>
          </a:p>
        </p:txBody>
      </p:sp>
      <p:sp>
        <p:nvSpPr>
          <p:cNvPr id="652" name="Google Shape;652;p21"/>
          <p:cNvSpPr/>
          <p:nvPr/>
        </p:nvSpPr>
        <p:spPr>
          <a:xfrm>
            <a:off x="533400" y="2019300"/>
            <a:ext cx="3467100" cy="2876550"/>
          </a:xfrm>
          <a:prstGeom prst="roundRect">
            <a:avLst>
              <a:gd fmla="val 5960" name="adj"/>
            </a:avLst>
          </a:prstGeom>
          <a:solidFill>
            <a:srgbClr val="FFFFFF"/>
          </a:solidFill>
          <a:ln cap="flat" cmpd="sng" w="9525">
            <a:solidFill>
              <a:srgbClr val="D9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3" name="Google Shape;653;p21"/>
          <p:cNvSpPr/>
          <p:nvPr/>
        </p:nvSpPr>
        <p:spPr>
          <a:xfrm>
            <a:off x="819150" y="2324100"/>
            <a:ext cx="28956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55"/>
              </a:buClr>
              <a:buSzPts val="2175"/>
              <a:buFont typeface="Arial"/>
              <a:buNone/>
            </a:pPr>
            <a:r>
              <a:rPr b="1" lang="en-US" sz="2175">
                <a:solidFill>
                  <a:srgbClr val="152255"/>
                </a:solidFill>
                <a:latin typeface="Arial"/>
                <a:ea typeface="Arial"/>
                <a:cs typeface="Arial"/>
                <a:sym typeface="Arial"/>
              </a:rPr>
              <a:t>高単価</a:t>
            </a:r>
            <a:endParaRPr/>
          </a:p>
        </p:txBody>
      </p:sp>
      <p:cxnSp>
        <p:nvCxnSpPr>
          <p:cNvPr id="654" name="Google Shape;654;p21"/>
          <p:cNvCxnSpPr/>
          <p:nvPr/>
        </p:nvCxnSpPr>
        <p:spPr>
          <a:xfrm>
            <a:off x="1219200" y="3067050"/>
            <a:ext cx="2095500" cy="0"/>
          </a:xfrm>
          <a:prstGeom prst="straightConnector1">
            <a:avLst/>
          </a:prstGeom>
          <a:noFill/>
          <a:ln cap="flat" cmpd="sng" w="38100">
            <a:solidFill>
              <a:srgbClr val="F4742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55" name="Google Shape;655;p21"/>
          <p:cNvSpPr/>
          <p:nvPr/>
        </p:nvSpPr>
        <p:spPr>
          <a:xfrm>
            <a:off x="857250" y="3371850"/>
            <a:ext cx="28194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4054"/>
              </a:buClr>
              <a:buSzPts val="1425"/>
              <a:buFont typeface="Arial"/>
              <a:buNone/>
            </a:pPr>
            <a:r>
              <a:rPr b="1" lang="en-US" sz="1425">
                <a:solidFill>
                  <a:srgbClr val="344054"/>
                </a:solidFill>
                <a:latin typeface="Arial"/>
                <a:ea typeface="Arial"/>
                <a:cs typeface="Arial"/>
                <a:sym typeface="Arial"/>
              </a:rPr>
              <a:t>1件の価値が大きい</a:t>
            </a:r>
            <a:endParaRPr/>
          </a:p>
        </p:txBody>
      </p:sp>
      <p:sp>
        <p:nvSpPr>
          <p:cNvPr id="656" name="Google Shape;656;p21"/>
          <p:cNvSpPr/>
          <p:nvPr/>
        </p:nvSpPr>
        <p:spPr>
          <a:xfrm>
            <a:off x="933450" y="4171950"/>
            <a:ext cx="26670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200"/>
              <a:buFont typeface="Arial"/>
              <a:buNone/>
            </a:pPr>
            <a:r>
              <a:rPr b="0" lang="en-US" sz="1200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住宅・M&amp;A・金融など</a:t>
            </a:r>
            <a:endParaRPr/>
          </a:p>
        </p:txBody>
      </p:sp>
      <p:sp>
        <p:nvSpPr>
          <p:cNvPr id="657" name="Google Shape;657;p21"/>
          <p:cNvSpPr/>
          <p:nvPr/>
        </p:nvSpPr>
        <p:spPr>
          <a:xfrm>
            <a:off x="4286250" y="1619250"/>
            <a:ext cx="9525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7421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F47421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  <p:sp>
        <p:nvSpPr>
          <p:cNvPr id="658" name="Google Shape;658;p21"/>
          <p:cNvSpPr/>
          <p:nvPr/>
        </p:nvSpPr>
        <p:spPr>
          <a:xfrm>
            <a:off x="4286250" y="2019300"/>
            <a:ext cx="3467100" cy="2876550"/>
          </a:xfrm>
          <a:prstGeom prst="roundRect">
            <a:avLst>
              <a:gd fmla="val 5960" name="adj"/>
            </a:avLst>
          </a:prstGeom>
          <a:solidFill>
            <a:srgbClr val="1522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9" name="Google Shape;659;p21"/>
          <p:cNvSpPr/>
          <p:nvPr/>
        </p:nvSpPr>
        <p:spPr>
          <a:xfrm>
            <a:off x="4572000" y="2324100"/>
            <a:ext cx="28956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75"/>
              <a:buFont typeface="Arial"/>
              <a:buNone/>
            </a:pPr>
            <a:r>
              <a:rPr b="1" lang="en-US" sz="217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成果</a:t>
            </a:r>
            <a:r>
              <a:rPr b="1" lang="en-US" sz="217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が</a:t>
            </a:r>
            <a:r>
              <a:rPr b="1" lang="en-US" sz="2175">
                <a:solidFill>
                  <a:srgbClr val="FFFFFF"/>
                </a:solidFill>
              </a:rPr>
              <a:t>数字で</a:t>
            </a:r>
            <a:r>
              <a:rPr b="1" lang="en-US" sz="217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見える</a:t>
            </a:r>
            <a:endParaRPr/>
          </a:p>
        </p:txBody>
      </p:sp>
      <p:cxnSp>
        <p:nvCxnSpPr>
          <p:cNvPr id="660" name="Google Shape;660;p21"/>
          <p:cNvCxnSpPr/>
          <p:nvPr/>
        </p:nvCxnSpPr>
        <p:spPr>
          <a:xfrm>
            <a:off x="4972050" y="3067050"/>
            <a:ext cx="2095500" cy="0"/>
          </a:xfrm>
          <a:prstGeom prst="straightConnector1">
            <a:avLst/>
          </a:prstGeom>
          <a:noFill/>
          <a:ln cap="flat" cmpd="sng" w="38100">
            <a:solidFill>
              <a:srgbClr val="F4742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61" name="Google Shape;661;p21"/>
          <p:cNvSpPr/>
          <p:nvPr/>
        </p:nvSpPr>
        <p:spPr>
          <a:xfrm>
            <a:off x="4610100" y="3371850"/>
            <a:ext cx="28194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25"/>
              <a:buFont typeface="Arial"/>
              <a:buNone/>
            </a:pPr>
            <a:r>
              <a:rPr b="1" lang="en-US" sz="142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個人やチームの数字が明確</a:t>
            </a:r>
            <a:endParaRPr/>
          </a:p>
        </p:txBody>
      </p:sp>
      <p:sp>
        <p:nvSpPr>
          <p:cNvPr id="662" name="Google Shape;662;p21"/>
          <p:cNvSpPr/>
          <p:nvPr/>
        </p:nvSpPr>
        <p:spPr>
          <a:xfrm>
            <a:off x="4686300" y="4171950"/>
            <a:ext cx="26670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E1F0"/>
              </a:buClr>
              <a:buSzPts val="1200"/>
              <a:buFont typeface="Arial"/>
              <a:buNone/>
            </a:pPr>
            <a:r>
              <a:rPr b="0" lang="en-US" sz="1200">
                <a:solidFill>
                  <a:srgbClr val="DCE1F0"/>
                </a:solidFill>
                <a:latin typeface="Arial"/>
                <a:ea typeface="Arial"/>
                <a:cs typeface="Arial"/>
                <a:sym typeface="Arial"/>
              </a:rPr>
              <a:t>営業・コンサルなど</a:t>
            </a:r>
            <a:endParaRPr/>
          </a:p>
        </p:txBody>
      </p:sp>
      <p:sp>
        <p:nvSpPr>
          <p:cNvPr id="663" name="Google Shape;663;p21"/>
          <p:cNvSpPr/>
          <p:nvPr/>
        </p:nvSpPr>
        <p:spPr>
          <a:xfrm>
            <a:off x="8039100" y="1619250"/>
            <a:ext cx="9525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7421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F47421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  <p:sp>
        <p:nvSpPr>
          <p:cNvPr id="664" name="Google Shape;664;p21"/>
          <p:cNvSpPr/>
          <p:nvPr/>
        </p:nvSpPr>
        <p:spPr>
          <a:xfrm>
            <a:off x="8039100" y="2019300"/>
            <a:ext cx="3467100" cy="2876550"/>
          </a:xfrm>
          <a:prstGeom prst="roundRect">
            <a:avLst>
              <a:gd fmla="val 5960" name="adj"/>
            </a:avLst>
          </a:prstGeom>
          <a:solidFill>
            <a:srgbClr val="FFFFFF"/>
          </a:solidFill>
          <a:ln cap="flat" cmpd="sng" w="9525">
            <a:solidFill>
              <a:srgbClr val="D9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5" name="Google Shape;665;p21"/>
          <p:cNvSpPr/>
          <p:nvPr/>
        </p:nvSpPr>
        <p:spPr>
          <a:xfrm>
            <a:off x="8324850" y="2324100"/>
            <a:ext cx="28956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55"/>
              </a:buClr>
              <a:buSzPts val="2175"/>
              <a:buFont typeface="Arial"/>
              <a:buNone/>
            </a:pPr>
            <a:r>
              <a:rPr b="1" lang="en-US" sz="2175">
                <a:solidFill>
                  <a:srgbClr val="152255"/>
                </a:solidFill>
                <a:latin typeface="Arial"/>
                <a:ea typeface="Arial"/>
                <a:cs typeface="Arial"/>
                <a:sym typeface="Arial"/>
              </a:rPr>
              <a:t>報酬が連動</a:t>
            </a:r>
            <a:endParaRPr/>
          </a:p>
        </p:txBody>
      </p:sp>
      <p:cxnSp>
        <p:nvCxnSpPr>
          <p:cNvPr id="666" name="Google Shape;666;p21"/>
          <p:cNvCxnSpPr/>
          <p:nvPr/>
        </p:nvCxnSpPr>
        <p:spPr>
          <a:xfrm>
            <a:off x="8724900" y="3067050"/>
            <a:ext cx="2095500" cy="0"/>
          </a:xfrm>
          <a:prstGeom prst="straightConnector1">
            <a:avLst/>
          </a:prstGeom>
          <a:noFill/>
          <a:ln cap="flat" cmpd="sng" w="38100">
            <a:solidFill>
              <a:srgbClr val="F4742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67" name="Google Shape;667;p21"/>
          <p:cNvSpPr/>
          <p:nvPr/>
        </p:nvSpPr>
        <p:spPr>
          <a:xfrm>
            <a:off x="8362950" y="3371850"/>
            <a:ext cx="28194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4054"/>
              </a:buClr>
              <a:buSzPts val="1425"/>
              <a:buFont typeface="Arial"/>
              <a:buNone/>
            </a:pPr>
            <a:r>
              <a:rPr b="1" lang="en-US" sz="1425">
                <a:solidFill>
                  <a:srgbClr val="344054"/>
                </a:solidFill>
                <a:latin typeface="Arial"/>
                <a:ea typeface="Arial"/>
                <a:cs typeface="Arial"/>
                <a:sym typeface="Arial"/>
              </a:rPr>
              <a:t>成果が給与へ反映される</a:t>
            </a:r>
            <a:endParaRPr/>
          </a:p>
        </p:txBody>
      </p:sp>
      <p:sp>
        <p:nvSpPr>
          <p:cNvPr id="668" name="Google Shape;668;p21"/>
          <p:cNvSpPr/>
          <p:nvPr/>
        </p:nvSpPr>
        <p:spPr>
          <a:xfrm>
            <a:off x="8439150" y="4171950"/>
            <a:ext cx="26670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667085"/>
                </a:solidFill>
              </a:rPr>
              <a:t>成果給</a:t>
            </a:r>
            <a:r>
              <a:rPr b="0" lang="en-US" sz="1200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・賞与・昇格</a:t>
            </a:r>
            <a:endParaRPr/>
          </a:p>
        </p:txBody>
      </p:sp>
      <p:sp>
        <p:nvSpPr>
          <p:cNvPr id="669" name="Google Shape;669;p21"/>
          <p:cNvSpPr/>
          <p:nvPr/>
        </p:nvSpPr>
        <p:spPr>
          <a:xfrm>
            <a:off x="1314450" y="5200650"/>
            <a:ext cx="9563100" cy="628650"/>
          </a:xfrm>
          <a:prstGeom prst="roundRect">
            <a:avLst>
              <a:gd fmla="val 18182" name="adj"/>
            </a:avLst>
          </a:prstGeom>
          <a:solidFill>
            <a:srgbClr val="FFF0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0" name="Google Shape;670;p21"/>
          <p:cNvSpPr/>
          <p:nvPr/>
        </p:nvSpPr>
        <p:spPr>
          <a:xfrm>
            <a:off x="1524000" y="53149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55"/>
              </a:buClr>
              <a:buSzPts val="1725"/>
              <a:buFont typeface="Arial"/>
              <a:buNone/>
            </a:pPr>
            <a:r>
              <a:rPr b="1" lang="en-US" sz="1725">
                <a:solidFill>
                  <a:srgbClr val="152255"/>
                </a:solidFill>
              </a:rPr>
              <a:t>東京ビッグハウス</a:t>
            </a:r>
            <a:r>
              <a:rPr b="1" lang="en-US" sz="1725">
                <a:solidFill>
                  <a:srgbClr val="152255"/>
                </a:solidFill>
                <a:latin typeface="Arial"/>
                <a:ea typeface="Arial"/>
                <a:cs typeface="Arial"/>
                <a:sym typeface="Arial"/>
              </a:rPr>
              <a:t>は「数千万円の住宅 × 明確な実績 × 成果連動」の仕事。</a:t>
            </a:r>
            <a:endParaRPr/>
          </a:p>
        </p:txBody>
      </p:sp>
      <p:sp>
        <p:nvSpPr>
          <p:cNvPr id="671" name="Google Shape;671;p21"/>
          <p:cNvSpPr/>
          <p:nvPr/>
        </p:nvSpPr>
        <p:spPr>
          <a:xfrm>
            <a:off x="533400" y="6019800"/>
            <a:ext cx="11125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750"/>
              <a:buFont typeface="Arial"/>
              <a:buNone/>
            </a:pPr>
            <a:r>
              <a:rPr b="0" lang="en-US" sz="750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一般化した仕事構造の整理。特定業界・会社の年収を保証するものではありません</a:t>
            </a:r>
            <a:endParaRPr/>
          </a:p>
        </p:txBody>
      </p:sp>
      <p:pic>
        <p:nvPicPr>
          <p:cNvPr id="672" name="Google Shape;67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11399" y="119051"/>
            <a:ext cx="2095500" cy="4450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F0"/>
        </a:solidFill>
      </p:bgPr>
    </p:bg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p22"/>
          <p:cNvSpPr/>
          <p:nvPr/>
        </p:nvSpPr>
        <p:spPr>
          <a:xfrm>
            <a:off x="533400" y="276225"/>
            <a:ext cx="76200" cy="238125"/>
          </a:xfrm>
          <a:prstGeom prst="roundRect">
            <a:avLst>
              <a:gd fmla="val 50000" name="adj"/>
            </a:avLst>
          </a:prstGeom>
          <a:solidFill>
            <a:srgbClr val="F474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" name="Google Shape;679;p22"/>
          <p:cNvSpPr/>
          <p:nvPr/>
        </p:nvSpPr>
        <p:spPr>
          <a:xfrm>
            <a:off x="742950" y="2667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125"/>
              <a:buFont typeface="Arial"/>
              <a:buNone/>
            </a:pPr>
            <a:r>
              <a:rPr b="1" lang="en-US" sz="1125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10｜20代の1000万円</a:t>
            </a:r>
            <a:endParaRPr/>
          </a:p>
        </p:txBody>
      </p:sp>
      <p:sp>
        <p:nvSpPr>
          <p:cNvPr id="680" name="Google Shape;680;p22"/>
          <p:cNvSpPr/>
          <p:nvPr/>
        </p:nvSpPr>
        <p:spPr>
          <a:xfrm>
            <a:off x="533400" y="723900"/>
            <a:ext cx="106680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55"/>
              </a:buClr>
              <a:buSzPts val="3000"/>
              <a:buFont typeface="Arial"/>
              <a:buNone/>
            </a:pPr>
            <a:r>
              <a:rPr b="1" lang="en-US" sz="3000">
                <a:solidFill>
                  <a:srgbClr val="152255"/>
                </a:solidFill>
                <a:latin typeface="Arial"/>
                <a:ea typeface="Arial"/>
                <a:cs typeface="Arial"/>
                <a:sym typeface="Arial"/>
              </a:rPr>
              <a:t>入社前に、3つの仕組みを確認する</a:t>
            </a:r>
            <a:endParaRPr/>
          </a:p>
        </p:txBody>
      </p:sp>
      <p:cxnSp>
        <p:nvCxnSpPr>
          <p:cNvPr id="681" name="Google Shape;681;p22"/>
          <p:cNvCxnSpPr/>
          <p:nvPr/>
        </p:nvCxnSpPr>
        <p:spPr>
          <a:xfrm>
            <a:off x="533400" y="6315075"/>
            <a:ext cx="11125200" cy="0"/>
          </a:xfrm>
          <a:prstGeom prst="straightConnector1">
            <a:avLst/>
          </a:prstGeom>
          <a:noFill/>
          <a:ln cap="flat" cmpd="sng" w="9525">
            <a:solidFill>
              <a:srgbClr val="D9DE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82" name="Google Shape;682;p22"/>
          <p:cNvSpPr/>
          <p:nvPr/>
        </p:nvSpPr>
        <p:spPr>
          <a:xfrm>
            <a:off x="533400" y="6448425"/>
            <a:ext cx="88582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825"/>
              <a:buFont typeface="Arial"/>
              <a:buNone/>
            </a:pPr>
            <a:r>
              <a:rPr b="0" lang="en-US" sz="825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TOKYO BIG HOUSE 最終面接資料｜社外秘・面接時のみ提示</a:t>
            </a:r>
            <a:endParaRPr/>
          </a:p>
        </p:txBody>
      </p:sp>
      <p:sp>
        <p:nvSpPr>
          <p:cNvPr id="683" name="Google Shape;683;p22"/>
          <p:cNvSpPr/>
          <p:nvPr/>
        </p:nvSpPr>
        <p:spPr>
          <a:xfrm>
            <a:off x="10744200" y="6419850"/>
            <a:ext cx="9144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55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152255"/>
                </a:solidFill>
                <a:latin typeface="Arial"/>
                <a:ea typeface="Arial"/>
                <a:cs typeface="Arial"/>
                <a:sym typeface="Arial"/>
              </a:rPr>
              <a:t>P.20</a:t>
            </a:r>
            <a:endParaRPr/>
          </a:p>
        </p:txBody>
      </p:sp>
      <p:sp>
        <p:nvSpPr>
          <p:cNvPr id="684" name="Google Shape;684;p22"/>
          <p:cNvSpPr/>
          <p:nvPr/>
        </p:nvSpPr>
        <p:spPr>
          <a:xfrm>
            <a:off x="590550" y="1619250"/>
            <a:ext cx="7810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7421"/>
              </a:buClr>
              <a:buSzPts val="1650"/>
              <a:buFont typeface="Arial"/>
              <a:buNone/>
            </a:pPr>
            <a:r>
              <a:rPr b="1" lang="en-US" sz="1650">
                <a:solidFill>
                  <a:srgbClr val="F47421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/>
          </a:p>
        </p:txBody>
      </p:sp>
      <p:sp>
        <p:nvSpPr>
          <p:cNvPr id="685" name="Google Shape;685;p22"/>
          <p:cNvSpPr/>
          <p:nvPr/>
        </p:nvSpPr>
        <p:spPr>
          <a:xfrm>
            <a:off x="1657350" y="1619250"/>
            <a:ext cx="20002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55"/>
              </a:buClr>
              <a:buSzPts val="2025"/>
              <a:buFont typeface="Arial"/>
              <a:buNone/>
            </a:pPr>
            <a:r>
              <a:rPr b="1" lang="en-US" sz="2025">
                <a:solidFill>
                  <a:srgbClr val="152255"/>
                </a:solidFill>
                <a:latin typeface="Arial"/>
                <a:ea typeface="Arial"/>
                <a:cs typeface="Arial"/>
                <a:sym typeface="Arial"/>
              </a:rPr>
              <a:t>給与設計</a:t>
            </a:r>
            <a:endParaRPr/>
          </a:p>
        </p:txBody>
      </p:sp>
      <p:sp>
        <p:nvSpPr>
          <p:cNvPr id="686" name="Google Shape;686;p22"/>
          <p:cNvSpPr/>
          <p:nvPr/>
        </p:nvSpPr>
        <p:spPr>
          <a:xfrm>
            <a:off x="4095750" y="1600200"/>
            <a:ext cx="7067550" cy="685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9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7" name="Google Shape;687;p22"/>
          <p:cNvSpPr/>
          <p:nvPr/>
        </p:nvSpPr>
        <p:spPr>
          <a:xfrm>
            <a:off x="4400550" y="1695450"/>
            <a:ext cx="6457950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344054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344054"/>
                </a:solidFill>
                <a:latin typeface="Arial"/>
                <a:ea typeface="Arial"/>
                <a:cs typeface="Arial"/>
                <a:sym typeface="Arial"/>
              </a:rPr>
              <a:t>固定給・歩合・賞与</a:t>
            </a:r>
            <a:endParaRPr/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344054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344054"/>
                </a:solidFill>
                <a:latin typeface="Arial"/>
                <a:ea typeface="Arial"/>
                <a:cs typeface="Arial"/>
                <a:sym typeface="Arial"/>
              </a:rPr>
              <a:t>昇格後のレンジ</a:t>
            </a:r>
            <a:endParaRPr/>
          </a:p>
        </p:txBody>
      </p:sp>
      <p:cxnSp>
        <p:nvCxnSpPr>
          <p:cNvPr id="688" name="Google Shape;688;p22"/>
          <p:cNvCxnSpPr/>
          <p:nvPr/>
        </p:nvCxnSpPr>
        <p:spPr>
          <a:xfrm>
            <a:off x="1657350" y="2571750"/>
            <a:ext cx="9505950" cy="0"/>
          </a:xfrm>
          <a:prstGeom prst="straightConnector1">
            <a:avLst/>
          </a:prstGeom>
          <a:noFill/>
          <a:ln cap="flat" cmpd="sng" w="9525">
            <a:solidFill>
              <a:srgbClr val="D9DE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89" name="Google Shape;689;p22"/>
          <p:cNvSpPr/>
          <p:nvPr/>
        </p:nvSpPr>
        <p:spPr>
          <a:xfrm>
            <a:off x="590550" y="2876550"/>
            <a:ext cx="7810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7421"/>
              </a:buClr>
              <a:buSzPts val="1650"/>
              <a:buFont typeface="Arial"/>
              <a:buNone/>
            </a:pPr>
            <a:r>
              <a:rPr b="1" lang="en-US" sz="1650">
                <a:solidFill>
                  <a:srgbClr val="F47421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  <p:sp>
        <p:nvSpPr>
          <p:cNvPr id="690" name="Google Shape;690;p22"/>
          <p:cNvSpPr/>
          <p:nvPr/>
        </p:nvSpPr>
        <p:spPr>
          <a:xfrm>
            <a:off x="1657350" y="2876550"/>
            <a:ext cx="20002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55"/>
              </a:buClr>
              <a:buSzPts val="2025"/>
              <a:buFont typeface="Arial"/>
              <a:buNone/>
            </a:pPr>
            <a:r>
              <a:rPr b="1" lang="en-US" sz="2025">
                <a:solidFill>
                  <a:srgbClr val="152255"/>
                </a:solidFill>
                <a:latin typeface="Arial"/>
                <a:ea typeface="Arial"/>
                <a:cs typeface="Arial"/>
                <a:sym typeface="Arial"/>
              </a:rPr>
              <a:t>打席の数</a:t>
            </a:r>
            <a:endParaRPr/>
          </a:p>
        </p:txBody>
      </p:sp>
      <p:sp>
        <p:nvSpPr>
          <p:cNvPr id="691" name="Google Shape;691;p22"/>
          <p:cNvSpPr/>
          <p:nvPr/>
        </p:nvSpPr>
        <p:spPr>
          <a:xfrm>
            <a:off x="4095750" y="2857500"/>
            <a:ext cx="7067550" cy="685800"/>
          </a:xfrm>
          <a:prstGeom prst="roundRect">
            <a:avLst>
              <a:gd fmla="val 16667" name="adj"/>
            </a:avLst>
          </a:prstGeom>
          <a:solidFill>
            <a:srgbClr val="1522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2" name="Google Shape;692;p22"/>
          <p:cNvSpPr/>
          <p:nvPr/>
        </p:nvSpPr>
        <p:spPr>
          <a:xfrm>
            <a:off x="4400550" y="2952750"/>
            <a:ext cx="6457950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顧客接点・商談数</a:t>
            </a:r>
            <a:endParaRPr/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任される席の数</a:t>
            </a:r>
            <a:endParaRPr/>
          </a:p>
        </p:txBody>
      </p:sp>
      <p:cxnSp>
        <p:nvCxnSpPr>
          <p:cNvPr id="693" name="Google Shape;693;p22"/>
          <p:cNvCxnSpPr/>
          <p:nvPr/>
        </p:nvCxnSpPr>
        <p:spPr>
          <a:xfrm>
            <a:off x="1657350" y="3829050"/>
            <a:ext cx="9505950" cy="0"/>
          </a:xfrm>
          <a:prstGeom prst="straightConnector1">
            <a:avLst/>
          </a:prstGeom>
          <a:noFill/>
          <a:ln cap="flat" cmpd="sng" w="9525">
            <a:solidFill>
              <a:srgbClr val="D9DE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94" name="Google Shape;694;p22"/>
          <p:cNvSpPr/>
          <p:nvPr/>
        </p:nvSpPr>
        <p:spPr>
          <a:xfrm>
            <a:off x="590550" y="4133850"/>
            <a:ext cx="7810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7421"/>
              </a:buClr>
              <a:buSzPts val="1650"/>
              <a:buFont typeface="Arial"/>
              <a:buNone/>
            </a:pPr>
            <a:r>
              <a:rPr b="1" lang="en-US" sz="1650">
                <a:solidFill>
                  <a:srgbClr val="F47421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  <p:sp>
        <p:nvSpPr>
          <p:cNvPr id="695" name="Google Shape;695;p22"/>
          <p:cNvSpPr/>
          <p:nvPr/>
        </p:nvSpPr>
        <p:spPr>
          <a:xfrm>
            <a:off x="1657350" y="4133850"/>
            <a:ext cx="20002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55"/>
              </a:buClr>
              <a:buSzPts val="2025"/>
              <a:buFont typeface="Arial"/>
              <a:buNone/>
            </a:pPr>
            <a:r>
              <a:rPr b="1" lang="en-US" sz="2025">
                <a:solidFill>
                  <a:srgbClr val="152255"/>
                </a:solidFill>
                <a:latin typeface="Arial"/>
                <a:ea typeface="Arial"/>
                <a:cs typeface="Arial"/>
                <a:sym typeface="Arial"/>
              </a:rPr>
              <a:t>成長支援</a:t>
            </a:r>
            <a:endParaRPr/>
          </a:p>
        </p:txBody>
      </p:sp>
      <p:sp>
        <p:nvSpPr>
          <p:cNvPr id="696" name="Google Shape;696;p22"/>
          <p:cNvSpPr/>
          <p:nvPr/>
        </p:nvSpPr>
        <p:spPr>
          <a:xfrm>
            <a:off x="4095750" y="4114800"/>
            <a:ext cx="7067550" cy="685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9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7" name="Google Shape;697;p22"/>
          <p:cNvSpPr/>
          <p:nvPr/>
        </p:nvSpPr>
        <p:spPr>
          <a:xfrm>
            <a:off x="4400550" y="4210050"/>
            <a:ext cx="6457950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344054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344054"/>
                </a:solidFill>
                <a:latin typeface="Arial"/>
                <a:ea typeface="Arial"/>
                <a:cs typeface="Arial"/>
                <a:sym typeface="Arial"/>
              </a:rPr>
              <a:t>研修・即時FB</a:t>
            </a:r>
            <a:endParaRPr/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344054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344054"/>
                </a:solidFill>
                <a:latin typeface="Arial"/>
                <a:ea typeface="Arial"/>
                <a:cs typeface="Arial"/>
                <a:sym typeface="Arial"/>
              </a:rPr>
              <a:t>上司の同行と振り返り</a:t>
            </a:r>
            <a:endParaRPr/>
          </a:p>
        </p:txBody>
      </p:sp>
      <p:sp>
        <p:nvSpPr>
          <p:cNvPr id="698" name="Google Shape;698;p22"/>
          <p:cNvSpPr/>
          <p:nvPr/>
        </p:nvSpPr>
        <p:spPr>
          <a:xfrm>
            <a:off x="1657350" y="5562600"/>
            <a:ext cx="9505950" cy="400050"/>
          </a:xfrm>
          <a:prstGeom prst="roundRect">
            <a:avLst>
              <a:gd fmla="val 23810" name="adj"/>
            </a:avLst>
          </a:prstGeom>
          <a:solidFill>
            <a:srgbClr val="FFF0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9" name="Google Shape;699;p22"/>
          <p:cNvSpPr/>
          <p:nvPr/>
        </p:nvSpPr>
        <p:spPr>
          <a:xfrm>
            <a:off x="1885950" y="5619750"/>
            <a:ext cx="90487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55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152255"/>
                </a:solidFill>
                <a:latin typeface="Arial"/>
                <a:ea typeface="Arial"/>
                <a:cs typeface="Arial"/>
                <a:sym typeface="Arial"/>
              </a:rPr>
              <a:t>高い目標ほど、再現するための仕組みが必要。</a:t>
            </a:r>
            <a:endParaRPr/>
          </a:p>
        </p:txBody>
      </p:sp>
      <p:pic>
        <p:nvPicPr>
          <p:cNvPr id="700" name="Google Shape;700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11399" y="119051"/>
            <a:ext cx="2095500" cy="4450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F0"/>
        </a:solidFill>
      </p:bgPr>
    </p:bg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p23"/>
          <p:cNvSpPr/>
          <p:nvPr/>
        </p:nvSpPr>
        <p:spPr>
          <a:xfrm>
            <a:off x="533400" y="276225"/>
            <a:ext cx="76200" cy="238125"/>
          </a:xfrm>
          <a:prstGeom prst="roundRect">
            <a:avLst>
              <a:gd fmla="val 50000" name="adj"/>
            </a:avLst>
          </a:prstGeom>
          <a:solidFill>
            <a:srgbClr val="F474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7" name="Google Shape;707;p23"/>
          <p:cNvSpPr/>
          <p:nvPr/>
        </p:nvSpPr>
        <p:spPr>
          <a:xfrm>
            <a:off x="742950" y="2667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125"/>
              <a:buFont typeface="Arial"/>
              <a:buNone/>
            </a:pPr>
            <a:r>
              <a:rPr b="1" lang="en-US" sz="1125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11｜AI時代の営業</a:t>
            </a:r>
            <a:endParaRPr/>
          </a:p>
        </p:txBody>
      </p:sp>
      <p:sp>
        <p:nvSpPr>
          <p:cNvPr id="708" name="Google Shape;708;p23"/>
          <p:cNvSpPr/>
          <p:nvPr/>
        </p:nvSpPr>
        <p:spPr>
          <a:xfrm>
            <a:off x="533400" y="723900"/>
            <a:ext cx="106680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55"/>
              </a:buClr>
              <a:buSzPts val="3000"/>
              <a:buFont typeface="Arial"/>
              <a:buNone/>
            </a:pPr>
            <a:r>
              <a:rPr b="1" lang="en-US" sz="3000">
                <a:solidFill>
                  <a:srgbClr val="152255"/>
                </a:solidFill>
                <a:latin typeface="Arial"/>
                <a:ea typeface="Arial"/>
                <a:cs typeface="Arial"/>
                <a:sym typeface="Arial"/>
              </a:rPr>
              <a:t>AIが減らすのは、まず「定型業務」</a:t>
            </a:r>
            <a:endParaRPr/>
          </a:p>
        </p:txBody>
      </p:sp>
      <p:cxnSp>
        <p:nvCxnSpPr>
          <p:cNvPr id="709" name="Google Shape;709;p23"/>
          <p:cNvCxnSpPr/>
          <p:nvPr/>
        </p:nvCxnSpPr>
        <p:spPr>
          <a:xfrm>
            <a:off x="533400" y="6315075"/>
            <a:ext cx="11125200" cy="0"/>
          </a:xfrm>
          <a:prstGeom prst="straightConnector1">
            <a:avLst/>
          </a:prstGeom>
          <a:noFill/>
          <a:ln cap="flat" cmpd="sng" w="9525">
            <a:solidFill>
              <a:srgbClr val="D9DE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10" name="Google Shape;710;p23"/>
          <p:cNvSpPr/>
          <p:nvPr/>
        </p:nvSpPr>
        <p:spPr>
          <a:xfrm>
            <a:off x="533400" y="6448425"/>
            <a:ext cx="88582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825"/>
              <a:buFont typeface="Arial"/>
              <a:buNone/>
            </a:pPr>
            <a:r>
              <a:rPr b="0" lang="en-US" sz="825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TOKYO BIG HOUSE 最終面接資料｜社外秘・面接時のみ提示</a:t>
            </a:r>
            <a:endParaRPr/>
          </a:p>
        </p:txBody>
      </p:sp>
      <p:sp>
        <p:nvSpPr>
          <p:cNvPr id="711" name="Google Shape;711;p23"/>
          <p:cNvSpPr/>
          <p:nvPr/>
        </p:nvSpPr>
        <p:spPr>
          <a:xfrm>
            <a:off x="10744200" y="6419850"/>
            <a:ext cx="9144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55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152255"/>
                </a:solidFill>
                <a:latin typeface="Arial"/>
                <a:ea typeface="Arial"/>
                <a:cs typeface="Arial"/>
                <a:sym typeface="Arial"/>
              </a:rPr>
              <a:t>P.24</a:t>
            </a:r>
            <a:endParaRPr/>
          </a:p>
        </p:txBody>
      </p:sp>
      <p:sp>
        <p:nvSpPr>
          <p:cNvPr id="712" name="Google Shape;712;p23"/>
          <p:cNvSpPr/>
          <p:nvPr/>
        </p:nvSpPr>
        <p:spPr>
          <a:xfrm>
            <a:off x="533400" y="1390650"/>
            <a:ext cx="7239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WEFが挙げる、2030年までに減少が速い役割の例</a:t>
            </a:r>
            <a:endParaRPr/>
          </a:p>
        </p:txBody>
      </p:sp>
      <p:sp>
        <p:nvSpPr>
          <p:cNvPr id="713" name="Google Shape;713;p23"/>
          <p:cNvSpPr/>
          <p:nvPr/>
        </p:nvSpPr>
        <p:spPr>
          <a:xfrm>
            <a:off x="533400" y="1885950"/>
            <a:ext cx="3467100" cy="1600200"/>
          </a:xfrm>
          <a:prstGeom prst="roundRect">
            <a:avLst>
              <a:gd fmla="val 9524" name="adj"/>
            </a:avLst>
          </a:prstGeom>
          <a:solidFill>
            <a:srgbClr val="FFFFFF"/>
          </a:solidFill>
          <a:ln cap="flat" cmpd="sng" w="9525">
            <a:solidFill>
              <a:srgbClr val="D9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4" name="Google Shape;714;p23"/>
          <p:cNvSpPr/>
          <p:nvPr/>
        </p:nvSpPr>
        <p:spPr>
          <a:xfrm>
            <a:off x="800100" y="2190750"/>
            <a:ext cx="29337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152255"/>
              </a:buClr>
              <a:buSzPts val="1725"/>
              <a:buFont typeface="Arial"/>
              <a:buNone/>
            </a:pPr>
            <a:r>
              <a:rPr b="1" lang="en-US" sz="1725">
                <a:solidFill>
                  <a:srgbClr val="152255"/>
                </a:solidFill>
                <a:latin typeface="Arial"/>
                <a:ea typeface="Arial"/>
                <a:cs typeface="Arial"/>
                <a:sym typeface="Arial"/>
              </a:rPr>
              <a:t>レジ係・</a:t>
            </a:r>
            <a:endParaRPr/>
          </a:p>
          <a:p>
            <a:pPr indent="0" lvl="0" marL="0" marR="0" rtl="0"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152255"/>
              </a:buClr>
              <a:buSzPts val="1725"/>
              <a:buFont typeface="Arial"/>
              <a:buNone/>
            </a:pPr>
            <a:r>
              <a:rPr b="1" lang="en-US" sz="1725">
                <a:solidFill>
                  <a:srgbClr val="152255"/>
                </a:solidFill>
                <a:latin typeface="Arial"/>
                <a:ea typeface="Arial"/>
                <a:cs typeface="Arial"/>
                <a:sym typeface="Arial"/>
              </a:rPr>
              <a:t>チケット係</a:t>
            </a:r>
            <a:endParaRPr/>
          </a:p>
        </p:txBody>
      </p:sp>
      <p:sp>
        <p:nvSpPr>
          <p:cNvPr id="715" name="Google Shape;715;p23"/>
          <p:cNvSpPr/>
          <p:nvPr/>
        </p:nvSpPr>
        <p:spPr>
          <a:xfrm>
            <a:off x="4286250" y="1885950"/>
            <a:ext cx="3467100" cy="1600200"/>
          </a:xfrm>
          <a:prstGeom prst="roundRect">
            <a:avLst>
              <a:gd fmla="val 9524" name="adj"/>
            </a:avLst>
          </a:prstGeom>
          <a:solidFill>
            <a:srgbClr val="1522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6" name="Google Shape;716;p23"/>
          <p:cNvSpPr/>
          <p:nvPr/>
        </p:nvSpPr>
        <p:spPr>
          <a:xfrm>
            <a:off x="4552950" y="2190750"/>
            <a:ext cx="29337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25"/>
              <a:buFont typeface="Arial"/>
              <a:buNone/>
            </a:pPr>
            <a:r>
              <a:rPr b="1" lang="en-US" sz="172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事務アシスタント・</a:t>
            </a:r>
            <a:endParaRPr/>
          </a:p>
          <a:p>
            <a:pPr indent="0" lvl="0" marL="0" marR="0" rtl="0"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25"/>
              <a:buFont typeface="Arial"/>
              <a:buNone/>
            </a:pPr>
            <a:r>
              <a:rPr b="1" lang="en-US" sz="172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秘書</a:t>
            </a:r>
            <a:endParaRPr/>
          </a:p>
        </p:txBody>
      </p:sp>
      <p:sp>
        <p:nvSpPr>
          <p:cNvPr id="717" name="Google Shape;717;p23"/>
          <p:cNvSpPr/>
          <p:nvPr/>
        </p:nvSpPr>
        <p:spPr>
          <a:xfrm>
            <a:off x="8039100" y="1885950"/>
            <a:ext cx="3467100" cy="1600200"/>
          </a:xfrm>
          <a:prstGeom prst="roundRect">
            <a:avLst>
              <a:gd fmla="val 9524" name="adj"/>
            </a:avLst>
          </a:prstGeom>
          <a:solidFill>
            <a:srgbClr val="FFFFFF"/>
          </a:solidFill>
          <a:ln cap="flat" cmpd="sng" w="9525">
            <a:solidFill>
              <a:srgbClr val="D9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8" name="Google Shape;718;p23"/>
          <p:cNvSpPr/>
          <p:nvPr/>
        </p:nvSpPr>
        <p:spPr>
          <a:xfrm>
            <a:off x="8305800" y="2190750"/>
            <a:ext cx="29337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152255"/>
              </a:buClr>
              <a:buSzPts val="1725"/>
              <a:buFont typeface="Arial"/>
              <a:buNone/>
            </a:pPr>
            <a:r>
              <a:rPr b="1" lang="en-US" sz="1725">
                <a:solidFill>
                  <a:srgbClr val="152255"/>
                </a:solidFill>
                <a:latin typeface="Arial"/>
                <a:ea typeface="Arial"/>
                <a:cs typeface="Arial"/>
                <a:sym typeface="Arial"/>
              </a:rPr>
              <a:t>データ入力・</a:t>
            </a:r>
            <a:endParaRPr/>
          </a:p>
          <a:p>
            <a:pPr indent="0" lvl="0" marL="0" marR="0" rtl="0"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152255"/>
              </a:buClr>
              <a:buSzPts val="1725"/>
              <a:buFont typeface="Arial"/>
              <a:buNone/>
            </a:pPr>
            <a:r>
              <a:rPr b="1" lang="en-US" sz="1725">
                <a:solidFill>
                  <a:srgbClr val="152255"/>
                </a:solidFill>
                <a:latin typeface="Arial"/>
                <a:ea typeface="Arial"/>
                <a:cs typeface="Arial"/>
                <a:sym typeface="Arial"/>
              </a:rPr>
              <a:t>記録業務</a:t>
            </a:r>
            <a:endParaRPr/>
          </a:p>
        </p:txBody>
      </p:sp>
      <p:sp>
        <p:nvSpPr>
          <p:cNvPr id="719" name="Google Shape;719;p23"/>
          <p:cNvSpPr/>
          <p:nvPr/>
        </p:nvSpPr>
        <p:spPr>
          <a:xfrm>
            <a:off x="533400" y="3943350"/>
            <a:ext cx="40005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4054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344054"/>
                </a:solidFill>
                <a:latin typeface="Arial"/>
                <a:ea typeface="Arial"/>
                <a:cs typeface="Arial"/>
                <a:sym typeface="Arial"/>
              </a:rPr>
              <a:t>営業で置き換わりやすい部分</a:t>
            </a:r>
            <a:endParaRPr/>
          </a:p>
        </p:txBody>
      </p:sp>
      <p:sp>
        <p:nvSpPr>
          <p:cNvPr id="720" name="Google Shape;720;p23"/>
          <p:cNvSpPr/>
          <p:nvPr/>
        </p:nvSpPr>
        <p:spPr>
          <a:xfrm>
            <a:off x="533400" y="4476750"/>
            <a:ext cx="2438400" cy="609600"/>
          </a:xfrm>
          <a:prstGeom prst="roundRect">
            <a:avLst>
              <a:gd fmla="val 18750" name="adj"/>
            </a:avLst>
          </a:prstGeom>
          <a:solidFill>
            <a:srgbClr val="EEF1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1" name="Google Shape;721;p23"/>
          <p:cNvSpPr/>
          <p:nvPr/>
        </p:nvSpPr>
        <p:spPr>
          <a:xfrm>
            <a:off x="685800" y="459105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55"/>
              </a:buClr>
              <a:buSzPts val="1575"/>
              <a:buFont typeface="Arial"/>
              <a:buNone/>
            </a:pPr>
            <a:r>
              <a:rPr b="1" lang="en-US" sz="1575">
                <a:solidFill>
                  <a:srgbClr val="152255"/>
                </a:solidFill>
                <a:latin typeface="Arial"/>
                <a:ea typeface="Arial"/>
                <a:cs typeface="Arial"/>
                <a:sym typeface="Arial"/>
              </a:rPr>
              <a:t>入力</a:t>
            </a:r>
            <a:endParaRPr/>
          </a:p>
        </p:txBody>
      </p:sp>
      <p:sp>
        <p:nvSpPr>
          <p:cNvPr id="722" name="Google Shape;722;p23"/>
          <p:cNvSpPr/>
          <p:nvPr/>
        </p:nvSpPr>
        <p:spPr>
          <a:xfrm>
            <a:off x="3257550" y="4476750"/>
            <a:ext cx="2438400" cy="609600"/>
          </a:xfrm>
          <a:prstGeom prst="roundRect">
            <a:avLst>
              <a:gd fmla="val 18750" name="adj"/>
            </a:avLst>
          </a:prstGeom>
          <a:solidFill>
            <a:srgbClr val="EEF1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3" name="Google Shape;723;p23"/>
          <p:cNvSpPr/>
          <p:nvPr/>
        </p:nvSpPr>
        <p:spPr>
          <a:xfrm>
            <a:off x="3409950" y="459105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55"/>
              </a:buClr>
              <a:buSzPts val="1575"/>
              <a:buFont typeface="Arial"/>
              <a:buNone/>
            </a:pPr>
            <a:r>
              <a:rPr b="1" lang="en-US" sz="1575">
                <a:solidFill>
                  <a:srgbClr val="152255"/>
                </a:solidFill>
                <a:latin typeface="Arial"/>
                <a:ea typeface="Arial"/>
                <a:cs typeface="Arial"/>
                <a:sym typeface="Arial"/>
              </a:rPr>
              <a:t>リスト整理</a:t>
            </a:r>
            <a:endParaRPr/>
          </a:p>
        </p:txBody>
      </p:sp>
      <p:sp>
        <p:nvSpPr>
          <p:cNvPr id="724" name="Google Shape;724;p23"/>
          <p:cNvSpPr/>
          <p:nvPr/>
        </p:nvSpPr>
        <p:spPr>
          <a:xfrm>
            <a:off x="5981700" y="4476750"/>
            <a:ext cx="2438400" cy="609600"/>
          </a:xfrm>
          <a:prstGeom prst="roundRect">
            <a:avLst>
              <a:gd fmla="val 18750" name="adj"/>
            </a:avLst>
          </a:prstGeom>
          <a:solidFill>
            <a:srgbClr val="EEF1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5" name="Google Shape;725;p23"/>
          <p:cNvSpPr/>
          <p:nvPr/>
        </p:nvSpPr>
        <p:spPr>
          <a:xfrm>
            <a:off x="6134100" y="459105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55"/>
              </a:buClr>
              <a:buSzPts val="1575"/>
              <a:buFont typeface="Arial"/>
              <a:buNone/>
            </a:pPr>
            <a:r>
              <a:rPr b="1" lang="en-US" sz="1575">
                <a:solidFill>
                  <a:srgbClr val="152255"/>
                </a:solidFill>
                <a:latin typeface="Arial"/>
                <a:ea typeface="Arial"/>
                <a:cs typeface="Arial"/>
                <a:sym typeface="Arial"/>
              </a:rPr>
              <a:t>定型説明</a:t>
            </a:r>
            <a:endParaRPr/>
          </a:p>
        </p:txBody>
      </p:sp>
      <p:sp>
        <p:nvSpPr>
          <p:cNvPr id="726" name="Google Shape;726;p23"/>
          <p:cNvSpPr/>
          <p:nvPr/>
        </p:nvSpPr>
        <p:spPr>
          <a:xfrm>
            <a:off x="8705850" y="4476750"/>
            <a:ext cx="2438400" cy="609600"/>
          </a:xfrm>
          <a:prstGeom prst="roundRect">
            <a:avLst>
              <a:gd fmla="val 18750" name="adj"/>
            </a:avLst>
          </a:prstGeom>
          <a:solidFill>
            <a:srgbClr val="EEF1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7" name="Google Shape;727;p23"/>
          <p:cNvSpPr/>
          <p:nvPr/>
        </p:nvSpPr>
        <p:spPr>
          <a:xfrm>
            <a:off x="8858250" y="459105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55"/>
              </a:buClr>
              <a:buSzPts val="1575"/>
              <a:buFont typeface="Arial"/>
              <a:buNone/>
            </a:pPr>
            <a:r>
              <a:rPr b="1" lang="en-US" sz="1575">
                <a:solidFill>
                  <a:srgbClr val="152255"/>
                </a:solidFill>
                <a:latin typeface="Arial"/>
                <a:ea typeface="Arial"/>
                <a:cs typeface="Arial"/>
                <a:sym typeface="Arial"/>
              </a:rPr>
              <a:t>日程調整</a:t>
            </a:r>
            <a:endParaRPr/>
          </a:p>
        </p:txBody>
      </p:sp>
      <p:sp>
        <p:nvSpPr>
          <p:cNvPr id="728" name="Google Shape;728;p23"/>
          <p:cNvSpPr/>
          <p:nvPr/>
        </p:nvSpPr>
        <p:spPr>
          <a:xfrm>
            <a:off x="533400" y="5429250"/>
            <a:ext cx="11125200" cy="495300"/>
          </a:xfrm>
          <a:prstGeom prst="roundRect">
            <a:avLst>
              <a:gd fmla="val 23077" name="adj"/>
            </a:avLst>
          </a:prstGeom>
          <a:solidFill>
            <a:srgbClr val="1522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9" name="Google Shape;729;p23"/>
          <p:cNvSpPr/>
          <p:nvPr/>
        </p:nvSpPr>
        <p:spPr>
          <a:xfrm>
            <a:off x="762000" y="5524500"/>
            <a:ext cx="106680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50"/>
              <a:buFont typeface="Arial"/>
              <a:buNone/>
            </a:pPr>
            <a:r>
              <a:rPr b="1" lang="en-US" sz="16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AIを使って定型作業を短くし、人に向き合う時間を増やす。</a:t>
            </a:r>
            <a:endParaRPr/>
          </a:p>
        </p:txBody>
      </p:sp>
      <p:sp>
        <p:nvSpPr>
          <p:cNvPr id="730" name="Google Shape;730;p23"/>
          <p:cNvSpPr/>
          <p:nvPr/>
        </p:nvSpPr>
        <p:spPr>
          <a:xfrm>
            <a:off x="533400" y="6019800"/>
            <a:ext cx="11125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750"/>
              <a:buFont typeface="Arial"/>
              <a:buNone/>
            </a:pPr>
            <a:r>
              <a:rPr b="0" lang="en-US" sz="750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出典：World Economic Forum, The Future of Jobs Report 2025</a:t>
            </a:r>
            <a:endParaRPr/>
          </a:p>
        </p:txBody>
      </p:sp>
      <p:pic>
        <p:nvPicPr>
          <p:cNvPr id="731" name="Google Shape;731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11399" y="119051"/>
            <a:ext cx="2095500" cy="4450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F0"/>
        </a:solidFill>
      </p:bgPr>
    </p:bg>
    <p:spTree>
      <p:nvGrpSpPr>
        <p:cNvPr id="736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p24"/>
          <p:cNvSpPr/>
          <p:nvPr/>
        </p:nvSpPr>
        <p:spPr>
          <a:xfrm>
            <a:off x="533400" y="276225"/>
            <a:ext cx="76200" cy="238125"/>
          </a:xfrm>
          <a:prstGeom prst="roundRect">
            <a:avLst>
              <a:gd fmla="val 50000" name="adj"/>
            </a:avLst>
          </a:prstGeom>
          <a:solidFill>
            <a:srgbClr val="F474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8" name="Google Shape;738;p24"/>
          <p:cNvSpPr/>
          <p:nvPr/>
        </p:nvSpPr>
        <p:spPr>
          <a:xfrm>
            <a:off x="742950" y="2667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125"/>
              <a:buFont typeface="Arial"/>
              <a:buNone/>
            </a:pPr>
            <a:r>
              <a:rPr b="1" lang="en-US" sz="1125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11｜AI時代の営業</a:t>
            </a:r>
            <a:endParaRPr/>
          </a:p>
        </p:txBody>
      </p:sp>
      <p:sp>
        <p:nvSpPr>
          <p:cNvPr id="739" name="Google Shape;739;p24"/>
          <p:cNvSpPr/>
          <p:nvPr/>
        </p:nvSpPr>
        <p:spPr>
          <a:xfrm>
            <a:off x="533400" y="723900"/>
            <a:ext cx="106680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55"/>
              </a:buClr>
              <a:buSzPts val="3000"/>
              <a:buFont typeface="Arial"/>
              <a:buNone/>
            </a:pPr>
            <a:r>
              <a:rPr b="1" lang="en-US" sz="3000">
                <a:solidFill>
                  <a:srgbClr val="152255"/>
                </a:solidFill>
                <a:latin typeface="Arial"/>
                <a:ea typeface="Arial"/>
                <a:cs typeface="Arial"/>
                <a:sym typeface="Arial"/>
              </a:rPr>
              <a:t>AI時代ほど、「人を動かす力」が残る</a:t>
            </a:r>
            <a:endParaRPr/>
          </a:p>
        </p:txBody>
      </p:sp>
      <p:cxnSp>
        <p:nvCxnSpPr>
          <p:cNvPr id="740" name="Google Shape;740;p24"/>
          <p:cNvCxnSpPr/>
          <p:nvPr/>
        </p:nvCxnSpPr>
        <p:spPr>
          <a:xfrm>
            <a:off x="533400" y="6315075"/>
            <a:ext cx="11125200" cy="0"/>
          </a:xfrm>
          <a:prstGeom prst="straightConnector1">
            <a:avLst/>
          </a:prstGeom>
          <a:noFill/>
          <a:ln cap="flat" cmpd="sng" w="9525">
            <a:solidFill>
              <a:srgbClr val="D9DE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41" name="Google Shape;741;p24"/>
          <p:cNvSpPr/>
          <p:nvPr/>
        </p:nvSpPr>
        <p:spPr>
          <a:xfrm>
            <a:off x="533400" y="6448425"/>
            <a:ext cx="88582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825"/>
              <a:buFont typeface="Arial"/>
              <a:buNone/>
            </a:pPr>
            <a:r>
              <a:rPr b="0" lang="en-US" sz="825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TOKYO BIG HOUSE 最終面接資料｜社外秘・面接時のみ提示</a:t>
            </a:r>
            <a:endParaRPr/>
          </a:p>
        </p:txBody>
      </p:sp>
      <p:sp>
        <p:nvSpPr>
          <p:cNvPr id="742" name="Google Shape;742;p24"/>
          <p:cNvSpPr/>
          <p:nvPr/>
        </p:nvSpPr>
        <p:spPr>
          <a:xfrm>
            <a:off x="10744200" y="6419850"/>
            <a:ext cx="9144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55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152255"/>
                </a:solidFill>
                <a:latin typeface="Arial"/>
                <a:ea typeface="Arial"/>
                <a:cs typeface="Arial"/>
                <a:sym typeface="Arial"/>
              </a:rPr>
              <a:t>P.25</a:t>
            </a:r>
            <a:endParaRPr/>
          </a:p>
        </p:txBody>
      </p:sp>
      <p:sp>
        <p:nvSpPr>
          <p:cNvPr id="743" name="Google Shape;743;p24"/>
          <p:cNvSpPr/>
          <p:nvPr/>
        </p:nvSpPr>
        <p:spPr>
          <a:xfrm>
            <a:off x="533400" y="1390650"/>
            <a:ext cx="6858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WEF 2025｜企業が重視する人間中心のスキル</a:t>
            </a:r>
            <a:endParaRPr/>
          </a:p>
        </p:txBody>
      </p:sp>
      <p:sp>
        <p:nvSpPr>
          <p:cNvPr id="744" name="Google Shape;744;p24"/>
          <p:cNvSpPr/>
          <p:nvPr/>
        </p:nvSpPr>
        <p:spPr>
          <a:xfrm>
            <a:off x="647700" y="1943100"/>
            <a:ext cx="3238500" cy="742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55"/>
              </a:buClr>
              <a:buSzPts val="3750"/>
              <a:buFont typeface="Arial"/>
              <a:buNone/>
            </a:pPr>
            <a:r>
              <a:rPr b="1" lang="en-US" sz="3750">
                <a:solidFill>
                  <a:srgbClr val="152255"/>
                </a:solidFill>
                <a:latin typeface="Arial"/>
                <a:ea typeface="Arial"/>
                <a:cs typeface="Arial"/>
                <a:sym typeface="Arial"/>
              </a:rPr>
              <a:t>61%</a:t>
            </a:r>
            <a:endParaRPr/>
          </a:p>
        </p:txBody>
      </p:sp>
      <p:sp>
        <p:nvSpPr>
          <p:cNvPr id="745" name="Google Shape;745;p24"/>
          <p:cNvSpPr/>
          <p:nvPr/>
        </p:nvSpPr>
        <p:spPr>
          <a:xfrm>
            <a:off x="800100" y="2819400"/>
            <a:ext cx="29337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344054"/>
              </a:buClr>
              <a:buSzPts val="1650"/>
              <a:buFont typeface="Arial"/>
              <a:buNone/>
            </a:pPr>
            <a:r>
              <a:rPr b="1" lang="en-US" sz="1650">
                <a:solidFill>
                  <a:srgbClr val="344054"/>
                </a:solidFill>
                <a:latin typeface="Arial"/>
                <a:ea typeface="Arial"/>
                <a:cs typeface="Arial"/>
                <a:sym typeface="Arial"/>
              </a:rPr>
              <a:t>リーダーシップと</a:t>
            </a:r>
            <a:endParaRPr/>
          </a:p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344054"/>
              </a:buClr>
              <a:buSzPts val="1650"/>
              <a:buFont typeface="Arial"/>
              <a:buNone/>
            </a:pPr>
            <a:r>
              <a:rPr b="1" lang="en-US" sz="1650">
                <a:solidFill>
                  <a:srgbClr val="344054"/>
                </a:solidFill>
                <a:latin typeface="Arial"/>
                <a:ea typeface="Arial"/>
                <a:cs typeface="Arial"/>
                <a:sym typeface="Arial"/>
              </a:rPr>
              <a:t>社会的影響力</a:t>
            </a:r>
            <a:endParaRPr/>
          </a:p>
        </p:txBody>
      </p:sp>
      <p:sp>
        <p:nvSpPr>
          <p:cNvPr id="746" name="Google Shape;746;p24"/>
          <p:cNvSpPr/>
          <p:nvPr/>
        </p:nvSpPr>
        <p:spPr>
          <a:xfrm>
            <a:off x="4400550" y="1943100"/>
            <a:ext cx="3238500" cy="742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7421"/>
              </a:buClr>
              <a:buSzPts val="3750"/>
              <a:buFont typeface="Arial"/>
              <a:buNone/>
            </a:pPr>
            <a:r>
              <a:rPr b="1" lang="en-US" sz="3750">
                <a:solidFill>
                  <a:srgbClr val="F47421"/>
                </a:solidFill>
                <a:latin typeface="Arial"/>
                <a:ea typeface="Arial"/>
                <a:cs typeface="Arial"/>
                <a:sym typeface="Arial"/>
              </a:rPr>
              <a:t>50%</a:t>
            </a:r>
            <a:endParaRPr/>
          </a:p>
        </p:txBody>
      </p:sp>
      <p:sp>
        <p:nvSpPr>
          <p:cNvPr id="747" name="Google Shape;747;p24"/>
          <p:cNvSpPr/>
          <p:nvPr/>
        </p:nvSpPr>
        <p:spPr>
          <a:xfrm>
            <a:off x="4552950" y="2819400"/>
            <a:ext cx="29337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344054"/>
              </a:buClr>
              <a:buSzPts val="1650"/>
              <a:buFont typeface="Arial"/>
              <a:buNone/>
            </a:pPr>
            <a:r>
              <a:rPr b="1" lang="en-US" sz="1650">
                <a:solidFill>
                  <a:srgbClr val="344054"/>
                </a:solidFill>
                <a:latin typeface="Arial"/>
                <a:ea typeface="Arial"/>
                <a:cs typeface="Arial"/>
                <a:sym typeface="Arial"/>
              </a:rPr>
              <a:t>共感と</a:t>
            </a:r>
            <a:endParaRPr/>
          </a:p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344054"/>
              </a:buClr>
              <a:buSzPts val="1650"/>
              <a:buFont typeface="Arial"/>
              <a:buNone/>
            </a:pPr>
            <a:r>
              <a:rPr b="1" lang="en-US" sz="1650">
                <a:solidFill>
                  <a:srgbClr val="344054"/>
                </a:solidFill>
                <a:latin typeface="Arial"/>
                <a:ea typeface="Arial"/>
                <a:cs typeface="Arial"/>
                <a:sym typeface="Arial"/>
              </a:rPr>
              <a:t>アクティブリスニング</a:t>
            </a:r>
            <a:endParaRPr/>
          </a:p>
        </p:txBody>
      </p:sp>
      <p:sp>
        <p:nvSpPr>
          <p:cNvPr id="748" name="Google Shape;748;p24"/>
          <p:cNvSpPr/>
          <p:nvPr/>
        </p:nvSpPr>
        <p:spPr>
          <a:xfrm>
            <a:off x="8153400" y="1943100"/>
            <a:ext cx="3238500" cy="742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55"/>
              </a:buClr>
              <a:buSzPts val="3750"/>
              <a:buFont typeface="Arial"/>
              <a:buNone/>
            </a:pPr>
            <a:r>
              <a:rPr b="1" lang="en-US" sz="3750">
                <a:solidFill>
                  <a:srgbClr val="152255"/>
                </a:solidFill>
                <a:latin typeface="Arial"/>
                <a:ea typeface="Arial"/>
                <a:cs typeface="Arial"/>
                <a:sym typeface="Arial"/>
              </a:rPr>
              <a:t>47%</a:t>
            </a:r>
            <a:endParaRPr/>
          </a:p>
        </p:txBody>
      </p:sp>
      <p:sp>
        <p:nvSpPr>
          <p:cNvPr id="749" name="Google Shape;749;p24"/>
          <p:cNvSpPr/>
          <p:nvPr/>
        </p:nvSpPr>
        <p:spPr>
          <a:xfrm>
            <a:off x="8305800" y="2819400"/>
            <a:ext cx="29337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344054"/>
              </a:buClr>
              <a:buSzPts val="1650"/>
              <a:buFont typeface="Arial"/>
              <a:buNone/>
            </a:pPr>
            <a:r>
              <a:rPr b="1" lang="en-US" sz="1650">
                <a:solidFill>
                  <a:srgbClr val="344054"/>
                </a:solidFill>
                <a:latin typeface="Arial"/>
                <a:ea typeface="Arial"/>
                <a:cs typeface="Arial"/>
                <a:sym typeface="Arial"/>
              </a:rPr>
              <a:t>サービス志向と</a:t>
            </a:r>
            <a:endParaRPr/>
          </a:p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344054"/>
              </a:buClr>
              <a:buSzPts val="1650"/>
              <a:buFont typeface="Arial"/>
              <a:buNone/>
            </a:pPr>
            <a:r>
              <a:rPr b="1" lang="en-US" sz="1650">
                <a:solidFill>
                  <a:srgbClr val="344054"/>
                </a:solidFill>
                <a:latin typeface="Arial"/>
                <a:ea typeface="Arial"/>
                <a:cs typeface="Arial"/>
                <a:sym typeface="Arial"/>
              </a:rPr>
              <a:t>顧客対応</a:t>
            </a:r>
            <a:endParaRPr/>
          </a:p>
        </p:txBody>
      </p:sp>
      <p:sp>
        <p:nvSpPr>
          <p:cNvPr id="750" name="Google Shape;750;p24"/>
          <p:cNvSpPr/>
          <p:nvPr/>
        </p:nvSpPr>
        <p:spPr>
          <a:xfrm>
            <a:off x="533400" y="3905250"/>
            <a:ext cx="11125200" cy="1352550"/>
          </a:xfrm>
          <a:prstGeom prst="roundRect">
            <a:avLst>
              <a:gd fmla="val 12676" name="adj"/>
            </a:avLst>
          </a:prstGeom>
          <a:solidFill>
            <a:srgbClr val="1522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1" name="Google Shape;751;p24"/>
          <p:cNvSpPr/>
          <p:nvPr/>
        </p:nvSpPr>
        <p:spPr>
          <a:xfrm>
            <a:off x="876300" y="4133850"/>
            <a:ext cx="10439400" cy="895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lang="en-US" sz="2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住宅営業で鍛えるのは、相手の本音を聴き、</a:t>
            </a:r>
            <a:endParaRPr/>
          </a:p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lang="en-US" sz="2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不安をほどき、人生の決断を前に進める力。</a:t>
            </a:r>
            <a:endParaRPr/>
          </a:p>
        </p:txBody>
      </p:sp>
      <p:sp>
        <p:nvSpPr>
          <p:cNvPr id="752" name="Google Shape;752;p24"/>
          <p:cNvSpPr/>
          <p:nvPr/>
        </p:nvSpPr>
        <p:spPr>
          <a:xfrm>
            <a:off x="533400" y="5562600"/>
            <a:ext cx="111252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4054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344054"/>
                </a:solidFill>
                <a:latin typeface="Arial"/>
                <a:ea typeface="Arial"/>
                <a:cs typeface="Arial"/>
                <a:sym typeface="Arial"/>
              </a:rPr>
              <a:t>AIと競争するのではなく、AIを使いながら人にしかできない部分を伸ばす。</a:t>
            </a:r>
            <a:endParaRPr/>
          </a:p>
        </p:txBody>
      </p:sp>
      <p:sp>
        <p:nvSpPr>
          <p:cNvPr id="753" name="Google Shape;753;p24"/>
          <p:cNvSpPr/>
          <p:nvPr/>
        </p:nvSpPr>
        <p:spPr>
          <a:xfrm>
            <a:off x="533400" y="6019800"/>
            <a:ext cx="11125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750"/>
              <a:buFont typeface="Arial"/>
              <a:buNone/>
            </a:pPr>
            <a:r>
              <a:rPr b="0" lang="en-US" sz="750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出典：World Economic Forum, The Future of Jobs Report 2025（世界の主要雇用主1,000社超）</a:t>
            </a:r>
            <a:endParaRPr/>
          </a:p>
        </p:txBody>
      </p:sp>
      <p:pic>
        <p:nvPicPr>
          <p:cNvPr id="754" name="Google Shape;754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11399" y="119051"/>
            <a:ext cx="2095500" cy="4450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F0"/>
        </a:solidFill>
      </p:bgPr>
    </p:bg>
    <p:spTree>
      <p:nvGrpSpPr>
        <p:cNvPr id="759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25"/>
          <p:cNvSpPr/>
          <p:nvPr/>
        </p:nvSpPr>
        <p:spPr>
          <a:xfrm>
            <a:off x="533400" y="276225"/>
            <a:ext cx="76200" cy="238125"/>
          </a:xfrm>
          <a:prstGeom prst="roundRect">
            <a:avLst>
              <a:gd fmla="val 50000" name="adj"/>
            </a:avLst>
          </a:prstGeom>
          <a:solidFill>
            <a:srgbClr val="F474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1" name="Google Shape;761;p25"/>
          <p:cNvSpPr/>
          <p:nvPr/>
        </p:nvSpPr>
        <p:spPr>
          <a:xfrm>
            <a:off x="742950" y="2667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125"/>
              <a:buFont typeface="Arial"/>
              <a:buNone/>
            </a:pPr>
            <a:r>
              <a:rPr b="1" lang="en-US" sz="1125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13｜意思決定</a:t>
            </a:r>
            <a:endParaRPr/>
          </a:p>
        </p:txBody>
      </p:sp>
      <p:sp>
        <p:nvSpPr>
          <p:cNvPr id="762" name="Google Shape;762;p25"/>
          <p:cNvSpPr/>
          <p:nvPr/>
        </p:nvSpPr>
        <p:spPr>
          <a:xfrm>
            <a:off x="533400" y="723900"/>
            <a:ext cx="106680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55"/>
              </a:buClr>
              <a:buSzPts val="2925"/>
              <a:buFont typeface="Arial"/>
              <a:buNone/>
            </a:pPr>
            <a:r>
              <a:rPr b="1" lang="en-US" sz="2925">
                <a:solidFill>
                  <a:srgbClr val="152255"/>
                </a:solidFill>
                <a:latin typeface="Arial"/>
                <a:ea typeface="Arial"/>
                <a:cs typeface="Arial"/>
                <a:sym typeface="Arial"/>
              </a:rPr>
              <a:t>同じ44年でも、業界と昇格速度で生涯年収は変わる</a:t>
            </a:r>
            <a:endParaRPr/>
          </a:p>
        </p:txBody>
      </p:sp>
      <p:cxnSp>
        <p:nvCxnSpPr>
          <p:cNvPr id="763" name="Google Shape;763;p25"/>
          <p:cNvCxnSpPr/>
          <p:nvPr/>
        </p:nvCxnSpPr>
        <p:spPr>
          <a:xfrm>
            <a:off x="533400" y="6315075"/>
            <a:ext cx="11125200" cy="0"/>
          </a:xfrm>
          <a:prstGeom prst="straightConnector1">
            <a:avLst/>
          </a:prstGeom>
          <a:noFill/>
          <a:ln cap="flat" cmpd="sng" w="9525">
            <a:solidFill>
              <a:srgbClr val="D9DE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64" name="Google Shape;764;p25"/>
          <p:cNvSpPr/>
          <p:nvPr/>
        </p:nvSpPr>
        <p:spPr>
          <a:xfrm>
            <a:off x="533400" y="6448425"/>
            <a:ext cx="88582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825"/>
              <a:buFont typeface="Arial"/>
              <a:buNone/>
            </a:pPr>
            <a:r>
              <a:rPr b="0" lang="en-US" sz="825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TOKYO BIG HOUSE 最終面接資料｜社外秘・面接時のみ提示</a:t>
            </a:r>
            <a:endParaRPr/>
          </a:p>
        </p:txBody>
      </p:sp>
      <p:sp>
        <p:nvSpPr>
          <p:cNvPr id="765" name="Google Shape;765;p25"/>
          <p:cNvSpPr/>
          <p:nvPr/>
        </p:nvSpPr>
        <p:spPr>
          <a:xfrm>
            <a:off x="10744200" y="6419850"/>
            <a:ext cx="9144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55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152255"/>
                </a:solidFill>
                <a:latin typeface="Arial"/>
                <a:ea typeface="Arial"/>
                <a:cs typeface="Arial"/>
                <a:sym typeface="Arial"/>
              </a:rPr>
              <a:t>P.27</a:t>
            </a:r>
            <a:endParaRPr/>
          </a:p>
        </p:txBody>
      </p:sp>
      <p:sp>
        <p:nvSpPr>
          <p:cNvPr id="766" name="Google Shape;766;p25"/>
          <p:cNvSpPr/>
          <p:nvPr/>
        </p:nvSpPr>
        <p:spPr>
          <a:xfrm>
            <a:off x="533400" y="1333500"/>
            <a:ext cx="5334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275"/>
              <a:buFont typeface="Arial"/>
              <a:buNone/>
            </a:pPr>
            <a:r>
              <a:rPr b="1" lang="en-US" sz="1275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22〜65歳の累計年収｜単位：億円</a:t>
            </a:r>
            <a:endParaRPr/>
          </a:p>
        </p:txBody>
      </p:sp>
      <p:cxnSp>
        <p:nvCxnSpPr>
          <p:cNvPr id="767" name="Google Shape;767;p25"/>
          <p:cNvCxnSpPr/>
          <p:nvPr/>
        </p:nvCxnSpPr>
        <p:spPr>
          <a:xfrm>
            <a:off x="990600" y="4876800"/>
            <a:ext cx="7239000" cy="0"/>
          </a:xfrm>
          <a:prstGeom prst="straightConnector1">
            <a:avLst/>
          </a:prstGeom>
          <a:noFill/>
          <a:ln cap="flat" cmpd="sng" w="15225">
            <a:solidFill>
              <a:srgbClr val="66708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68" name="Google Shape;768;p25"/>
          <p:cNvSpPr/>
          <p:nvPr/>
        </p:nvSpPr>
        <p:spPr>
          <a:xfrm>
            <a:off x="533400" y="4762500"/>
            <a:ext cx="3238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975"/>
              <a:buFont typeface="Arial"/>
              <a:buNone/>
            </a:pPr>
            <a:r>
              <a:rPr b="0" lang="en-US" sz="975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</p:txBody>
      </p:sp>
      <p:cxnSp>
        <p:nvCxnSpPr>
          <p:cNvPr id="769" name="Google Shape;769;p25"/>
          <p:cNvCxnSpPr/>
          <p:nvPr/>
        </p:nvCxnSpPr>
        <p:spPr>
          <a:xfrm>
            <a:off x="990600" y="4275992"/>
            <a:ext cx="7239000" cy="0"/>
          </a:xfrm>
          <a:prstGeom prst="straightConnector1">
            <a:avLst/>
          </a:prstGeom>
          <a:noFill/>
          <a:ln cap="flat" cmpd="sng" w="9525">
            <a:solidFill>
              <a:srgbClr val="D9DE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70" name="Google Shape;770;p25"/>
          <p:cNvSpPr/>
          <p:nvPr/>
        </p:nvSpPr>
        <p:spPr>
          <a:xfrm>
            <a:off x="533400" y="4161692"/>
            <a:ext cx="3238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975"/>
              <a:buFont typeface="Arial"/>
              <a:buNone/>
            </a:pPr>
            <a:r>
              <a:rPr b="0" lang="en-US" sz="975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cxnSp>
        <p:nvCxnSpPr>
          <p:cNvPr id="771" name="Google Shape;771;p25"/>
          <p:cNvCxnSpPr/>
          <p:nvPr/>
        </p:nvCxnSpPr>
        <p:spPr>
          <a:xfrm>
            <a:off x="990600" y="3675185"/>
            <a:ext cx="7239000" cy="0"/>
          </a:xfrm>
          <a:prstGeom prst="straightConnector1">
            <a:avLst/>
          </a:prstGeom>
          <a:noFill/>
          <a:ln cap="flat" cmpd="sng" w="9525">
            <a:solidFill>
              <a:srgbClr val="D9DE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72" name="Google Shape;772;p25"/>
          <p:cNvSpPr/>
          <p:nvPr/>
        </p:nvSpPr>
        <p:spPr>
          <a:xfrm>
            <a:off x="533400" y="3560885"/>
            <a:ext cx="3238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975"/>
              <a:buFont typeface="Arial"/>
              <a:buNone/>
            </a:pPr>
            <a:r>
              <a:rPr b="0" lang="en-US" sz="975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cxnSp>
        <p:nvCxnSpPr>
          <p:cNvPr id="773" name="Google Shape;773;p25"/>
          <p:cNvCxnSpPr/>
          <p:nvPr/>
        </p:nvCxnSpPr>
        <p:spPr>
          <a:xfrm>
            <a:off x="990600" y="3074377"/>
            <a:ext cx="7239000" cy="0"/>
          </a:xfrm>
          <a:prstGeom prst="straightConnector1">
            <a:avLst/>
          </a:prstGeom>
          <a:noFill/>
          <a:ln cap="flat" cmpd="sng" w="9525">
            <a:solidFill>
              <a:srgbClr val="D9DE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74" name="Google Shape;774;p25"/>
          <p:cNvSpPr/>
          <p:nvPr/>
        </p:nvSpPr>
        <p:spPr>
          <a:xfrm>
            <a:off x="533400" y="2960077"/>
            <a:ext cx="3238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975"/>
              <a:buFont typeface="Arial"/>
              <a:buNone/>
            </a:pPr>
            <a:r>
              <a:rPr b="0" lang="en-US" sz="975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cxnSp>
        <p:nvCxnSpPr>
          <p:cNvPr id="775" name="Google Shape;775;p25"/>
          <p:cNvCxnSpPr/>
          <p:nvPr/>
        </p:nvCxnSpPr>
        <p:spPr>
          <a:xfrm>
            <a:off x="990600" y="2473569"/>
            <a:ext cx="7239000" cy="0"/>
          </a:xfrm>
          <a:prstGeom prst="straightConnector1">
            <a:avLst/>
          </a:prstGeom>
          <a:noFill/>
          <a:ln cap="flat" cmpd="sng" w="9525">
            <a:solidFill>
              <a:srgbClr val="D9DE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76" name="Google Shape;776;p25"/>
          <p:cNvSpPr/>
          <p:nvPr/>
        </p:nvSpPr>
        <p:spPr>
          <a:xfrm>
            <a:off x="533400" y="2359269"/>
            <a:ext cx="3238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975"/>
              <a:buFont typeface="Arial"/>
              <a:buNone/>
            </a:pPr>
            <a:r>
              <a:rPr b="0" lang="en-US" sz="975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cxnSp>
        <p:nvCxnSpPr>
          <p:cNvPr id="777" name="Google Shape;777;p25"/>
          <p:cNvCxnSpPr/>
          <p:nvPr/>
        </p:nvCxnSpPr>
        <p:spPr>
          <a:xfrm>
            <a:off x="990600" y="1872762"/>
            <a:ext cx="7239000" cy="0"/>
          </a:xfrm>
          <a:prstGeom prst="straightConnector1">
            <a:avLst/>
          </a:prstGeom>
          <a:noFill/>
          <a:ln cap="flat" cmpd="sng" w="9525">
            <a:solidFill>
              <a:srgbClr val="D9DE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78" name="Google Shape;778;p25"/>
          <p:cNvSpPr/>
          <p:nvPr/>
        </p:nvSpPr>
        <p:spPr>
          <a:xfrm>
            <a:off x="533400" y="1758462"/>
            <a:ext cx="3238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975"/>
              <a:buFont typeface="Arial"/>
              <a:buNone/>
            </a:pPr>
            <a:r>
              <a:rPr b="0" lang="en-US" sz="975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  <p:cxnSp>
        <p:nvCxnSpPr>
          <p:cNvPr id="779" name="Google Shape;779;p25"/>
          <p:cNvCxnSpPr/>
          <p:nvPr/>
        </p:nvCxnSpPr>
        <p:spPr>
          <a:xfrm>
            <a:off x="990600" y="1752600"/>
            <a:ext cx="0" cy="3124200"/>
          </a:xfrm>
          <a:prstGeom prst="straightConnector1">
            <a:avLst/>
          </a:prstGeom>
          <a:noFill/>
          <a:ln cap="flat" cmpd="sng" w="9525">
            <a:solidFill>
              <a:srgbClr val="D9DE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80" name="Google Shape;780;p25"/>
          <p:cNvSpPr/>
          <p:nvPr/>
        </p:nvSpPr>
        <p:spPr>
          <a:xfrm>
            <a:off x="742950" y="4972050"/>
            <a:ext cx="4953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975"/>
              <a:buFont typeface="Arial"/>
              <a:buNone/>
            </a:pPr>
            <a:r>
              <a:rPr b="0" lang="en-US" sz="975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22</a:t>
            </a:r>
            <a:endParaRPr/>
          </a:p>
        </p:txBody>
      </p:sp>
      <p:cxnSp>
        <p:nvCxnSpPr>
          <p:cNvPr id="781" name="Google Shape;781;p25"/>
          <p:cNvCxnSpPr/>
          <p:nvPr/>
        </p:nvCxnSpPr>
        <p:spPr>
          <a:xfrm>
            <a:off x="2169042" y="1752600"/>
            <a:ext cx="0" cy="3124200"/>
          </a:xfrm>
          <a:prstGeom prst="straightConnector1">
            <a:avLst/>
          </a:prstGeom>
          <a:noFill/>
          <a:ln cap="flat" cmpd="sng" w="9525">
            <a:solidFill>
              <a:srgbClr val="D9DE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82" name="Google Shape;782;p25"/>
          <p:cNvSpPr/>
          <p:nvPr/>
        </p:nvSpPr>
        <p:spPr>
          <a:xfrm>
            <a:off x="1921392" y="4972050"/>
            <a:ext cx="4953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975"/>
              <a:buFont typeface="Arial"/>
              <a:buNone/>
            </a:pPr>
            <a:r>
              <a:rPr b="0" lang="en-US" sz="975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29</a:t>
            </a:r>
            <a:endParaRPr/>
          </a:p>
        </p:txBody>
      </p:sp>
      <p:cxnSp>
        <p:nvCxnSpPr>
          <p:cNvPr id="783" name="Google Shape;783;p25"/>
          <p:cNvCxnSpPr/>
          <p:nvPr/>
        </p:nvCxnSpPr>
        <p:spPr>
          <a:xfrm>
            <a:off x="3852530" y="1752600"/>
            <a:ext cx="0" cy="3124200"/>
          </a:xfrm>
          <a:prstGeom prst="straightConnector1">
            <a:avLst/>
          </a:prstGeom>
          <a:noFill/>
          <a:ln cap="flat" cmpd="sng" w="9525">
            <a:solidFill>
              <a:srgbClr val="D9DE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84" name="Google Shape;784;p25"/>
          <p:cNvSpPr/>
          <p:nvPr/>
        </p:nvSpPr>
        <p:spPr>
          <a:xfrm>
            <a:off x="3604880" y="4972050"/>
            <a:ext cx="4953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975"/>
              <a:buFont typeface="Arial"/>
              <a:buNone/>
            </a:pPr>
            <a:r>
              <a:rPr b="0" lang="en-US" sz="975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39</a:t>
            </a:r>
            <a:endParaRPr/>
          </a:p>
        </p:txBody>
      </p:sp>
      <p:cxnSp>
        <p:nvCxnSpPr>
          <p:cNvPr id="785" name="Google Shape;785;p25"/>
          <p:cNvCxnSpPr/>
          <p:nvPr/>
        </p:nvCxnSpPr>
        <p:spPr>
          <a:xfrm>
            <a:off x="5536019" y="1752600"/>
            <a:ext cx="0" cy="3124200"/>
          </a:xfrm>
          <a:prstGeom prst="straightConnector1">
            <a:avLst/>
          </a:prstGeom>
          <a:noFill/>
          <a:ln cap="flat" cmpd="sng" w="9525">
            <a:solidFill>
              <a:srgbClr val="D9DE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86" name="Google Shape;786;p25"/>
          <p:cNvSpPr/>
          <p:nvPr/>
        </p:nvSpPr>
        <p:spPr>
          <a:xfrm>
            <a:off x="5288369" y="4972050"/>
            <a:ext cx="4953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975"/>
              <a:buFont typeface="Arial"/>
              <a:buNone/>
            </a:pPr>
            <a:r>
              <a:rPr b="0" lang="en-US" sz="975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49</a:t>
            </a:r>
            <a:endParaRPr/>
          </a:p>
        </p:txBody>
      </p:sp>
      <p:cxnSp>
        <p:nvCxnSpPr>
          <p:cNvPr id="787" name="Google Shape;787;p25"/>
          <p:cNvCxnSpPr/>
          <p:nvPr/>
        </p:nvCxnSpPr>
        <p:spPr>
          <a:xfrm>
            <a:off x="8229600" y="1752600"/>
            <a:ext cx="0" cy="3124200"/>
          </a:xfrm>
          <a:prstGeom prst="straightConnector1">
            <a:avLst/>
          </a:prstGeom>
          <a:noFill/>
          <a:ln cap="flat" cmpd="sng" w="9525">
            <a:solidFill>
              <a:srgbClr val="D9DE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88" name="Google Shape;788;p25"/>
          <p:cNvSpPr/>
          <p:nvPr/>
        </p:nvSpPr>
        <p:spPr>
          <a:xfrm>
            <a:off x="7981950" y="4972050"/>
            <a:ext cx="4953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975"/>
              <a:buFont typeface="Arial"/>
              <a:buNone/>
            </a:pPr>
            <a:r>
              <a:rPr b="0" lang="en-US" sz="975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65</a:t>
            </a:r>
            <a:endParaRPr/>
          </a:p>
        </p:txBody>
      </p:sp>
      <p:sp>
        <p:nvSpPr>
          <p:cNvPr id="789" name="Google Shape;789;p25"/>
          <p:cNvSpPr/>
          <p:nvPr/>
        </p:nvSpPr>
        <p:spPr>
          <a:xfrm>
            <a:off x="7962900" y="5200650"/>
            <a:ext cx="5715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900"/>
              <a:buFont typeface="Arial"/>
              <a:buNone/>
            </a:pPr>
            <a:r>
              <a:rPr b="0" lang="en-US" sz="900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年齢</a:t>
            </a:r>
            <a:endParaRPr/>
          </a:p>
        </p:txBody>
      </p:sp>
      <p:cxnSp>
        <p:nvCxnSpPr>
          <p:cNvPr id="790" name="Google Shape;790;p25"/>
          <p:cNvCxnSpPr/>
          <p:nvPr/>
        </p:nvCxnSpPr>
        <p:spPr>
          <a:xfrm rot="-480583">
            <a:off x="984795" y="4793889"/>
            <a:ext cx="1190051" cy="0"/>
          </a:xfrm>
          <a:prstGeom prst="straightConnector1">
            <a:avLst/>
          </a:prstGeom>
          <a:noFill/>
          <a:ln cap="flat" cmpd="sng" w="28575">
            <a:solidFill>
              <a:srgbClr val="66708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91" name="Google Shape;791;p25"/>
          <p:cNvCxnSpPr/>
          <p:nvPr/>
        </p:nvCxnSpPr>
        <p:spPr>
          <a:xfrm rot="-503076">
            <a:off x="2159948" y="4586910"/>
            <a:ext cx="1701677" cy="0"/>
          </a:xfrm>
          <a:prstGeom prst="straightConnector1">
            <a:avLst/>
          </a:prstGeom>
          <a:noFill/>
          <a:ln cap="flat" cmpd="sng" w="28575">
            <a:solidFill>
              <a:srgbClr val="66708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92" name="Google Shape;792;p25"/>
          <p:cNvCxnSpPr/>
          <p:nvPr/>
        </p:nvCxnSpPr>
        <p:spPr>
          <a:xfrm rot="-525868">
            <a:off x="3842585" y="4333069"/>
            <a:ext cx="1703379" cy="0"/>
          </a:xfrm>
          <a:prstGeom prst="straightConnector1">
            <a:avLst/>
          </a:prstGeom>
          <a:noFill/>
          <a:ln cap="flat" cmpd="sng" w="28575">
            <a:solidFill>
              <a:srgbClr val="66708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93" name="Google Shape;793;p25"/>
          <p:cNvCxnSpPr/>
          <p:nvPr/>
        </p:nvCxnSpPr>
        <p:spPr>
          <a:xfrm rot="-545923">
            <a:off x="5518856" y="3987605"/>
            <a:ext cx="2727906" cy="0"/>
          </a:xfrm>
          <a:prstGeom prst="straightConnector1">
            <a:avLst/>
          </a:prstGeom>
          <a:noFill/>
          <a:ln cap="flat" cmpd="sng" w="28575">
            <a:solidFill>
              <a:srgbClr val="66708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94" name="Google Shape;794;p25"/>
          <p:cNvSpPr/>
          <p:nvPr/>
        </p:nvSpPr>
        <p:spPr>
          <a:xfrm>
            <a:off x="933450" y="4819650"/>
            <a:ext cx="114300" cy="114300"/>
          </a:xfrm>
          <a:prstGeom prst="ellipse">
            <a:avLst/>
          </a:prstGeom>
          <a:solidFill>
            <a:srgbClr val="667085"/>
          </a:solidFill>
          <a:ln cap="flat" cmpd="sng" w="133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5" name="Google Shape;795;p25"/>
          <p:cNvSpPr/>
          <p:nvPr/>
        </p:nvSpPr>
        <p:spPr>
          <a:xfrm>
            <a:off x="2111892" y="4653827"/>
            <a:ext cx="114300" cy="114300"/>
          </a:xfrm>
          <a:prstGeom prst="ellipse">
            <a:avLst/>
          </a:prstGeom>
          <a:solidFill>
            <a:srgbClr val="667085"/>
          </a:solidFill>
          <a:ln cap="flat" cmpd="sng" w="133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6" name="Google Shape;796;p25"/>
          <p:cNvSpPr/>
          <p:nvPr/>
        </p:nvSpPr>
        <p:spPr>
          <a:xfrm>
            <a:off x="3795380" y="4405694"/>
            <a:ext cx="114300" cy="114300"/>
          </a:xfrm>
          <a:prstGeom prst="ellipse">
            <a:avLst/>
          </a:prstGeom>
          <a:solidFill>
            <a:srgbClr val="667085"/>
          </a:solidFill>
          <a:ln cap="flat" cmpd="sng" w="133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7" name="Google Shape;797;p25"/>
          <p:cNvSpPr/>
          <p:nvPr/>
        </p:nvSpPr>
        <p:spPr>
          <a:xfrm>
            <a:off x="5478869" y="4146145"/>
            <a:ext cx="114300" cy="114300"/>
          </a:xfrm>
          <a:prstGeom prst="ellipse">
            <a:avLst/>
          </a:prstGeom>
          <a:solidFill>
            <a:srgbClr val="667085"/>
          </a:solidFill>
          <a:ln cap="flat" cmpd="sng" w="133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8" name="Google Shape;798;p25"/>
          <p:cNvSpPr/>
          <p:nvPr/>
        </p:nvSpPr>
        <p:spPr>
          <a:xfrm>
            <a:off x="8172450" y="3714765"/>
            <a:ext cx="114300" cy="114300"/>
          </a:xfrm>
          <a:prstGeom prst="ellipse">
            <a:avLst/>
          </a:prstGeom>
          <a:solidFill>
            <a:srgbClr val="667085"/>
          </a:solidFill>
          <a:ln cap="flat" cmpd="sng" w="133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99" name="Google Shape;799;p25"/>
          <p:cNvCxnSpPr/>
          <p:nvPr/>
        </p:nvCxnSpPr>
        <p:spPr>
          <a:xfrm rot="-559372">
            <a:off x="982713" y="4780070"/>
            <a:ext cx="1194216" cy="0"/>
          </a:xfrm>
          <a:prstGeom prst="straightConnector1">
            <a:avLst/>
          </a:prstGeom>
          <a:noFill/>
          <a:ln cap="flat" cmpd="sng" w="28575">
            <a:solidFill>
              <a:srgbClr val="4D79C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00" name="Google Shape;800;p25"/>
          <p:cNvCxnSpPr/>
          <p:nvPr/>
        </p:nvCxnSpPr>
        <p:spPr>
          <a:xfrm rot="-598720">
            <a:off x="2156113" y="4535241"/>
            <a:ext cx="1709347" cy="0"/>
          </a:xfrm>
          <a:prstGeom prst="straightConnector1">
            <a:avLst/>
          </a:prstGeom>
          <a:noFill/>
          <a:ln cap="flat" cmpd="sng" w="28575">
            <a:solidFill>
              <a:srgbClr val="4D79C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01" name="Google Shape;801;p25"/>
          <p:cNvCxnSpPr/>
          <p:nvPr/>
        </p:nvCxnSpPr>
        <p:spPr>
          <a:xfrm rot="-620117">
            <a:off x="3838647" y="4233635"/>
            <a:ext cx="1711254" cy="0"/>
          </a:xfrm>
          <a:prstGeom prst="straightConnector1">
            <a:avLst/>
          </a:prstGeom>
          <a:noFill/>
          <a:ln cap="flat" cmpd="sng" w="28575">
            <a:solidFill>
              <a:srgbClr val="4D79C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02" name="Google Shape;802;p25"/>
          <p:cNvCxnSpPr/>
          <p:nvPr/>
        </p:nvCxnSpPr>
        <p:spPr>
          <a:xfrm rot="-761746">
            <a:off x="5502265" y="3776721"/>
            <a:ext cx="2761088" cy="0"/>
          </a:xfrm>
          <a:prstGeom prst="straightConnector1">
            <a:avLst/>
          </a:prstGeom>
          <a:noFill/>
          <a:ln cap="flat" cmpd="sng" w="28575">
            <a:solidFill>
              <a:srgbClr val="4D79C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03" name="Google Shape;803;p25"/>
          <p:cNvSpPr/>
          <p:nvPr/>
        </p:nvSpPr>
        <p:spPr>
          <a:xfrm>
            <a:off x="933450" y="4819650"/>
            <a:ext cx="114300" cy="114300"/>
          </a:xfrm>
          <a:prstGeom prst="ellipse">
            <a:avLst/>
          </a:prstGeom>
          <a:solidFill>
            <a:srgbClr val="4D79C7"/>
          </a:solidFill>
          <a:ln cap="flat" cmpd="sng" w="133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4" name="Google Shape;804;p25"/>
          <p:cNvSpPr/>
          <p:nvPr/>
        </p:nvSpPr>
        <p:spPr>
          <a:xfrm>
            <a:off x="2111892" y="4626190"/>
            <a:ext cx="114300" cy="114300"/>
          </a:xfrm>
          <a:prstGeom prst="ellipse">
            <a:avLst/>
          </a:prstGeom>
          <a:solidFill>
            <a:srgbClr val="4D79C7"/>
          </a:solidFill>
          <a:ln cap="flat" cmpd="sng" w="133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5" name="Google Shape;805;p25"/>
          <p:cNvSpPr/>
          <p:nvPr/>
        </p:nvSpPr>
        <p:spPr>
          <a:xfrm>
            <a:off x="3795380" y="4329992"/>
            <a:ext cx="114300" cy="114300"/>
          </a:xfrm>
          <a:prstGeom prst="ellipse">
            <a:avLst/>
          </a:prstGeom>
          <a:solidFill>
            <a:srgbClr val="4D79C7"/>
          </a:solidFill>
          <a:ln cap="flat" cmpd="sng" w="133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6" name="Google Shape;806;p25"/>
          <p:cNvSpPr/>
          <p:nvPr/>
        </p:nvSpPr>
        <p:spPr>
          <a:xfrm>
            <a:off x="5478869" y="4022979"/>
            <a:ext cx="114300" cy="114300"/>
          </a:xfrm>
          <a:prstGeom prst="ellipse">
            <a:avLst/>
          </a:prstGeom>
          <a:solidFill>
            <a:srgbClr val="4D79C7"/>
          </a:solidFill>
          <a:ln cap="flat" cmpd="sng" w="133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7" name="Google Shape;807;p25"/>
          <p:cNvSpPr/>
          <p:nvPr/>
        </p:nvSpPr>
        <p:spPr>
          <a:xfrm>
            <a:off x="8172450" y="3416163"/>
            <a:ext cx="114300" cy="114300"/>
          </a:xfrm>
          <a:prstGeom prst="ellipse">
            <a:avLst/>
          </a:prstGeom>
          <a:solidFill>
            <a:srgbClr val="4D79C7"/>
          </a:solidFill>
          <a:ln cap="flat" cmpd="sng" w="133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08" name="Google Shape;808;p25"/>
          <p:cNvCxnSpPr/>
          <p:nvPr/>
        </p:nvCxnSpPr>
        <p:spPr>
          <a:xfrm rot="-988385">
            <a:off x="965379" y="4702566"/>
            <a:ext cx="1228884" cy="0"/>
          </a:xfrm>
          <a:prstGeom prst="straightConnector1">
            <a:avLst/>
          </a:prstGeom>
          <a:noFill/>
          <a:ln cap="flat" cmpd="sng" w="47625">
            <a:solidFill>
              <a:srgbClr val="F4742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09" name="Google Shape;809;p25"/>
          <p:cNvCxnSpPr/>
          <p:nvPr/>
        </p:nvCxnSpPr>
        <p:spPr>
          <a:xfrm rot="-1359786">
            <a:off x="2098609" y="4176859"/>
            <a:ext cx="1824353" cy="0"/>
          </a:xfrm>
          <a:prstGeom prst="straightConnector1">
            <a:avLst/>
          </a:prstGeom>
          <a:noFill/>
          <a:ln cap="flat" cmpd="sng" w="47625">
            <a:solidFill>
              <a:srgbClr val="F4742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10" name="Google Shape;810;p25"/>
          <p:cNvCxnSpPr/>
          <p:nvPr/>
        </p:nvCxnSpPr>
        <p:spPr>
          <a:xfrm rot="-1391008">
            <a:off x="3778588" y="3464902"/>
            <a:ext cx="1831374" cy="0"/>
          </a:xfrm>
          <a:prstGeom prst="straightConnector1">
            <a:avLst/>
          </a:prstGeom>
          <a:noFill/>
          <a:ln cap="flat" cmpd="sng" w="47625">
            <a:solidFill>
              <a:srgbClr val="F4742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11" name="Google Shape;811;p25"/>
          <p:cNvCxnSpPr/>
          <p:nvPr/>
        </p:nvCxnSpPr>
        <p:spPr>
          <a:xfrm rot="-1391008">
            <a:off x="5417710" y="2527642"/>
            <a:ext cx="2930198" cy="0"/>
          </a:xfrm>
          <a:prstGeom prst="straightConnector1">
            <a:avLst/>
          </a:prstGeom>
          <a:noFill/>
          <a:ln cap="flat" cmpd="sng" w="47625">
            <a:solidFill>
              <a:srgbClr val="F4742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12" name="Google Shape;812;p25"/>
          <p:cNvSpPr/>
          <p:nvPr/>
        </p:nvSpPr>
        <p:spPr>
          <a:xfrm>
            <a:off x="933450" y="4819650"/>
            <a:ext cx="114300" cy="114300"/>
          </a:xfrm>
          <a:prstGeom prst="ellipse">
            <a:avLst/>
          </a:prstGeom>
          <a:solidFill>
            <a:srgbClr val="F47421"/>
          </a:solidFill>
          <a:ln cap="flat" cmpd="sng" w="133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3" name="Google Shape;813;p25"/>
          <p:cNvSpPr/>
          <p:nvPr/>
        </p:nvSpPr>
        <p:spPr>
          <a:xfrm>
            <a:off x="2111892" y="4471182"/>
            <a:ext cx="114300" cy="114300"/>
          </a:xfrm>
          <a:prstGeom prst="ellipse">
            <a:avLst/>
          </a:prstGeom>
          <a:solidFill>
            <a:srgbClr val="F47421"/>
          </a:solidFill>
          <a:ln cap="flat" cmpd="sng" w="133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4" name="Google Shape;814;p25"/>
          <p:cNvSpPr/>
          <p:nvPr/>
        </p:nvSpPr>
        <p:spPr>
          <a:xfrm>
            <a:off x="3795380" y="3768237"/>
            <a:ext cx="114300" cy="114300"/>
          </a:xfrm>
          <a:prstGeom prst="ellipse">
            <a:avLst/>
          </a:prstGeom>
          <a:solidFill>
            <a:srgbClr val="F47421"/>
          </a:solidFill>
          <a:ln cap="flat" cmpd="sng" w="133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5" name="Google Shape;815;p25"/>
          <p:cNvSpPr/>
          <p:nvPr/>
        </p:nvSpPr>
        <p:spPr>
          <a:xfrm>
            <a:off x="5478869" y="3047267"/>
            <a:ext cx="114300" cy="114300"/>
          </a:xfrm>
          <a:prstGeom prst="ellipse">
            <a:avLst/>
          </a:prstGeom>
          <a:solidFill>
            <a:srgbClr val="F47421"/>
          </a:solidFill>
          <a:ln cap="flat" cmpd="sng" w="133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6" name="Google Shape;816;p25"/>
          <p:cNvSpPr/>
          <p:nvPr/>
        </p:nvSpPr>
        <p:spPr>
          <a:xfrm>
            <a:off x="8172450" y="1893717"/>
            <a:ext cx="114300" cy="114300"/>
          </a:xfrm>
          <a:prstGeom prst="ellipse">
            <a:avLst/>
          </a:prstGeom>
          <a:solidFill>
            <a:srgbClr val="F47421"/>
          </a:solidFill>
          <a:ln cap="flat" cmpd="sng" w="133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7" name="Google Shape;817;p25"/>
          <p:cNvSpPr/>
          <p:nvPr/>
        </p:nvSpPr>
        <p:spPr>
          <a:xfrm>
            <a:off x="8686800" y="1752600"/>
            <a:ext cx="2819400" cy="3124200"/>
          </a:xfrm>
          <a:prstGeom prst="roundRect">
            <a:avLst>
              <a:gd fmla="val 5405" name="adj"/>
            </a:avLst>
          </a:prstGeom>
          <a:solidFill>
            <a:srgbClr val="FFFFFF"/>
          </a:solidFill>
          <a:ln cap="flat" cmpd="sng" w="9525">
            <a:solidFill>
              <a:srgbClr val="D9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8" name="Google Shape;818;p25"/>
          <p:cNvSpPr/>
          <p:nvPr/>
        </p:nvSpPr>
        <p:spPr>
          <a:xfrm>
            <a:off x="8953500" y="1981200"/>
            <a:ext cx="2286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55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152255"/>
                </a:solidFill>
                <a:latin typeface="Arial"/>
                <a:ea typeface="Arial"/>
                <a:cs typeface="Arial"/>
                <a:sym typeface="Arial"/>
              </a:rPr>
              <a:t>65歳までの累計</a:t>
            </a:r>
            <a:endParaRPr/>
          </a:p>
        </p:txBody>
      </p:sp>
      <p:sp>
        <p:nvSpPr>
          <p:cNvPr id="819" name="Google Shape;819;p25"/>
          <p:cNvSpPr/>
          <p:nvPr/>
        </p:nvSpPr>
        <p:spPr>
          <a:xfrm>
            <a:off x="8953500" y="2495550"/>
            <a:ext cx="133350" cy="133350"/>
          </a:xfrm>
          <a:prstGeom prst="ellipse">
            <a:avLst/>
          </a:prstGeom>
          <a:solidFill>
            <a:srgbClr val="F474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0" name="Google Shape;820;p25"/>
          <p:cNvSpPr/>
          <p:nvPr/>
        </p:nvSpPr>
        <p:spPr>
          <a:xfrm>
            <a:off x="9201150" y="2419350"/>
            <a:ext cx="2019300" cy="23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4054"/>
              </a:buClr>
              <a:buSzPts val="1125"/>
              <a:buFont typeface="Arial"/>
              <a:buNone/>
            </a:pPr>
            <a:r>
              <a:rPr b="1" lang="en-US" sz="1125">
                <a:solidFill>
                  <a:srgbClr val="344054"/>
                </a:solidFill>
                <a:latin typeface="Arial"/>
                <a:ea typeface="Arial"/>
                <a:cs typeface="Arial"/>
                <a:sym typeface="Arial"/>
              </a:rPr>
              <a:t>TBH 標準昇格モデル</a:t>
            </a:r>
            <a:endParaRPr/>
          </a:p>
        </p:txBody>
      </p:sp>
      <p:sp>
        <p:nvSpPr>
          <p:cNvPr id="821" name="Google Shape;821;p25"/>
          <p:cNvSpPr/>
          <p:nvPr/>
        </p:nvSpPr>
        <p:spPr>
          <a:xfrm>
            <a:off x="9201150" y="2686050"/>
            <a:ext cx="20193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7421"/>
              </a:buClr>
              <a:buSzPts val="1875"/>
              <a:buFont typeface="Arial"/>
              <a:buNone/>
            </a:pPr>
            <a:r>
              <a:rPr b="1" lang="en-US" sz="1875">
                <a:solidFill>
                  <a:srgbClr val="F47421"/>
                </a:solidFill>
                <a:latin typeface="Arial"/>
                <a:ea typeface="Arial"/>
                <a:cs typeface="Arial"/>
                <a:sym typeface="Arial"/>
              </a:rPr>
              <a:t>4.87億</a:t>
            </a:r>
            <a:endParaRPr/>
          </a:p>
        </p:txBody>
      </p:sp>
      <p:sp>
        <p:nvSpPr>
          <p:cNvPr id="822" name="Google Shape;822;p25"/>
          <p:cNvSpPr/>
          <p:nvPr/>
        </p:nvSpPr>
        <p:spPr>
          <a:xfrm>
            <a:off x="8953500" y="3238500"/>
            <a:ext cx="133350" cy="133350"/>
          </a:xfrm>
          <a:prstGeom prst="ellipse">
            <a:avLst/>
          </a:prstGeom>
          <a:solidFill>
            <a:srgbClr val="4D79C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3" name="Google Shape;823;p25"/>
          <p:cNvSpPr/>
          <p:nvPr/>
        </p:nvSpPr>
        <p:spPr>
          <a:xfrm>
            <a:off x="9201150" y="3162300"/>
            <a:ext cx="2019300" cy="23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4054"/>
              </a:buClr>
              <a:buSzPts val="1125"/>
              <a:buFont typeface="Arial"/>
              <a:buNone/>
            </a:pPr>
            <a:r>
              <a:rPr b="1" lang="en-US" sz="1125">
                <a:solidFill>
                  <a:srgbClr val="344054"/>
                </a:solidFill>
                <a:latin typeface="Arial"/>
                <a:ea typeface="Arial"/>
                <a:cs typeface="Arial"/>
                <a:sym typeface="Arial"/>
              </a:rPr>
              <a:t>住宅（ハウスメーカー）</a:t>
            </a:r>
            <a:endParaRPr/>
          </a:p>
        </p:txBody>
      </p:sp>
      <p:sp>
        <p:nvSpPr>
          <p:cNvPr id="824" name="Google Shape;824;p25"/>
          <p:cNvSpPr/>
          <p:nvPr/>
        </p:nvSpPr>
        <p:spPr>
          <a:xfrm>
            <a:off x="9201150" y="3429000"/>
            <a:ext cx="20193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79C7"/>
              </a:buClr>
              <a:buSzPts val="1875"/>
              <a:buFont typeface="Arial"/>
              <a:buNone/>
            </a:pPr>
            <a:r>
              <a:rPr b="1" lang="en-US" sz="1875">
                <a:solidFill>
                  <a:srgbClr val="4D79C7"/>
                </a:solidFill>
                <a:latin typeface="Arial"/>
                <a:ea typeface="Arial"/>
                <a:cs typeface="Arial"/>
                <a:sym typeface="Arial"/>
              </a:rPr>
              <a:t>2.34億</a:t>
            </a:r>
            <a:endParaRPr/>
          </a:p>
        </p:txBody>
      </p:sp>
      <p:sp>
        <p:nvSpPr>
          <p:cNvPr id="825" name="Google Shape;825;p25"/>
          <p:cNvSpPr/>
          <p:nvPr/>
        </p:nvSpPr>
        <p:spPr>
          <a:xfrm>
            <a:off x="8953500" y="3981450"/>
            <a:ext cx="133350" cy="133350"/>
          </a:xfrm>
          <a:prstGeom prst="ellipse">
            <a:avLst/>
          </a:prstGeom>
          <a:solidFill>
            <a:srgbClr val="66708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6" name="Google Shape;826;p25"/>
          <p:cNvSpPr/>
          <p:nvPr/>
        </p:nvSpPr>
        <p:spPr>
          <a:xfrm>
            <a:off x="9201150" y="3905250"/>
            <a:ext cx="2019300" cy="23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4054"/>
              </a:buClr>
              <a:buSzPts val="1125"/>
              <a:buFont typeface="Arial"/>
              <a:buNone/>
            </a:pPr>
            <a:r>
              <a:rPr b="1" lang="en-US" sz="1125">
                <a:solidFill>
                  <a:srgbClr val="344054"/>
                </a:solidFill>
                <a:latin typeface="Arial"/>
                <a:ea typeface="Arial"/>
                <a:cs typeface="Arial"/>
                <a:sym typeface="Arial"/>
              </a:rPr>
              <a:t>人材サービス</a:t>
            </a:r>
            <a:endParaRPr/>
          </a:p>
        </p:txBody>
      </p:sp>
      <p:sp>
        <p:nvSpPr>
          <p:cNvPr id="827" name="Google Shape;827;p25"/>
          <p:cNvSpPr/>
          <p:nvPr/>
        </p:nvSpPr>
        <p:spPr>
          <a:xfrm>
            <a:off x="9201150" y="4171950"/>
            <a:ext cx="20193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875"/>
              <a:buFont typeface="Arial"/>
              <a:buNone/>
            </a:pPr>
            <a:r>
              <a:rPr b="1" lang="en-US" sz="1875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1.84億</a:t>
            </a:r>
            <a:endParaRPr/>
          </a:p>
        </p:txBody>
      </p:sp>
      <p:sp>
        <p:nvSpPr>
          <p:cNvPr id="828" name="Google Shape;828;p25"/>
          <p:cNvSpPr/>
          <p:nvPr/>
        </p:nvSpPr>
        <p:spPr>
          <a:xfrm>
            <a:off x="8915400" y="4629150"/>
            <a:ext cx="23622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675"/>
              <a:buFont typeface="Arial"/>
              <a:buNone/>
            </a:pPr>
            <a:r>
              <a:rPr b="0" lang="en-US" sz="675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TBH：1年目営業→2年目リーダー→5年目課長→10年目部長。各役職レンジ下限で試算。</a:t>
            </a:r>
            <a:endParaRPr/>
          </a:p>
        </p:txBody>
      </p:sp>
      <p:sp>
        <p:nvSpPr>
          <p:cNvPr id="829" name="Google Shape;829;p25"/>
          <p:cNvSpPr/>
          <p:nvPr/>
        </p:nvSpPr>
        <p:spPr>
          <a:xfrm>
            <a:off x="990600" y="5372100"/>
            <a:ext cx="10515600" cy="476250"/>
          </a:xfrm>
          <a:prstGeom prst="roundRect">
            <a:avLst>
              <a:gd fmla="val 20000" name="adj"/>
            </a:avLst>
          </a:prstGeom>
          <a:solidFill>
            <a:srgbClr val="FFF0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0" name="Google Shape;830;p25"/>
          <p:cNvSpPr/>
          <p:nvPr/>
        </p:nvSpPr>
        <p:spPr>
          <a:xfrm>
            <a:off x="1200150" y="5467350"/>
            <a:ext cx="10096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55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152255"/>
                </a:solidFill>
                <a:latin typeface="Arial"/>
                <a:ea typeface="Arial"/>
                <a:cs typeface="Arial"/>
                <a:sym typeface="Arial"/>
              </a:rPr>
              <a:t>初任給より、どの業界で・どの速度で役割を上げるかが効く。</a:t>
            </a:r>
            <a:endParaRPr/>
          </a:p>
        </p:txBody>
      </p:sp>
      <p:sp>
        <p:nvSpPr>
          <p:cNvPr id="831" name="Google Shape;831;p25"/>
          <p:cNvSpPr/>
          <p:nvPr/>
        </p:nvSpPr>
        <p:spPr>
          <a:xfrm>
            <a:off x="533400" y="6019800"/>
            <a:ext cx="11125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750"/>
              <a:buFont typeface="Arial"/>
              <a:buNone/>
            </a:pPr>
            <a:r>
              <a:rPr b="0" lang="en-US" sz="750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出典：doda「業種別の平均年収／生涯賃金」2025｜TBHは社内役職テーブルによる試算（昇格・年収を保証しません）</a:t>
            </a:r>
            <a:endParaRPr/>
          </a:p>
        </p:txBody>
      </p:sp>
      <p:pic>
        <p:nvPicPr>
          <p:cNvPr id="832" name="Google Shape;832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11399" y="119051"/>
            <a:ext cx="2095500" cy="4450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73F"/>
        </a:solidFill>
      </p:bgPr>
    </p:bg>
    <p:spTree>
      <p:nvGrpSpPr>
        <p:cNvPr id="837" name="Shape 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8" name="Google Shape;838;p26"/>
          <p:cNvSpPr/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F474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9" name="Google Shape;839;p26"/>
          <p:cNvSpPr/>
          <p:nvPr/>
        </p:nvSpPr>
        <p:spPr>
          <a:xfrm>
            <a:off x="685800" y="704850"/>
            <a:ext cx="23812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7421"/>
              </a:buClr>
              <a:buSzPts val="1650"/>
              <a:buFont typeface="Arial"/>
              <a:buNone/>
            </a:pPr>
            <a:r>
              <a:rPr b="1" lang="en-US" sz="1650">
                <a:solidFill>
                  <a:srgbClr val="F47421"/>
                </a:solidFill>
                <a:latin typeface="Arial"/>
                <a:ea typeface="Arial"/>
                <a:cs typeface="Arial"/>
                <a:sym typeface="Arial"/>
              </a:rPr>
              <a:t>2035</a:t>
            </a:r>
            <a:endParaRPr/>
          </a:p>
        </p:txBody>
      </p:sp>
      <p:sp>
        <p:nvSpPr>
          <p:cNvPr id="840" name="Google Shape;840;p26"/>
          <p:cNvSpPr/>
          <p:nvPr/>
        </p:nvSpPr>
        <p:spPr>
          <a:xfrm>
            <a:off x="685800" y="1600200"/>
            <a:ext cx="99060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350"/>
              <a:buFont typeface="Arial"/>
              <a:buNone/>
            </a:pPr>
            <a:r>
              <a:rPr b="1" lang="en-US" sz="4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2035年、あなたは</a:t>
            </a:r>
            <a:endParaRPr/>
          </a:p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350"/>
              <a:buFont typeface="Arial"/>
              <a:buNone/>
            </a:pPr>
            <a:r>
              <a:rPr b="1" lang="en-US" sz="4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どの席に座っていますか？</a:t>
            </a:r>
            <a:endParaRPr/>
          </a:p>
        </p:txBody>
      </p:sp>
      <p:sp>
        <p:nvSpPr>
          <p:cNvPr id="841" name="Google Shape;841;p26"/>
          <p:cNvSpPr/>
          <p:nvPr/>
        </p:nvSpPr>
        <p:spPr>
          <a:xfrm>
            <a:off x="685800" y="3752850"/>
            <a:ext cx="1409700" cy="66675"/>
          </a:xfrm>
          <a:prstGeom prst="roundRect">
            <a:avLst>
              <a:gd fmla="val 42857" name="adj"/>
            </a:avLst>
          </a:prstGeom>
          <a:solidFill>
            <a:srgbClr val="F474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2" name="Google Shape;842;p26"/>
          <p:cNvSpPr/>
          <p:nvPr/>
        </p:nvSpPr>
        <p:spPr>
          <a:xfrm>
            <a:off x="685800" y="4171950"/>
            <a:ext cx="8382000" cy="8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DCE1F0"/>
              </a:buClr>
              <a:buSzPts val="1875"/>
              <a:buFont typeface="Arial"/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DCE1F0"/>
              </a:buClr>
              <a:buSzPts val="1875"/>
              <a:buFont typeface="Arial"/>
              <a:buNone/>
            </a:pPr>
            <a:r>
              <a:rPr b="0" lang="en-US" sz="1875">
                <a:solidFill>
                  <a:srgbClr val="DCE1F0"/>
                </a:solidFill>
                <a:latin typeface="Arial"/>
                <a:ea typeface="Arial"/>
                <a:cs typeface="Arial"/>
                <a:sym typeface="Arial"/>
              </a:rPr>
              <a:t>入社前の質問は、いつでも私に直接どうぞ。</a:t>
            </a:r>
            <a:endParaRPr/>
          </a:p>
        </p:txBody>
      </p:sp>
      <p:sp>
        <p:nvSpPr>
          <p:cNvPr id="843" name="Google Shape;843;p26"/>
          <p:cNvSpPr/>
          <p:nvPr/>
        </p:nvSpPr>
        <p:spPr>
          <a:xfrm>
            <a:off x="685800" y="5429250"/>
            <a:ext cx="34290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—— 人事部長 宮本</a:t>
            </a:r>
            <a:endParaRPr/>
          </a:p>
        </p:txBody>
      </p:sp>
      <p:sp>
        <p:nvSpPr>
          <p:cNvPr id="844" name="Google Shape;844;p26"/>
          <p:cNvSpPr/>
          <p:nvPr/>
        </p:nvSpPr>
        <p:spPr>
          <a:xfrm>
            <a:off x="9239250" y="5295900"/>
            <a:ext cx="22860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8C0DB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B8C0DB"/>
                </a:solidFill>
                <a:latin typeface="Arial"/>
                <a:ea typeface="Arial"/>
                <a:cs typeface="Arial"/>
                <a:sym typeface="Arial"/>
              </a:rPr>
              <a:t>FINAL QUESTION</a:t>
            </a:r>
            <a:endParaRPr/>
          </a:p>
        </p:txBody>
      </p:sp>
      <p:cxnSp>
        <p:nvCxnSpPr>
          <p:cNvPr id="845" name="Google Shape;845;p26"/>
          <p:cNvCxnSpPr/>
          <p:nvPr/>
        </p:nvCxnSpPr>
        <p:spPr>
          <a:xfrm>
            <a:off x="685800" y="6181725"/>
            <a:ext cx="10839450" cy="0"/>
          </a:xfrm>
          <a:prstGeom prst="straightConnector1">
            <a:avLst/>
          </a:prstGeom>
          <a:noFill/>
          <a:ln cap="flat" cmpd="sng" w="9525">
            <a:solidFill>
              <a:srgbClr val="42507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46" name="Google Shape;846;p26"/>
          <p:cNvSpPr/>
          <p:nvPr/>
        </p:nvSpPr>
        <p:spPr>
          <a:xfrm>
            <a:off x="685800" y="6362700"/>
            <a:ext cx="85725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8C0DB"/>
              </a:buClr>
              <a:buSzPts val="825"/>
              <a:buFont typeface="Arial"/>
              <a:buNone/>
            </a:pPr>
            <a:r>
              <a:rPr b="0" lang="en-US" sz="825">
                <a:solidFill>
                  <a:srgbClr val="B8C0DB"/>
                </a:solidFill>
                <a:latin typeface="Arial"/>
                <a:ea typeface="Arial"/>
                <a:cs typeface="Arial"/>
                <a:sym typeface="Arial"/>
              </a:rPr>
              <a:t>TOKYO BIG HOUSE 最終面接資料｜社外秘・面接時のみ提示</a:t>
            </a:r>
            <a:endParaRPr/>
          </a:p>
        </p:txBody>
      </p:sp>
      <p:sp>
        <p:nvSpPr>
          <p:cNvPr id="847" name="Google Shape;847;p26"/>
          <p:cNvSpPr/>
          <p:nvPr/>
        </p:nvSpPr>
        <p:spPr>
          <a:xfrm>
            <a:off x="10934700" y="6334125"/>
            <a:ext cx="5905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75"/>
              <a:buFont typeface="Arial"/>
              <a:buNone/>
            </a:pPr>
            <a:r>
              <a:rPr b="1" lang="en-US" sz="97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28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F0"/>
        </a:solidFill>
      </p:bgPr>
    </p:bg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p20"/>
          <p:cNvSpPr/>
          <p:nvPr/>
        </p:nvSpPr>
        <p:spPr>
          <a:xfrm>
            <a:off x="533400" y="276225"/>
            <a:ext cx="76200" cy="238125"/>
          </a:xfrm>
          <a:prstGeom prst="roundRect">
            <a:avLst>
              <a:gd fmla="val 50000" name="adj"/>
            </a:avLst>
          </a:prstGeom>
          <a:solidFill>
            <a:srgbClr val="F474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2" name="Google Shape;622;p20"/>
          <p:cNvSpPr/>
          <p:nvPr/>
        </p:nvSpPr>
        <p:spPr>
          <a:xfrm>
            <a:off x="742950" y="2667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125"/>
              <a:buFont typeface="Arial"/>
              <a:buNone/>
            </a:pPr>
            <a:r>
              <a:rPr b="1" lang="en-US" sz="1125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11｜AI時代の営業</a:t>
            </a:r>
            <a:endParaRPr/>
          </a:p>
        </p:txBody>
      </p:sp>
      <p:sp>
        <p:nvSpPr>
          <p:cNvPr id="623" name="Google Shape;623;p20"/>
          <p:cNvSpPr/>
          <p:nvPr/>
        </p:nvSpPr>
        <p:spPr>
          <a:xfrm>
            <a:off x="533400" y="723900"/>
            <a:ext cx="106680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55"/>
              </a:buClr>
              <a:buSzPts val="3000"/>
              <a:buFont typeface="Arial"/>
              <a:buNone/>
            </a:pPr>
            <a:r>
              <a:rPr b="1" lang="en-US" sz="3000">
                <a:solidFill>
                  <a:srgbClr val="152255"/>
                </a:solidFill>
                <a:latin typeface="Arial"/>
                <a:ea typeface="Arial"/>
                <a:cs typeface="Arial"/>
                <a:sym typeface="Arial"/>
              </a:rPr>
              <a:t>AIの“作り手”自身が、こう警告している</a:t>
            </a:r>
            <a:endParaRPr/>
          </a:p>
        </p:txBody>
      </p:sp>
      <p:cxnSp>
        <p:nvCxnSpPr>
          <p:cNvPr id="624" name="Google Shape;624;p20"/>
          <p:cNvCxnSpPr/>
          <p:nvPr/>
        </p:nvCxnSpPr>
        <p:spPr>
          <a:xfrm>
            <a:off x="533400" y="6315075"/>
            <a:ext cx="11125200" cy="0"/>
          </a:xfrm>
          <a:prstGeom prst="straightConnector1">
            <a:avLst/>
          </a:prstGeom>
          <a:noFill/>
          <a:ln cap="flat" cmpd="sng" w="9525">
            <a:solidFill>
              <a:srgbClr val="D9DE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5" name="Google Shape;625;p20"/>
          <p:cNvSpPr/>
          <p:nvPr/>
        </p:nvSpPr>
        <p:spPr>
          <a:xfrm>
            <a:off x="533400" y="6448425"/>
            <a:ext cx="88582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825"/>
              <a:buFont typeface="Arial"/>
              <a:buNone/>
            </a:pPr>
            <a:r>
              <a:rPr b="0" lang="en-US" sz="825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TOKYO BIG HOUSE 最終面接資料｜社外秘・面接時のみ提示</a:t>
            </a:r>
            <a:endParaRPr/>
          </a:p>
        </p:txBody>
      </p:sp>
      <p:sp>
        <p:nvSpPr>
          <p:cNvPr id="626" name="Google Shape;626;p20"/>
          <p:cNvSpPr/>
          <p:nvPr/>
        </p:nvSpPr>
        <p:spPr>
          <a:xfrm>
            <a:off x="10744200" y="6419850"/>
            <a:ext cx="9144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55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152255"/>
                </a:solidFill>
                <a:latin typeface="Arial"/>
                <a:ea typeface="Arial"/>
                <a:cs typeface="Arial"/>
                <a:sym typeface="Arial"/>
              </a:rPr>
              <a:t>P.21</a:t>
            </a:r>
            <a:endParaRPr/>
          </a:p>
        </p:txBody>
      </p:sp>
      <p:sp>
        <p:nvSpPr>
          <p:cNvPr id="627" name="Google Shape;627;p20"/>
          <p:cNvSpPr/>
          <p:nvPr/>
        </p:nvSpPr>
        <p:spPr>
          <a:xfrm>
            <a:off x="533400" y="1390650"/>
            <a:ext cx="6667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Anthropic（Claude開発元）CEO ダリオ・アモデイ｜2025年</a:t>
            </a:r>
            <a:endParaRPr/>
          </a:p>
        </p:txBody>
      </p:sp>
      <p:sp>
        <p:nvSpPr>
          <p:cNvPr id="628" name="Google Shape;628;p20"/>
          <p:cNvSpPr/>
          <p:nvPr/>
        </p:nvSpPr>
        <p:spPr>
          <a:xfrm>
            <a:off x="971550" y="2019300"/>
            <a:ext cx="4095750" cy="146685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7421"/>
              </a:buClr>
              <a:buSzPts val="8250"/>
              <a:buFont typeface="Arial"/>
              <a:buNone/>
            </a:pPr>
            <a:r>
              <a:rPr b="1" lang="en-US" sz="8250">
                <a:solidFill>
                  <a:srgbClr val="F47421"/>
                </a:solidFill>
                <a:latin typeface="Arial"/>
                <a:ea typeface="Arial"/>
                <a:cs typeface="Arial"/>
                <a:sym typeface="Arial"/>
              </a:rPr>
              <a:t>半分</a:t>
            </a:r>
            <a:endParaRPr/>
          </a:p>
        </p:txBody>
      </p:sp>
      <p:sp>
        <p:nvSpPr>
          <p:cNvPr id="629" name="Google Shape;629;p20"/>
          <p:cNvSpPr/>
          <p:nvPr/>
        </p:nvSpPr>
        <p:spPr>
          <a:xfrm>
            <a:off x="5067300" y="2914650"/>
            <a:ext cx="6667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55"/>
              </a:buClr>
              <a:buSzPts val="3150"/>
              <a:buFont typeface="Arial"/>
              <a:buNone/>
            </a:pPr>
            <a:r>
              <a:rPr b="1" lang="en-US" sz="3150">
                <a:solidFill>
                  <a:srgbClr val="152255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endParaRPr/>
          </a:p>
        </p:txBody>
      </p:sp>
      <p:sp>
        <p:nvSpPr>
          <p:cNvPr id="630" name="Google Shape;630;p20"/>
          <p:cNvSpPr/>
          <p:nvPr/>
        </p:nvSpPr>
        <p:spPr>
          <a:xfrm>
            <a:off x="876300" y="3695700"/>
            <a:ext cx="52006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55"/>
              </a:buClr>
              <a:buSzPts val="1650"/>
              <a:buFont typeface="Arial"/>
              <a:buNone/>
            </a:pPr>
            <a:r>
              <a:rPr b="1" lang="en-US" sz="1650">
                <a:solidFill>
                  <a:srgbClr val="152255"/>
                </a:solidFill>
                <a:latin typeface="Arial"/>
                <a:ea typeface="Arial"/>
                <a:cs typeface="Arial"/>
                <a:sym typeface="Arial"/>
              </a:rPr>
              <a:t>エントリーレベルのホワイトカラー職が</a:t>
            </a:r>
            <a:endParaRPr/>
          </a:p>
        </p:txBody>
      </p:sp>
      <p:sp>
        <p:nvSpPr>
          <p:cNvPr id="631" name="Google Shape;631;p20"/>
          <p:cNvSpPr/>
          <p:nvPr/>
        </p:nvSpPr>
        <p:spPr>
          <a:xfrm>
            <a:off x="876300" y="4143375"/>
            <a:ext cx="52006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275"/>
              <a:buFont typeface="Arial"/>
              <a:buNone/>
            </a:pPr>
            <a:r>
              <a:rPr b="0" lang="en-US" sz="1275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今後1〜5年で“消え得る”という警告</a:t>
            </a:r>
            <a:endParaRPr/>
          </a:p>
        </p:txBody>
      </p:sp>
      <p:cxnSp>
        <p:nvCxnSpPr>
          <p:cNvPr id="632" name="Google Shape;632;p20"/>
          <p:cNvCxnSpPr/>
          <p:nvPr/>
        </p:nvCxnSpPr>
        <p:spPr>
          <a:xfrm>
            <a:off x="6362700" y="1866900"/>
            <a:ext cx="0" cy="2819400"/>
          </a:xfrm>
          <a:prstGeom prst="straightConnector1">
            <a:avLst/>
          </a:prstGeom>
          <a:noFill/>
          <a:ln cap="flat" cmpd="sng" w="19050">
            <a:solidFill>
              <a:srgbClr val="D9DE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33" name="Google Shape;633;p20"/>
          <p:cNvSpPr/>
          <p:nvPr/>
        </p:nvSpPr>
        <p:spPr>
          <a:xfrm>
            <a:off x="7067550" y="2095500"/>
            <a:ext cx="34290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4054"/>
              </a:buClr>
              <a:buSzPts val="1650"/>
              <a:buFont typeface="Arial"/>
              <a:buNone/>
            </a:pPr>
            <a:r>
              <a:rPr b="1" lang="en-US" sz="1650">
                <a:solidFill>
                  <a:srgbClr val="344054"/>
                </a:solidFill>
                <a:latin typeface="Arial"/>
                <a:ea typeface="Arial"/>
                <a:cs typeface="Arial"/>
                <a:sym typeface="Arial"/>
              </a:rPr>
              <a:t>そうなれば</a:t>
            </a:r>
            <a:endParaRPr/>
          </a:p>
        </p:txBody>
      </p:sp>
      <p:sp>
        <p:nvSpPr>
          <p:cNvPr id="634" name="Google Shape;634;p20"/>
          <p:cNvSpPr/>
          <p:nvPr/>
        </p:nvSpPr>
        <p:spPr>
          <a:xfrm>
            <a:off x="6781800" y="2647950"/>
            <a:ext cx="400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55"/>
              </a:buClr>
              <a:buSzPts val="3750"/>
              <a:buFont typeface="Arial"/>
              <a:buNone/>
            </a:pPr>
            <a:r>
              <a:rPr b="1" lang="en-US" sz="3750">
                <a:solidFill>
                  <a:srgbClr val="152255"/>
                </a:solidFill>
                <a:latin typeface="Arial"/>
                <a:ea typeface="Arial"/>
                <a:cs typeface="Arial"/>
                <a:sym typeface="Arial"/>
              </a:rPr>
              <a:t>失業率10〜20%</a:t>
            </a:r>
            <a:endParaRPr/>
          </a:p>
        </p:txBody>
      </p:sp>
      <p:sp>
        <p:nvSpPr>
          <p:cNvPr id="635" name="Google Shape;635;p20"/>
          <p:cNvSpPr/>
          <p:nvPr/>
        </p:nvSpPr>
        <p:spPr>
          <a:xfrm>
            <a:off x="7067550" y="3714750"/>
            <a:ext cx="3429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425"/>
              <a:buFont typeface="Arial"/>
              <a:buNone/>
            </a:pPr>
            <a:r>
              <a:rPr b="0" lang="en-US" sz="1425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に上がり得る、と</a:t>
            </a:r>
            <a:endParaRPr/>
          </a:p>
        </p:txBody>
      </p:sp>
      <p:sp>
        <p:nvSpPr>
          <p:cNvPr id="636" name="Google Shape;636;p20"/>
          <p:cNvSpPr/>
          <p:nvPr/>
        </p:nvSpPr>
        <p:spPr>
          <a:xfrm>
            <a:off x="685800" y="4953000"/>
            <a:ext cx="10629900" cy="723900"/>
          </a:xfrm>
          <a:prstGeom prst="roundRect">
            <a:avLst>
              <a:gd fmla="val 18421" name="adj"/>
            </a:avLst>
          </a:prstGeom>
          <a:solidFill>
            <a:srgbClr val="1522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7" name="Google Shape;637;p20"/>
          <p:cNvSpPr/>
          <p:nvPr/>
        </p:nvSpPr>
        <p:spPr>
          <a:xfrm>
            <a:off x="990600" y="5086350"/>
            <a:ext cx="10020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IMFも先進国の雇用の約60%が“AIの影響下”と推計。</a:t>
            </a:r>
            <a:r>
              <a:rPr b="1" lang="en-US" sz="1800">
                <a:solidFill>
                  <a:srgbClr val="FFFFFF"/>
                </a:solidFill>
              </a:rPr>
              <a:t>仕事選びの重みが増している。</a:t>
            </a:r>
            <a:endParaRPr/>
          </a:p>
        </p:txBody>
      </p:sp>
      <p:sp>
        <p:nvSpPr>
          <p:cNvPr id="638" name="Google Shape;638;p20"/>
          <p:cNvSpPr/>
          <p:nvPr/>
        </p:nvSpPr>
        <p:spPr>
          <a:xfrm>
            <a:off x="533400" y="6019800"/>
            <a:ext cx="11125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750"/>
              <a:buFont typeface="Arial"/>
              <a:buNone/>
            </a:pPr>
            <a:r>
              <a:rPr b="0" lang="en-US" sz="750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出典：Axios（2025年5月・Anthropic CEOインタビュー）／IMF Staff Discussion Note 2024。“〜し得る（could）”の予測であり確定ではありません</a:t>
            </a:r>
            <a:endParaRPr/>
          </a:p>
        </p:txBody>
      </p:sp>
      <p:pic>
        <p:nvPicPr>
          <p:cNvPr id="639" name="Google Shape;63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11399" y="119051"/>
            <a:ext cx="2095500" cy="4450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F0"/>
        </a:solidFill>
      </p:bgPr>
    </p:bg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18"/>
          <p:cNvSpPr/>
          <p:nvPr/>
        </p:nvSpPr>
        <p:spPr>
          <a:xfrm>
            <a:off x="533400" y="276225"/>
            <a:ext cx="76200" cy="238125"/>
          </a:xfrm>
          <a:prstGeom prst="roundRect">
            <a:avLst>
              <a:gd fmla="val 50000" name="adj"/>
            </a:avLst>
          </a:prstGeom>
          <a:solidFill>
            <a:srgbClr val="F474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18"/>
          <p:cNvSpPr/>
          <p:nvPr/>
        </p:nvSpPr>
        <p:spPr>
          <a:xfrm>
            <a:off x="742950" y="2667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125"/>
              <a:buFont typeface="Arial"/>
              <a:buNone/>
            </a:pPr>
            <a:r>
              <a:rPr b="1" lang="en-US" sz="1125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11｜AI時代の営業</a:t>
            </a:r>
            <a:endParaRPr/>
          </a:p>
        </p:txBody>
      </p:sp>
      <p:sp>
        <p:nvSpPr>
          <p:cNvPr id="568" name="Google Shape;568;p18"/>
          <p:cNvSpPr/>
          <p:nvPr/>
        </p:nvSpPr>
        <p:spPr>
          <a:xfrm>
            <a:off x="533400" y="723900"/>
            <a:ext cx="106680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55"/>
              </a:buClr>
              <a:buSzPts val="3000"/>
              <a:buFont typeface="Arial"/>
              <a:buNone/>
            </a:pPr>
            <a:r>
              <a:rPr b="1" lang="en-US" sz="3000">
                <a:solidFill>
                  <a:srgbClr val="152255"/>
                </a:solidFill>
                <a:latin typeface="Arial"/>
                <a:ea typeface="Arial"/>
                <a:cs typeface="Arial"/>
                <a:sym typeface="Arial"/>
              </a:rPr>
              <a:t>米国では、若手の仕事から減り始めた</a:t>
            </a:r>
            <a:endParaRPr/>
          </a:p>
        </p:txBody>
      </p:sp>
      <p:cxnSp>
        <p:nvCxnSpPr>
          <p:cNvPr id="569" name="Google Shape;569;p18"/>
          <p:cNvCxnSpPr/>
          <p:nvPr/>
        </p:nvCxnSpPr>
        <p:spPr>
          <a:xfrm>
            <a:off x="533400" y="6315075"/>
            <a:ext cx="11125200" cy="0"/>
          </a:xfrm>
          <a:prstGeom prst="straightConnector1">
            <a:avLst/>
          </a:prstGeom>
          <a:noFill/>
          <a:ln cap="flat" cmpd="sng" w="9525">
            <a:solidFill>
              <a:srgbClr val="D9DE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70" name="Google Shape;570;p18"/>
          <p:cNvSpPr/>
          <p:nvPr/>
        </p:nvSpPr>
        <p:spPr>
          <a:xfrm>
            <a:off x="533400" y="6448425"/>
            <a:ext cx="88582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825"/>
              <a:buFont typeface="Arial"/>
              <a:buNone/>
            </a:pPr>
            <a:r>
              <a:rPr b="0" lang="en-US" sz="825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TOKYO BIG HOUSE 最終面接資料｜社外秘・面接時のみ提示</a:t>
            </a:r>
            <a:endParaRPr/>
          </a:p>
        </p:txBody>
      </p:sp>
      <p:sp>
        <p:nvSpPr>
          <p:cNvPr id="571" name="Google Shape;571;p18"/>
          <p:cNvSpPr/>
          <p:nvPr/>
        </p:nvSpPr>
        <p:spPr>
          <a:xfrm>
            <a:off x="10744200" y="6419850"/>
            <a:ext cx="9144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55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152255"/>
                </a:solidFill>
                <a:latin typeface="Arial"/>
                <a:ea typeface="Arial"/>
                <a:cs typeface="Arial"/>
                <a:sym typeface="Arial"/>
              </a:rPr>
              <a:t>P.22</a:t>
            </a:r>
            <a:endParaRPr/>
          </a:p>
        </p:txBody>
      </p:sp>
      <p:sp>
        <p:nvSpPr>
          <p:cNvPr id="572" name="Google Shape;572;p18"/>
          <p:cNvSpPr/>
          <p:nvPr/>
        </p:nvSpPr>
        <p:spPr>
          <a:xfrm>
            <a:off x="533400" y="1390650"/>
            <a:ext cx="6858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実測データ｜“予測”ではなく、すでに起きていること</a:t>
            </a:r>
            <a:endParaRPr/>
          </a:p>
        </p:txBody>
      </p:sp>
      <p:sp>
        <p:nvSpPr>
          <p:cNvPr id="573" name="Google Shape;573;p18"/>
          <p:cNvSpPr/>
          <p:nvPr/>
        </p:nvSpPr>
        <p:spPr>
          <a:xfrm>
            <a:off x="685800" y="2076450"/>
            <a:ext cx="2857500" cy="70485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7421"/>
              </a:buClr>
              <a:buSzPts val="4350"/>
              <a:buFont typeface="Arial"/>
              <a:buNone/>
            </a:pPr>
            <a:r>
              <a:rPr b="1" lang="en-US" sz="4350">
                <a:solidFill>
                  <a:srgbClr val="F47421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/>
          </a:p>
        </p:txBody>
      </p:sp>
      <p:sp>
        <p:nvSpPr>
          <p:cNvPr id="574" name="Google Shape;574;p18"/>
          <p:cNvSpPr/>
          <p:nvPr/>
        </p:nvSpPr>
        <p:spPr>
          <a:xfrm>
            <a:off x="2495550" y="2390775"/>
            <a:ext cx="6667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55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152255"/>
                </a:solidFill>
                <a:latin typeface="Arial"/>
                <a:ea typeface="Arial"/>
                <a:cs typeface="Arial"/>
                <a:sym typeface="Arial"/>
              </a:rPr>
              <a:t>%</a:t>
            </a:r>
            <a:endParaRPr/>
          </a:p>
        </p:txBody>
      </p:sp>
      <p:sp>
        <p:nvSpPr>
          <p:cNvPr id="575" name="Google Shape;575;p18"/>
          <p:cNvSpPr/>
          <p:nvPr/>
        </p:nvSpPr>
        <p:spPr>
          <a:xfrm>
            <a:off x="685800" y="2857500"/>
            <a:ext cx="285750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344054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344054"/>
                </a:solidFill>
                <a:latin typeface="Arial"/>
                <a:ea typeface="Arial"/>
                <a:cs typeface="Arial"/>
                <a:sym typeface="Arial"/>
              </a:rPr>
              <a:t>22〜25歳の雇用が相対減</a:t>
            </a:r>
            <a:endParaRPr/>
          </a:p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344054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344054"/>
                </a:solidFill>
                <a:latin typeface="Arial"/>
                <a:ea typeface="Arial"/>
                <a:cs typeface="Arial"/>
                <a:sym typeface="Arial"/>
              </a:rPr>
              <a:t>AIに晒されやすい職種（米）</a:t>
            </a:r>
            <a:endParaRPr/>
          </a:p>
        </p:txBody>
      </p:sp>
      <p:cxnSp>
        <p:nvCxnSpPr>
          <p:cNvPr id="576" name="Google Shape;576;p18"/>
          <p:cNvCxnSpPr/>
          <p:nvPr/>
        </p:nvCxnSpPr>
        <p:spPr>
          <a:xfrm>
            <a:off x="3924300" y="2038350"/>
            <a:ext cx="0" cy="2381250"/>
          </a:xfrm>
          <a:prstGeom prst="straightConnector1">
            <a:avLst/>
          </a:prstGeom>
          <a:noFill/>
          <a:ln cap="flat" cmpd="sng" w="19050">
            <a:solidFill>
              <a:srgbClr val="D9DE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77" name="Google Shape;577;p18"/>
          <p:cNvSpPr/>
          <p:nvPr/>
        </p:nvSpPr>
        <p:spPr>
          <a:xfrm>
            <a:off x="4457700" y="2076450"/>
            <a:ext cx="2857500" cy="70485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7421"/>
              </a:buClr>
              <a:buSzPts val="4350"/>
              <a:buFont typeface="Arial"/>
              <a:buNone/>
            </a:pPr>
            <a:r>
              <a:rPr b="1" lang="en-US" sz="4350">
                <a:solidFill>
                  <a:srgbClr val="F47421"/>
                </a:solidFill>
                <a:latin typeface="Arial"/>
                <a:ea typeface="Arial"/>
                <a:cs typeface="Arial"/>
                <a:sym typeface="Arial"/>
              </a:rPr>
              <a:t>5.6</a:t>
            </a:r>
            <a:endParaRPr/>
          </a:p>
        </p:txBody>
      </p:sp>
      <p:sp>
        <p:nvSpPr>
          <p:cNvPr id="578" name="Google Shape;578;p18"/>
          <p:cNvSpPr/>
          <p:nvPr/>
        </p:nvSpPr>
        <p:spPr>
          <a:xfrm>
            <a:off x="6267450" y="2390775"/>
            <a:ext cx="6667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55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152255"/>
                </a:solidFill>
                <a:latin typeface="Arial"/>
                <a:ea typeface="Arial"/>
                <a:cs typeface="Arial"/>
                <a:sym typeface="Arial"/>
              </a:rPr>
              <a:t>%</a:t>
            </a:r>
            <a:endParaRPr/>
          </a:p>
        </p:txBody>
      </p:sp>
      <p:sp>
        <p:nvSpPr>
          <p:cNvPr id="579" name="Google Shape;579;p18"/>
          <p:cNvSpPr/>
          <p:nvPr/>
        </p:nvSpPr>
        <p:spPr>
          <a:xfrm>
            <a:off x="4457700" y="2857500"/>
            <a:ext cx="285750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344054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344054"/>
                </a:solidFill>
                <a:latin typeface="Arial"/>
                <a:ea typeface="Arial"/>
                <a:cs typeface="Arial"/>
                <a:sym typeface="Arial"/>
              </a:rPr>
              <a:t>米・新卒の失業率</a:t>
            </a:r>
            <a:endParaRPr/>
          </a:p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344054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344054"/>
                </a:solidFill>
                <a:latin typeface="Arial"/>
                <a:ea typeface="Arial"/>
                <a:cs typeface="Arial"/>
                <a:sym typeface="Arial"/>
              </a:rPr>
              <a:t>全体(約4%)を上回る逆転</a:t>
            </a:r>
            <a:endParaRPr/>
          </a:p>
        </p:txBody>
      </p:sp>
      <p:cxnSp>
        <p:nvCxnSpPr>
          <p:cNvPr id="580" name="Google Shape;580;p18"/>
          <p:cNvCxnSpPr/>
          <p:nvPr/>
        </p:nvCxnSpPr>
        <p:spPr>
          <a:xfrm>
            <a:off x="7696200" y="2038350"/>
            <a:ext cx="0" cy="2381250"/>
          </a:xfrm>
          <a:prstGeom prst="straightConnector1">
            <a:avLst/>
          </a:prstGeom>
          <a:noFill/>
          <a:ln cap="flat" cmpd="sng" w="19050">
            <a:solidFill>
              <a:srgbClr val="D9DE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1" name="Google Shape;581;p18"/>
          <p:cNvSpPr/>
          <p:nvPr/>
        </p:nvSpPr>
        <p:spPr>
          <a:xfrm>
            <a:off x="8229600" y="2076450"/>
            <a:ext cx="3048000" cy="70485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7421"/>
              </a:buClr>
              <a:buSzPts val="4350"/>
              <a:buFont typeface="Arial"/>
              <a:buNone/>
            </a:pPr>
            <a:r>
              <a:rPr b="1" lang="en-US" sz="4350">
                <a:solidFill>
                  <a:srgbClr val="F47421"/>
                </a:solidFill>
                <a:latin typeface="Arial"/>
                <a:ea typeface="Arial"/>
                <a:cs typeface="Arial"/>
                <a:sym typeface="Arial"/>
              </a:rPr>
              <a:t>1.4</a:t>
            </a:r>
            <a:endParaRPr/>
          </a:p>
        </p:txBody>
      </p:sp>
      <p:sp>
        <p:nvSpPr>
          <p:cNvPr id="582" name="Google Shape;582;p18"/>
          <p:cNvSpPr/>
          <p:nvPr/>
        </p:nvSpPr>
        <p:spPr>
          <a:xfrm>
            <a:off x="10020300" y="2390775"/>
            <a:ext cx="6667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55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152255"/>
                </a:solidFill>
                <a:latin typeface="Arial"/>
                <a:ea typeface="Arial"/>
                <a:cs typeface="Arial"/>
                <a:sym typeface="Arial"/>
              </a:rPr>
              <a:t>万人</a:t>
            </a:r>
            <a:endParaRPr/>
          </a:p>
        </p:txBody>
      </p:sp>
      <p:sp>
        <p:nvSpPr>
          <p:cNvPr id="583" name="Google Shape;583;p18"/>
          <p:cNvSpPr/>
          <p:nvPr/>
        </p:nvSpPr>
        <p:spPr>
          <a:xfrm>
            <a:off x="8229600" y="2857500"/>
            <a:ext cx="304800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344054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344054"/>
                </a:solidFill>
                <a:latin typeface="Arial"/>
                <a:ea typeface="Arial"/>
                <a:cs typeface="Arial"/>
                <a:sym typeface="Arial"/>
              </a:rPr>
              <a:t>Amazonの人員削減(2025)</a:t>
            </a:r>
            <a:endParaRPr/>
          </a:p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344054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344054"/>
                </a:solidFill>
                <a:latin typeface="Arial"/>
                <a:ea typeface="Arial"/>
                <a:cs typeface="Arial"/>
                <a:sym typeface="Arial"/>
              </a:rPr>
              <a:t>CEO「AIで少人数で回る」</a:t>
            </a:r>
            <a:endParaRPr/>
          </a:p>
        </p:txBody>
      </p:sp>
      <p:sp>
        <p:nvSpPr>
          <p:cNvPr id="584" name="Google Shape;584;p18"/>
          <p:cNvSpPr/>
          <p:nvPr/>
        </p:nvSpPr>
        <p:spPr>
          <a:xfrm>
            <a:off x="685800" y="4857750"/>
            <a:ext cx="10629900" cy="781050"/>
          </a:xfrm>
          <a:prstGeom prst="roundRect">
            <a:avLst>
              <a:gd fmla="val 17073" name="adj"/>
            </a:avLst>
          </a:prstGeom>
          <a:solidFill>
            <a:srgbClr val="1522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p18"/>
          <p:cNvSpPr/>
          <p:nvPr/>
        </p:nvSpPr>
        <p:spPr>
          <a:xfrm>
            <a:off x="952500" y="5010150"/>
            <a:ext cx="100965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50"/>
              <a:buFont typeface="Arial"/>
              <a:buNone/>
            </a:pPr>
            <a:r>
              <a:rPr b="1" lang="en-US" sz="16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最初に置き換わったのは“新人が任される定型業務”。カナリアは、若者だった。</a:t>
            </a:r>
            <a:endParaRPr/>
          </a:p>
        </p:txBody>
      </p:sp>
      <p:sp>
        <p:nvSpPr>
          <p:cNvPr id="586" name="Google Shape;586;p18"/>
          <p:cNvSpPr/>
          <p:nvPr/>
        </p:nvSpPr>
        <p:spPr>
          <a:xfrm>
            <a:off x="533400" y="6019800"/>
            <a:ext cx="11125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750"/>
              <a:buFont typeface="Arial"/>
              <a:buNone/>
            </a:pPr>
            <a:r>
              <a:rPr b="0" lang="en-US" sz="750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出典：Stanford Digital Economy Lab 2025／NY連銀 2026／Forbes・CNBC。※因果はAIと断定できません（景気要因も併存）</a:t>
            </a:r>
            <a:endParaRPr/>
          </a:p>
        </p:txBody>
      </p:sp>
      <p:pic>
        <p:nvPicPr>
          <p:cNvPr id="587" name="Google Shape;58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11399" y="119051"/>
            <a:ext cx="2095500" cy="4450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F0"/>
        </a:solidFill>
      </p:bgPr>
    </p:bg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18"/>
          <p:cNvSpPr/>
          <p:nvPr/>
        </p:nvSpPr>
        <p:spPr>
          <a:xfrm>
            <a:off x="533400" y="276225"/>
            <a:ext cx="76200" cy="238125"/>
          </a:xfrm>
          <a:prstGeom prst="roundRect">
            <a:avLst>
              <a:gd fmla="val 50000" name="adj"/>
            </a:avLst>
          </a:prstGeom>
          <a:solidFill>
            <a:srgbClr val="F474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18"/>
          <p:cNvSpPr/>
          <p:nvPr/>
        </p:nvSpPr>
        <p:spPr>
          <a:xfrm>
            <a:off x="742950" y="2667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125"/>
              <a:buFont typeface="Arial"/>
              <a:buNone/>
            </a:pPr>
            <a:r>
              <a:rPr b="1" lang="en-US" sz="1125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11｜AI時代の営業</a:t>
            </a:r>
            <a:endParaRPr/>
          </a:p>
        </p:txBody>
      </p:sp>
      <p:sp>
        <p:nvSpPr>
          <p:cNvPr id="568" name="Google Shape;568;p18"/>
          <p:cNvSpPr/>
          <p:nvPr/>
        </p:nvSpPr>
        <p:spPr>
          <a:xfrm>
            <a:off x="533400" y="723900"/>
            <a:ext cx="106680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55"/>
              </a:buClr>
              <a:buSzPts val="3000"/>
              <a:buFont typeface="Arial"/>
              <a:buNone/>
            </a:pPr>
            <a:r>
              <a:rPr b="1" lang="en-US" sz="3000">
                <a:solidFill>
                  <a:srgbClr val="152255"/>
                </a:solidFill>
                <a:latin typeface="Arial"/>
                <a:ea typeface="Arial"/>
                <a:cs typeface="Arial"/>
                <a:sym typeface="Arial"/>
              </a:rPr>
              <a:t>日本は“遅れて”来る。しかし、確実に来る</a:t>
            </a:r>
            <a:endParaRPr/>
          </a:p>
        </p:txBody>
      </p:sp>
      <p:cxnSp>
        <p:nvCxnSpPr>
          <p:cNvPr id="569" name="Google Shape;569;p18"/>
          <p:cNvCxnSpPr/>
          <p:nvPr/>
        </p:nvCxnSpPr>
        <p:spPr>
          <a:xfrm>
            <a:off x="533400" y="6315075"/>
            <a:ext cx="11125200" cy="0"/>
          </a:xfrm>
          <a:prstGeom prst="straightConnector1">
            <a:avLst/>
          </a:prstGeom>
          <a:noFill/>
          <a:ln cap="flat" cmpd="sng" w="9525">
            <a:solidFill>
              <a:srgbClr val="D9DE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70" name="Google Shape;570;p18"/>
          <p:cNvSpPr/>
          <p:nvPr/>
        </p:nvSpPr>
        <p:spPr>
          <a:xfrm>
            <a:off x="533400" y="6448425"/>
            <a:ext cx="88582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825"/>
              <a:buFont typeface="Arial"/>
              <a:buNone/>
            </a:pPr>
            <a:r>
              <a:rPr b="0" lang="en-US" sz="825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TOKYO BIG HOUSE 最終面接資料｜社外秘・面接時のみ提示</a:t>
            </a:r>
            <a:endParaRPr/>
          </a:p>
        </p:txBody>
      </p:sp>
      <p:sp>
        <p:nvSpPr>
          <p:cNvPr id="571" name="Google Shape;571;p18"/>
          <p:cNvSpPr/>
          <p:nvPr/>
        </p:nvSpPr>
        <p:spPr>
          <a:xfrm>
            <a:off x="10744200" y="6419850"/>
            <a:ext cx="9144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55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152255"/>
                </a:solidFill>
                <a:latin typeface="Arial"/>
                <a:ea typeface="Arial"/>
                <a:cs typeface="Arial"/>
                <a:sym typeface="Arial"/>
              </a:rPr>
              <a:t>P.23</a:t>
            </a:r>
            <a:endParaRPr/>
          </a:p>
        </p:txBody>
      </p:sp>
      <p:sp>
        <p:nvSpPr>
          <p:cNvPr id="572" name="Google Shape;572;p18"/>
          <p:cNvSpPr/>
          <p:nvPr/>
        </p:nvSpPr>
        <p:spPr>
          <a:xfrm>
            <a:off x="533400" y="1390650"/>
            <a:ext cx="6858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日本｜“まだ来ていない”のではなく、“見えにくい”だけ</a:t>
            </a:r>
            <a:endParaRPr/>
          </a:p>
        </p:txBody>
      </p:sp>
      <p:sp>
        <p:nvSpPr>
          <p:cNvPr id="573" name="Google Shape;573;p18"/>
          <p:cNvSpPr/>
          <p:nvPr/>
        </p:nvSpPr>
        <p:spPr>
          <a:xfrm>
            <a:off x="685800" y="2076450"/>
            <a:ext cx="2857500" cy="70485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7421"/>
              </a:buClr>
              <a:buSzPts val="4350"/>
              <a:buFont typeface="Arial"/>
              <a:buNone/>
            </a:pPr>
            <a:r>
              <a:rPr b="1" lang="en-US" sz="4350">
                <a:solidFill>
                  <a:srgbClr val="F47421"/>
                </a:solidFill>
                <a:latin typeface="Arial"/>
                <a:ea typeface="Arial"/>
                <a:cs typeface="Arial"/>
                <a:sym typeface="Arial"/>
              </a:rPr>
              <a:t>26.7</a:t>
            </a:r>
            <a:endParaRPr/>
          </a:p>
        </p:txBody>
      </p:sp>
      <p:sp>
        <p:nvSpPr>
          <p:cNvPr id="574" name="Google Shape;574;p18"/>
          <p:cNvSpPr/>
          <p:nvPr/>
        </p:nvSpPr>
        <p:spPr>
          <a:xfrm>
            <a:off x="2495550" y="2390775"/>
            <a:ext cx="6667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55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152255"/>
                </a:solidFill>
                <a:latin typeface="Arial"/>
                <a:ea typeface="Arial"/>
                <a:cs typeface="Arial"/>
                <a:sym typeface="Arial"/>
              </a:rPr>
              <a:t>%</a:t>
            </a:r>
            <a:endParaRPr/>
          </a:p>
        </p:txBody>
      </p:sp>
      <p:sp>
        <p:nvSpPr>
          <p:cNvPr id="575" name="Google Shape;575;p18"/>
          <p:cNvSpPr/>
          <p:nvPr/>
        </p:nvSpPr>
        <p:spPr>
          <a:xfrm>
            <a:off x="685800" y="2857500"/>
            <a:ext cx="285750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344054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344054"/>
                </a:solidFill>
                <a:latin typeface="Arial"/>
                <a:ea typeface="Arial"/>
                <a:cs typeface="Arial"/>
                <a:sym typeface="Arial"/>
              </a:rPr>
              <a:t>日本の生成AI利用率</a:t>
            </a:r>
            <a:endParaRPr/>
          </a:p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344054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344054"/>
                </a:solidFill>
                <a:latin typeface="Arial"/>
                <a:ea typeface="Arial"/>
                <a:cs typeface="Arial"/>
                <a:sym typeface="Arial"/>
              </a:rPr>
              <a:t>米68.8%・中81.2%と急伸中</a:t>
            </a:r>
            <a:endParaRPr/>
          </a:p>
        </p:txBody>
      </p:sp>
      <p:cxnSp>
        <p:nvCxnSpPr>
          <p:cNvPr id="576" name="Google Shape;576;p18"/>
          <p:cNvCxnSpPr/>
          <p:nvPr/>
        </p:nvCxnSpPr>
        <p:spPr>
          <a:xfrm>
            <a:off x="3924300" y="2038350"/>
            <a:ext cx="0" cy="2381250"/>
          </a:xfrm>
          <a:prstGeom prst="straightConnector1">
            <a:avLst/>
          </a:prstGeom>
          <a:noFill/>
          <a:ln cap="flat" cmpd="sng" w="19050">
            <a:solidFill>
              <a:srgbClr val="D9DE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77" name="Google Shape;577;p18"/>
          <p:cNvSpPr/>
          <p:nvPr/>
        </p:nvSpPr>
        <p:spPr>
          <a:xfrm>
            <a:off x="4457700" y="2076450"/>
            <a:ext cx="2857500" cy="70485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7421"/>
              </a:buClr>
              <a:buSzPts val="4350"/>
              <a:buFont typeface="Arial"/>
              <a:buNone/>
            </a:pPr>
            <a:r>
              <a:rPr b="1" lang="en-US" sz="4350">
                <a:solidFill>
                  <a:srgbClr val="F47421"/>
                </a:solidFill>
                <a:latin typeface="Arial"/>
                <a:ea typeface="Arial"/>
                <a:cs typeface="Arial"/>
                <a:sym typeface="Arial"/>
              </a:rPr>
              <a:t>▲42</a:t>
            </a:r>
            <a:endParaRPr/>
          </a:p>
        </p:txBody>
      </p:sp>
      <p:sp>
        <p:nvSpPr>
          <p:cNvPr id="578" name="Google Shape;578;p18"/>
          <p:cNvSpPr/>
          <p:nvPr/>
        </p:nvSpPr>
        <p:spPr>
          <a:xfrm>
            <a:off x="6267450" y="2390775"/>
            <a:ext cx="6667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55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152255"/>
                </a:solidFill>
                <a:latin typeface="Arial"/>
                <a:ea typeface="Arial"/>
                <a:cs typeface="Arial"/>
                <a:sym typeface="Arial"/>
              </a:rPr>
              <a:t>%</a:t>
            </a:r>
            <a:endParaRPr/>
          </a:p>
        </p:txBody>
      </p:sp>
      <p:sp>
        <p:nvSpPr>
          <p:cNvPr id="579" name="Google Shape;579;p18"/>
          <p:cNvSpPr/>
          <p:nvPr/>
        </p:nvSpPr>
        <p:spPr>
          <a:xfrm>
            <a:off x="4457700" y="2857500"/>
            <a:ext cx="285750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344054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344054"/>
                </a:solidFill>
                <a:latin typeface="Arial"/>
                <a:ea typeface="Arial"/>
                <a:cs typeface="Arial"/>
                <a:sym typeface="Arial"/>
              </a:rPr>
              <a:t>事務職の需要（2050年推計）</a:t>
            </a:r>
            <a:endParaRPr/>
          </a:p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344054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344054"/>
                </a:solidFill>
                <a:latin typeface="Arial"/>
                <a:ea typeface="Arial"/>
                <a:cs typeface="Arial"/>
                <a:sym typeface="Arial"/>
              </a:rPr>
              <a:t>販売職も約▲26%と構造減</a:t>
            </a:r>
            <a:endParaRPr/>
          </a:p>
        </p:txBody>
      </p:sp>
      <p:cxnSp>
        <p:nvCxnSpPr>
          <p:cNvPr id="580" name="Google Shape;580;p18"/>
          <p:cNvCxnSpPr/>
          <p:nvPr/>
        </p:nvCxnSpPr>
        <p:spPr>
          <a:xfrm>
            <a:off x="7696200" y="2038350"/>
            <a:ext cx="0" cy="2381250"/>
          </a:xfrm>
          <a:prstGeom prst="straightConnector1">
            <a:avLst/>
          </a:prstGeom>
          <a:noFill/>
          <a:ln cap="flat" cmpd="sng" w="19050">
            <a:solidFill>
              <a:srgbClr val="D9DE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1" name="Google Shape;581;p18"/>
          <p:cNvSpPr/>
          <p:nvPr/>
        </p:nvSpPr>
        <p:spPr>
          <a:xfrm>
            <a:off x="8229600" y="2076450"/>
            <a:ext cx="3048000" cy="70485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7421"/>
              </a:buClr>
              <a:buSzPts val="4350"/>
              <a:buFont typeface="Arial"/>
              <a:buNone/>
            </a:pPr>
            <a:r>
              <a:rPr b="1" lang="en-US" sz="4350">
                <a:solidFill>
                  <a:srgbClr val="F47421"/>
                </a:solidFill>
                <a:latin typeface="Arial"/>
                <a:ea typeface="Arial"/>
                <a:cs typeface="Arial"/>
                <a:sym typeface="Arial"/>
              </a:rPr>
              <a:t>1,100</a:t>
            </a:r>
            <a:endParaRPr/>
          </a:p>
        </p:txBody>
      </p:sp>
      <p:sp>
        <p:nvSpPr>
          <p:cNvPr id="582" name="Google Shape;582;p18"/>
          <p:cNvSpPr/>
          <p:nvPr/>
        </p:nvSpPr>
        <p:spPr>
          <a:xfrm>
            <a:off x="10020300" y="2390775"/>
            <a:ext cx="6667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55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152255"/>
                </a:solidFill>
                <a:latin typeface="Arial"/>
                <a:ea typeface="Arial"/>
                <a:cs typeface="Arial"/>
                <a:sym typeface="Arial"/>
              </a:rPr>
              <a:t>万人</a:t>
            </a:r>
            <a:endParaRPr/>
          </a:p>
        </p:txBody>
      </p:sp>
      <p:sp>
        <p:nvSpPr>
          <p:cNvPr id="583" name="Google Shape;583;p18"/>
          <p:cNvSpPr/>
          <p:nvPr/>
        </p:nvSpPr>
        <p:spPr>
          <a:xfrm>
            <a:off x="8229600" y="2857500"/>
            <a:ext cx="304800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344054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344054"/>
                </a:solidFill>
                <a:latin typeface="Arial"/>
                <a:ea typeface="Arial"/>
                <a:cs typeface="Arial"/>
                <a:sym typeface="Arial"/>
              </a:rPr>
              <a:t>2040年の労働供給不足</a:t>
            </a:r>
            <a:endParaRPr/>
          </a:p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344054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344054"/>
                </a:solidFill>
                <a:latin typeface="Arial"/>
                <a:ea typeface="Arial"/>
                <a:cs typeface="Arial"/>
                <a:sym typeface="Arial"/>
              </a:rPr>
              <a:t>AIは“省人化”として歓迎</a:t>
            </a:r>
            <a:endParaRPr/>
          </a:p>
        </p:txBody>
      </p:sp>
      <p:sp>
        <p:nvSpPr>
          <p:cNvPr id="584" name="Google Shape;584;p18"/>
          <p:cNvSpPr/>
          <p:nvPr/>
        </p:nvSpPr>
        <p:spPr>
          <a:xfrm>
            <a:off x="685800" y="4857750"/>
            <a:ext cx="10629900" cy="781050"/>
          </a:xfrm>
          <a:prstGeom prst="roundRect">
            <a:avLst>
              <a:gd fmla="val 17073" name="adj"/>
            </a:avLst>
          </a:prstGeom>
          <a:solidFill>
            <a:srgbClr val="1522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p18"/>
          <p:cNvSpPr/>
          <p:nvPr/>
        </p:nvSpPr>
        <p:spPr>
          <a:xfrm>
            <a:off x="952500" y="5010150"/>
            <a:ext cx="100965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50"/>
              <a:buFont typeface="Arial"/>
              <a:buNone/>
            </a:pPr>
            <a:r>
              <a:rPr b="1" lang="en-US" sz="16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人手不足が打撃を“見えなくする”間に、備えた人とそうでない人の差がつく。</a:t>
            </a:r>
            <a:endParaRPr/>
          </a:p>
        </p:txBody>
      </p:sp>
      <p:sp>
        <p:nvSpPr>
          <p:cNvPr id="586" name="Google Shape;586;p18"/>
          <p:cNvSpPr/>
          <p:nvPr/>
        </p:nvSpPr>
        <p:spPr>
          <a:xfrm>
            <a:off x="533400" y="6019800"/>
            <a:ext cx="11125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750"/>
              <a:buFont typeface="Arial"/>
              <a:buNone/>
            </a:pPr>
            <a:r>
              <a:rPr b="0" lang="en-US" sz="750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出典：総務省 情報通信白書 令和7年版／経産省 未来人材ビジョン2022（高成長シナリオ・約値）／リクルートワークス研究所 未来予測2040</a:t>
            </a:r>
            <a:endParaRPr/>
          </a:p>
        </p:txBody>
      </p:sp>
      <p:pic>
        <p:nvPicPr>
          <p:cNvPr id="587" name="Google Shape;58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11399" y="119051"/>
            <a:ext cx="2095500" cy="4450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F0"/>
        </a:solidFill>
      </p:bgPr>
    </p:bg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15"/>
          <p:cNvSpPr/>
          <p:nvPr/>
        </p:nvSpPr>
        <p:spPr>
          <a:xfrm>
            <a:off x="533400" y="276225"/>
            <a:ext cx="76200" cy="238125"/>
          </a:xfrm>
          <a:prstGeom prst="roundRect">
            <a:avLst>
              <a:gd fmla="val 50000" name="adj"/>
            </a:avLst>
          </a:prstGeom>
          <a:solidFill>
            <a:srgbClr val="F474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p15"/>
          <p:cNvSpPr/>
          <p:nvPr/>
        </p:nvSpPr>
        <p:spPr>
          <a:xfrm>
            <a:off x="742950" y="2667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125"/>
              <a:buFont typeface="Arial"/>
              <a:buNone/>
            </a:pPr>
            <a:r>
              <a:rPr b="1" lang="en-US" sz="1125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11｜AI時代の営業</a:t>
            </a:r>
            <a:endParaRPr/>
          </a:p>
        </p:txBody>
      </p:sp>
      <p:sp>
        <p:nvSpPr>
          <p:cNvPr id="481" name="Google Shape;481;p15"/>
          <p:cNvSpPr/>
          <p:nvPr/>
        </p:nvSpPr>
        <p:spPr>
          <a:xfrm>
            <a:off x="533400" y="723900"/>
            <a:ext cx="106680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55"/>
              </a:buClr>
              <a:buSzPts val="2925"/>
              <a:buFont typeface="Arial"/>
              <a:buNone/>
            </a:pPr>
            <a:r>
              <a:rPr b="1" lang="en-US" sz="2925">
                <a:solidFill>
                  <a:srgbClr val="152255"/>
                </a:solidFill>
              </a:rPr>
              <a:t>結論：住宅営業は、</a:t>
            </a:r>
            <a:r>
              <a:rPr b="1" lang="en-US" sz="2925">
                <a:solidFill>
                  <a:srgbClr val="152255"/>
                </a:solidFill>
              </a:rPr>
              <a:t>AIに“奪われる側”</a:t>
            </a:r>
            <a:r>
              <a:rPr b="1" lang="en-US" sz="2925">
                <a:solidFill>
                  <a:srgbClr val="152255"/>
                </a:solidFill>
              </a:rPr>
              <a:t>　ではなく“使う側”</a:t>
            </a:r>
            <a:endParaRPr/>
          </a:p>
        </p:txBody>
      </p:sp>
      <p:cxnSp>
        <p:nvCxnSpPr>
          <p:cNvPr id="482" name="Google Shape;482;p15"/>
          <p:cNvCxnSpPr/>
          <p:nvPr/>
        </p:nvCxnSpPr>
        <p:spPr>
          <a:xfrm>
            <a:off x="533400" y="6315075"/>
            <a:ext cx="11125200" cy="0"/>
          </a:xfrm>
          <a:prstGeom prst="straightConnector1">
            <a:avLst/>
          </a:prstGeom>
          <a:noFill/>
          <a:ln cap="flat" cmpd="sng" w="9525">
            <a:solidFill>
              <a:srgbClr val="D9DE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3" name="Google Shape;483;p15"/>
          <p:cNvSpPr/>
          <p:nvPr/>
        </p:nvSpPr>
        <p:spPr>
          <a:xfrm>
            <a:off x="533400" y="6448425"/>
            <a:ext cx="88582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825"/>
              <a:buFont typeface="Arial"/>
              <a:buNone/>
            </a:pPr>
            <a:r>
              <a:rPr b="0" lang="en-US" sz="825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TOKYO BIG HOUSE 最終面接資料｜社外秘・面接時のみ提示</a:t>
            </a:r>
            <a:endParaRPr/>
          </a:p>
        </p:txBody>
      </p:sp>
      <p:sp>
        <p:nvSpPr>
          <p:cNvPr id="484" name="Google Shape;484;p15"/>
          <p:cNvSpPr/>
          <p:nvPr/>
        </p:nvSpPr>
        <p:spPr>
          <a:xfrm>
            <a:off x="10744200" y="6419850"/>
            <a:ext cx="9144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55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152255"/>
                </a:solidFill>
                <a:latin typeface="Arial"/>
                <a:ea typeface="Arial"/>
                <a:cs typeface="Arial"/>
                <a:sym typeface="Arial"/>
              </a:rPr>
              <a:t>P.26</a:t>
            </a:r>
            <a:endParaRPr/>
          </a:p>
        </p:txBody>
      </p:sp>
      <p:sp>
        <p:nvSpPr>
          <p:cNvPr id="485" name="Google Shape;485;p15"/>
          <p:cNvSpPr/>
          <p:nvPr/>
        </p:nvSpPr>
        <p:spPr>
          <a:xfrm>
            <a:off x="533400" y="1390650"/>
            <a:ext cx="66675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275"/>
              <a:buFont typeface="Arial"/>
              <a:buNone/>
            </a:pPr>
            <a:r>
              <a:rPr b="1" lang="en-US" sz="1275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公的調査と営業実態データ｜この仕事の“残り方”</a:t>
            </a:r>
            <a:endParaRPr/>
          </a:p>
        </p:txBody>
      </p:sp>
      <p:sp>
        <p:nvSpPr>
          <p:cNvPr id="486" name="Google Shape;486;p15"/>
          <p:cNvSpPr/>
          <p:nvPr/>
        </p:nvSpPr>
        <p:spPr>
          <a:xfrm>
            <a:off x="533400" y="1866900"/>
            <a:ext cx="4991100" cy="2800350"/>
          </a:xfrm>
          <a:prstGeom prst="roundRect">
            <a:avLst>
              <a:gd fmla="val 6122" name="adj"/>
            </a:avLst>
          </a:prstGeom>
          <a:solidFill>
            <a:srgbClr val="FFFFFF"/>
          </a:solidFill>
          <a:ln cap="flat" cmpd="sng" w="9525">
            <a:solidFill>
              <a:srgbClr val="D9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15"/>
          <p:cNvSpPr/>
          <p:nvPr/>
        </p:nvSpPr>
        <p:spPr>
          <a:xfrm>
            <a:off x="819150" y="2114550"/>
            <a:ext cx="4419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55"/>
              </a:buClr>
              <a:buSzPts val="1725"/>
              <a:buFont typeface="Arial"/>
              <a:buNone/>
            </a:pPr>
            <a:r>
              <a:rPr b="1" lang="en-US" sz="1725">
                <a:solidFill>
                  <a:srgbClr val="152255"/>
                </a:solidFill>
                <a:latin typeface="Arial"/>
                <a:ea typeface="Arial"/>
                <a:cs typeface="Arial"/>
                <a:sym typeface="Arial"/>
              </a:rPr>
              <a:t>事業者を選んだ理由 第1位</a:t>
            </a:r>
            <a:endParaRPr/>
          </a:p>
        </p:txBody>
      </p:sp>
      <p:sp>
        <p:nvSpPr>
          <p:cNvPr id="488" name="Google Shape;488;p15"/>
          <p:cNvSpPr/>
          <p:nvPr/>
        </p:nvSpPr>
        <p:spPr>
          <a:xfrm>
            <a:off x="819150" y="2628900"/>
            <a:ext cx="33337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7421"/>
              </a:buClr>
              <a:buSzPts val="5700"/>
              <a:buFont typeface="Arial"/>
              <a:buNone/>
            </a:pPr>
            <a:r>
              <a:rPr b="1" lang="en-US" sz="5700">
                <a:solidFill>
                  <a:srgbClr val="F47421"/>
                </a:solidFill>
                <a:latin typeface="Arial"/>
                <a:ea typeface="Arial"/>
                <a:cs typeface="Arial"/>
                <a:sym typeface="Arial"/>
              </a:rPr>
              <a:t>55</a:t>
            </a:r>
            <a:endParaRPr/>
          </a:p>
        </p:txBody>
      </p:sp>
      <p:sp>
        <p:nvSpPr>
          <p:cNvPr id="489" name="Google Shape;489;p15"/>
          <p:cNvSpPr/>
          <p:nvPr/>
        </p:nvSpPr>
        <p:spPr>
          <a:xfrm>
            <a:off x="4267200" y="3133725"/>
            <a:ext cx="8191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55"/>
              </a:buClr>
              <a:buSzPts val="1650"/>
              <a:buFont typeface="Arial"/>
              <a:buNone/>
            </a:pPr>
            <a:r>
              <a:rPr b="1" lang="en-US" sz="1650">
                <a:solidFill>
                  <a:srgbClr val="152255"/>
                </a:solidFill>
                <a:latin typeface="Arial"/>
                <a:ea typeface="Arial"/>
                <a:cs typeface="Arial"/>
                <a:sym typeface="Arial"/>
              </a:rPr>
              <a:t>%</a:t>
            </a:r>
            <a:endParaRPr/>
          </a:p>
        </p:txBody>
      </p:sp>
      <p:sp>
        <p:nvSpPr>
          <p:cNvPr id="490" name="Google Shape;490;p15"/>
          <p:cNvSpPr/>
          <p:nvPr/>
        </p:nvSpPr>
        <p:spPr>
          <a:xfrm>
            <a:off x="819150" y="3733800"/>
            <a:ext cx="4419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4054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344054"/>
                </a:solidFill>
                <a:latin typeface="Arial"/>
                <a:ea typeface="Arial"/>
                <a:cs typeface="Arial"/>
                <a:sym typeface="Arial"/>
              </a:rPr>
              <a:t>「信頼できる会社・担当者だから」</a:t>
            </a:r>
            <a:endParaRPr/>
          </a:p>
        </p:txBody>
      </p:sp>
      <p:sp>
        <p:nvSpPr>
          <p:cNvPr id="491" name="Google Shape;491;p15"/>
          <p:cNvSpPr/>
          <p:nvPr/>
        </p:nvSpPr>
        <p:spPr>
          <a:xfrm>
            <a:off x="6667500" y="1866900"/>
            <a:ext cx="4991100" cy="2800350"/>
          </a:xfrm>
          <a:prstGeom prst="roundRect">
            <a:avLst>
              <a:gd fmla="val 6122" name="adj"/>
            </a:avLst>
          </a:prstGeom>
          <a:solidFill>
            <a:srgbClr val="FFFFFF"/>
          </a:solidFill>
          <a:ln cap="flat" cmpd="sng" w="9525">
            <a:solidFill>
              <a:srgbClr val="D9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p15"/>
          <p:cNvSpPr/>
          <p:nvPr/>
        </p:nvSpPr>
        <p:spPr>
          <a:xfrm>
            <a:off x="6953250" y="2114550"/>
            <a:ext cx="4419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55"/>
              </a:buClr>
              <a:buSzPts val="1725"/>
              <a:buFont typeface="Arial"/>
              <a:buNone/>
            </a:pPr>
            <a:r>
              <a:rPr b="1" lang="en-US" sz="1725">
                <a:solidFill>
                  <a:srgbClr val="152255"/>
                </a:solidFill>
                <a:latin typeface="Arial"/>
                <a:ea typeface="Arial"/>
                <a:cs typeface="Arial"/>
                <a:sym typeface="Arial"/>
              </a:rPr>
              <a:t>営業が“売る”ことに使えている時間</a:t>
            </a:r>
            <a:endParaRPr/>
          </a:p>
        </p:txBody>
      </p:sp>
      <p:sp>
        <p:nvSpPr>
          <p:cNvPr id="493" name="Google Shape;493;p15"/>
          <p:cNvSpPr/>
          <p:nvPr/>
        </p:nvSpPr>
        <p:spPr>
          <a:xfrm>
            <a:off x="6953250" y="2628900"/>
            <a:ext cx="2970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55"/>
              </a:buClr>
              <a:buSzPts val="5700"/>
              <a:buFont typeface="Arial"/>
              <a:buNone/>
            </a:pPr>
            <a:r>
              <a:rPr b="1" lang="en-US" sz="5700">
                <a:solidFill>
                  <a:srgbClr val="152255"/>
                </a:solidFill>
                <a:latin typeface="Arial"/>
                <a:ea typeface="Arial"/>
                <a:cs typeface="Arial"/>
                <a:sym typeface="Arial"/>
              </a:rPr>
              <a:t>40</a:t>
            </a:r>
            <a:endParaRPr/>
          </a:p>
        </p:txBody>
      </p:sp>
      <p:sp>
        <p:nvSpPr>
          <p:cNvPr id="494" name="Google Shape;494;p15"/>
          <p:cNvSpPr/>
          <p:nvPr/>
        </p:nvSpPr>
        <p:spPr>
          <a:xfrm>
            <a:off x="10133125" y="3095625"/>
            <a:ext cx="8193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55"/>
              </a:buClr>
              <a:buSzPts val="1650"/>
              <a:buFont typeface="Arial"/>
              <a:buNone/>
            </a:pPr>
            <a:r>
              <a:rPr b="1" lang="en-US" sz="1650">
                <a:solidFill>
                  <a:srgbClr val="152255"/>
                </a:solidFill>
                <a:latin typeface="Arial"/>
                <a:ea typeface="Arial"/>
                <a:cs typeface="Arial"/>
                <a:sym typeface="Arial"/>
              </a:rPr>
              <a:t>%</a:t>
            </a:r>
            <a:endParaRPr/>
          </a:p>
        </p:txBody>
      </p:sp>
      <p:sp>
        <p:nvSpPr>
          <p:cNvPr id="495" name="Google Shape;495;p15"/>
          <p:cNvSpPr/>
          <p:nvPr/>
        </p:nvSpPr>
        <p:spPr>
          <a:xfrm>
            <a:off x="6953250" y="3733800"/>
            <a:ext cx="4419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4054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344054"/>
                </a:solidFill>
                <a:latin typeface="Arial"/>
                <a:ea typeface="Arial"/>
                <a:cs typeface="Arial"/>
                <a:sym typeface="Arial"/>
              </a:rPr>
              <a:t>残り60%は事務・入力など定型業務</a:t>
            </a:r>
            <a:endParaRPr/>
          </a:p>
        </p:txBody>
      </p:sp>
      <p:sp>
        <p:nvSpPr>
          <p:cNvPr id="496" name="Google Shape;496;p15"/>
          <p:cNvSpPr/>
          <p:nvPr/>
        </p:nvSpPr>
        <p:spPr>
          <a:xfrm>
            <a:off x="4438650" y="4953000"/>
            <a:ext cx="3314700" cy="704850"/>
          </a:xfrm>
          <a:prstGeom prst="roundRect">
            <a:avLst>
              <a:gd fmla="val 18919" name="adj"/>
            </a:avLst>
          </a:prstGeom>
          <a:solidFill>
            <a:srgbClr val="1522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p15"/>
          <p:cNvSpPr/>
          <p:nvPr/>
        </p:nvSpPr>
        <p:spPr>
          <a:xfrm>
            <a:off x="4667250" y="5076825"/>
            <a:ext cx="2857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Arial"/>
              <a:buNone/>
            </a:pPr>
            <a:r>
              <a:rPr b="1" lang="en-US" sz="202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定型はAIへ、人は商談へ</a:t>
            </a:r>
            <a:endParaRPr/>
          </a:p>
        </p:txBody>
      </p:sp>
      <p:sp>
        <p:nvSpPr>
          <p:cNvPr id="498" name="Google Shape;498;p15"/>
          <p:cNvSpPr/>
          <p:nvPr/>
        </p:nvSpPr>
        <p:spPr>
          <a:xfrm>
            <a:off x="533400" y="6019800"/>
            <a:ext cx="11125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750"/>
              <a:buFont typeface="Arial"/>
              <a:buNone/>
            </a:pPr>
            <a:r>
              <a:rPr b="0" lang="en-US" sz="750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出典：国交省 住宅市場動向調査 令和6年度（事業者選択理由1位・約55%）／Salesforce State of Sales 第7版 2026</a:t>
            </a:r>
            <a:endParaRPr/>
          </a:p>
        </p:txBody>
      </p:sp>
      <p:pic>
        <p:nvPicPr>
          <p:cNvPr id="499" name="Google Shape;49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11399" y="119051"/>
            <a:ext cx="2095500" cy="4450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0D173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993B8F3-C570-490D-ADBA-93BFFEB2D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4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45855D-55A5-42A1-A026-881AB1C27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58250" y="0"/>
            <a:ext cx="3333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2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C8E6E3-7C41-40F9-BE2F-CCDED99D2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1070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4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BFCF69-66B8-48F8-8C02-865A928CE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495300"/>
            <a:ext cx="2476500" cy="533400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c0565d679f4f48"/>
          <a:stretch xmlns:a="http://schemas.openxmlformats.org/drawingml/2006/main"/>
        </p:blipFill>
        <p:spPr>
          <a:xfrm xmlns:a="http://schemas.openxmlformats.org/drawingml/2006/main">
            <a:off x="1072014" y="581025"/>
            <a:ext cx="1704071" cy="3619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0D62B4-1007-4A83-81DE-F092270B2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14287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B8C0DB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B8C0DB"/>
                </a:solidFill>
                <a:latin typeface="Yu Gothic"/>
                <a:ea typeface="Yu Gothic"/>
                <a:cs typeface="Yu Gothic"/>
              </a:rPr>
              <a:t>別紙｜学歴と生涯賃金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BA5D2B-9003-47C8-B9CD-4F676822F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1943100"/>
            <a:ext cx="7810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420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42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学歴で平均は変わる。</a:t>
            </a:r>
          </a:p>
          <a:p xmlns:a="http://schemas.openxmlformats.org/drawingml/2006/main">
            <a:pPr algn="l">
              <a:lnSpc>
                <a:spcPct val="96000"/>
              </a:lnSpc>
              <a:buNone/>
              <a:defRPr sz="420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42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だからこそ、仕事選びが効く。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13FC42-197E-4645-9D4C-A7B5F6C2B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4000500"/>
            <a:ext cx="14097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74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72C069-51F3-4418-A40B-7BEBFF0C3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4343400"/>
            <a:ext cx="7524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725" b="0">
                <a:solidFill>
                  <a:srgbClr val="DCE1F0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DCE1F0"/>
                </a:solidFill>
                <a:latin typeface="Yu Gothic"/>
                <a:ea typeface="Yu Gothic"/>
                <a:cs typeface="Yu Gothic"/>
              </a:rPr>
              <a:t>文系就職を想定した参考比較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725" b="0">
                <a:solidFill>
                  <a:srgbClr val="DCE1F0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DCE1F0"/>
                </a:solidFill>
                <a:latin typeface="Yu Gothic"/>
                <a:ea typeface="Yu Gothic"/>
                <a:cs typeface="Yu Gothic"/>
              </a:rPr>
              <a:t>高卒／G-MARCH未満／G-MARCH／早慶上智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CE05BA-F323-40FA-90CD-755A1B6A8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91700" y="4762500"/>
            <a:ext cx="18478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35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EDUCATION ×</a:t>
            </a:r>
          </a:p>
          <a:p xmlns:a="http://schemas.openxmlformats.org/drawingml/2006/main">
            <a:pPr algn="r">
              <a:lnSpc>
                <a:spcPct val="100000"/>
              </a:lnSpc>
              <a:buNone/>
              <a:defRPr sz="135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LIFETIME EARNINGS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65B3D6-F746-4252-9C13-BBF0980F8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15650" y="61912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A.01</a:t>
            </a:r>
          </a:p>
        </p:txBody>
      </p:sp>
    </p:spTree>
    <p:extLst>
      <p:ext uri="{BB962C8B-B14F-4D97-AF65-F5344CB8AC3E}">
        <p14:creationId xmlns:p14="http://schemas.microsoft.com/office/powerpoint/2010/main" val="664834460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CB63DEF-3311-43F3-B389-BDBE1B2A7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276225"/>
            <a:ext cx="76200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74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0FB80D-508E-487E-9176-4D0C74064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950" y="26670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667085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667085"/>
                </a:solidFill>
                <a:latin typeface="Yu Gothic"/>
                <a:ea typeface="Yu Gothic"/>
                <a:cs typeface="Yu Gothic"/>
              </a:rPr>
              <a:t>01｜70歳までの参考推計</a:t>
            </a:r>
          </a:p>
        </p:txBody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fcd7a1ef8f4d12"/>
          <a:stretch xmlns:a="http://schemas.openxmlformats.org/drawingml/2006/main"/>
        </p:blipFill>
        <p:spPr>
          <a:xfrm xmlns:a="http://schemas.openxmlformats.org/drawingml/2006/main">
            <a:off x="9749289" y="295275"/>
            <a:ext cx="1704071" cy="3619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33094B-0D91-4A27-9421-17DF23436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7239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000" b="1">
                <a:solidFill>
                  <a:srgbClr val="152255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52255"/>
                </a:solidFill>
                <a:latin typeface="Yu Gothic"/>
                <a:ea typeface="Yu Gothic"/>
                <a:cs typeface="Yu Gothic"/>
              </a:rPr>
              <a:t>70歳まで働くと、高卒とG-MARCH以上で約1.3億円差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0CA881-E34E-48F9-8BD2-2E43D8410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150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443F07-45D4-4BA3-BA98-496FE1DF3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6448425"/>
            <a:ext cx="885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667085"/>
                </a:solidFill>
                <a:latin typeface="Yu Gothic"/>
                <a:ea typeface="Yu Gothic"/>
                <a:cs typeface="Yu Gothic"/>
              </a:defRPr>
            </a:pPr>
            <a:r>
              <a:rPr sz="825" b="0">
                <a:solidFill>
                  <a:srgbClr val="667085"/>
                </a:solidFill>
                <a:latin typeface="Yu Gothic"/>
                <a:ea typeface="Yu Gothic"/>
                <a:cs typeface="Yu Gothic"/>
              </a:rPr>
              <a:t>TOKYO BIG HOUSE 最終面接資料｜別紙・社外秘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F34B6E-28A3-45A3-8FD8-7025FD00D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44200" y="6419850"/>
            <a:ext cx="914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>
                <a:solidFill>
                  <a:srgbClr val="152255"/>
                </a:solidFill>
                <a:latin typeface="Yu Gothic"/>
                <a:ea typeface="Yu Gothic"/>
                <a:cs typeface="Yu Gothic"/>
              </a:defRPr>
            </a:pPr>
            <a:r>
              <a:rPr sz="900" b="1">
                <a:solidFill>
                  <a:srgbClr val="152255"/>
                </a:solidFill>
                <a:latin typeface="Yu Gothic"/>
                <a:ea typeface="Yu Gothic"/>
                <a:cs typeface="Yu Gothic"/>
              </a:rPr>
              <a:t>A.02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C317E4-4088-4FFE-992C-F067DBA89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1381125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667085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667085"/>
                </a:solidFill>
                <a:latin typeface="Yu Gothic"/>
                <a:ea typeface="Yu Gothic"/>
                <a:cs typeface="Yu Gothic"/>
              </a:rPr>
              <a:t>男性｜70歳まで（20〜69歳）・退職金なし｜G-MARCH以上は代表6校の参考推計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8370F8-B87D-4C0E-8512-08EC8E3D9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1943100"/>
            <a:ext cx="10439400" cy="590550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1522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43DA8A-6F05-4FB1-9996-A9961D153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8200" y="2038350"/>
            <a:ext cx="1504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比較項目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5F2792-D206-4640-A862-752A63A34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47950" y="2038350"/>
            <a:ext cx="2647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高卒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80EBCA-7A78-4F24-99AD-F817DE48A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00700" y="2038350"/>
            <a:ext cx="2647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G-MARCH以上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9C1F98-D792-49D3-A546-ED868FD28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53450" y="2038350"/>
            <a:ext cx="2419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453FFA-CF66-466C-81BB-7281D98C6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2667000"/>
            <a:ext cx="10439400" cy="990600"/>
          </a:xfrm>
          <a:prstGeom xmlns:a="http://schemas.openxmlformats.org/drawingml/2006/main" prst="roundRect">
            <a:avLst>
              <a:gd name="adj" fmla="val 9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AEFB61-ADF1-4EA9-AF67-CD452A1D7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" y="2838450"/>
            <a:ext cx="1466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52255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152255"/>
                </a:solidFill>
                <a:latin typeface="Yu Gothic"/>
                <a:ea typeface="Yu Gothic"/>
                <a:cs typeface="Yu Gothic"/>
              </a:rPr>
              <a:t>30歳前後年収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DE1760-2486-4A27-AD33-CAA93CDD4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" y="3200400"/>
            <a:ext cx="1466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667085"/>
                </a:solidFill>
                <a:latin typeface="Yu Gothic"/>
                <a:ea typeface="Yu Gothic"/>
                <a:cs typeface="Yu Gothic"/>
              </a:defRPr>
            </a:pPr>
            <a:r>
              <a:rPr sz="825" b="0">
                <a:solidFill>
                  <a:srgbClr val="667085"/>
                </a:solidFill>
                <a:latin typeface="Yu Gothic"/>
                <a:ea typeface="Yu Gothic"/>
                <a:cs typeface="Yu Gothic"/>
              </a:rPr>
              <a:t>高卒30〜34歳／大学群30歳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4E087F-3BC3-4C8A-815A-D73D7900A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09850" y="2895600"/>
            <a:ext cx="2724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344054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344054"/>
                </a:solidFill>
                <a:latin typeface="Yu Gothic"/>
                <a:ea typeface="Yu Gothic"/>
                <a:cs typeface="Yu Gothic"/>
              </a:rPr>
              <a:t>約470万円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88F5DD-D6CF-4452-8694-F5ECEFE62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62600" y="2895600"/>
            <a:ext cx="2724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4D79C7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4D79C7"/>
                </a:solidFill>
                <a:latin typeface="Yu Gothic"/>
                <a:ea typeface="Yu Gothic"/>
                <a:cs typeface="Yu Gothic"/>
              </a:rPr>
              <a:t>約591万円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4BB821-B12B-4066-8AA2-CD7B0418F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15350" y="2895600"/>
            <a:ext cx="2495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950" b="1">
                <a:solidFill>
                  <a:srgbClr val="F47421"/>
                </a:solidFill>
                <a:latin typeface="Yu Gothic"/>
                <a:ea typeface="Yu Gothic"/>
                <a:cs typeface="Yu Gothic"/>
              </a:defRPr>
            </a:pPr>
            <a:r>
              <a:rPr sz="1950" b="1">
                <a:solidFill>
                  <a:srgbClr val="F47421"/>
                </a:solidFill>
                <a:latin typeface="Yu Gothic"/>
                <a:ea typeface="Yu Gothic"/>
                <a:cs typeface="Yu Gothic"/>
              </a:rPr>
              <a:t>+約121万円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18350C-C222-4FC6-BA27-7215B6635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781300"/>
            <a:ext cx="0" cy="762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02DA118-D5CC-401D-979D-890900C6E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781300"/>
            <a:ext cx="0" cy="762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C18194-891C-4CF7-AA10-9B63AF257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781300"/>
            <a:ext cx="0" cy="762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0BC1EAA-E813-465B-8A8B-19008A6B2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3829050"/>
            <a:ext cx="10439400" cy="990600"/>
          </a:xfrm>
          <a:prstGeom xmlns:a="http://schemas.openxmlformats.org/drawingml/2006/main" prst="roundRect">
            <a:avLst>
              <a:gd name="adj" fmla="val 9615"/>
            </a:avLst>
          </a:prstGeom>
          <a:solidFill xmlns:a="http://schemas.openxmlformats.org/drawingml/2006/main">
            <a:srgbClr val="EEF1F5"/>
          </a:solidFill>
          <a:ln xmlns:a="http://schemas.openxmlformats.org/drawingml/2006/main" w="9525">
            <a:solidFill>
              <a:srgbClr val="D9DE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2C47B19-6398-46DB-A2B7-D8EA5FC1A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" y="4000500"/>
            <a:ext cx="1466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52255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152255"/>
                </a:solidFill>
                <a:latin typeface="Yu Gothic"/>
                <a:ea typeface="Yu Gothic"/>
                <a:cs typeface="Yu Gothic"/>
              </a:rPr>
              <a:t>生涯賃金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3F6A4AF-1F50-4155-B609-F663BEB86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" y="4362450"/>
            <a:ext cx="1466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667085"/>
                </a:solidFill>
                <a:latin typeface="Yu Gothic"/>
                <a:ea typeface="Yu Gothic"/>
                <a:cs typeface="Yu Gothic"/>
              </a:defRPr>
            </a:pPr>
            <a:r>
              <a:rPr sz="825" b="0">
                <a:solidFill>
                  <a:srgbClr val="667085"/>
                </a:solidFill>
                <a:latin typeface="Yu Gothic"/>
                <a:ea typeface="Yu Gothic"/>
                <a:cs typeface="Yu Gothic"/>
              </a:rPr>
              <a:t>70歳まで・退職金なし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53DEC91-0D58-4ABB-B22E-A7A9A135D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09850" y="4057650"/>
            <a:ext cx="2724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344054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344054"/>
                </a:solidFill>
                <a:latin typeface="Yu Gothic"/>
                <a:ea typeface="Yu Gothic"/>
                <a:cs typeface="Yu Gothic"/>
              </a:rPr>
              <a:t>約2.56億円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89C9AF8-C1F6-43DF-A022-15EC22B7B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62600" y="4057650"/>
            <a:ext cx="2724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4D79C7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4D79C7"/>
                </a:solidFill>
                <a:latin typeface="Yu Gothic"/>
                <a:ea typeface="Yu Gothic"/>
                <a:cs typeface="Yu Gothic"/>
              </a:rPr>
              <a:t>約3.86億円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7F9A383-A8A2-475E-A126-2887DE477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15350" y="4057650"/>
            <a:ext cx="2495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F47421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F47421"/>
                </a:solidFill>
                <a:latin typeface="Yu Gothic"/>
                <a:ea typeface="Yu Gothic"/>
                <a:cs typeface="Yu Gothic"/>
              </a:rPr>
              <a:t>+約1.29億円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FB955BF-D763-44BB-BB5E-B7122C62A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943350"/>
            <a:ext cx="0" cy="762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103BF9F-30DB-4CFF-B9A2-CF3F50CA3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943350"/>
            <a:ext cx="0" cy="762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2671481-3D8E-42A0-93E7-23EAB794D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943350"/>
            <a:ext cx="0" cy="762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88C7750-8CE3-40CD-97FC-5804860BF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5162550"/>
            <a:ext cx="104394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0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AE23CC0-71A0-4C4D-8102-889D0DE10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5276850"/>
            <a:ext cx="9982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52255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152255"/>
                </a:solidFill>
                <a:latin typeface="Yu Gothic"/>
                <a:ea typeface="Yu Gothic"/>
                <a:cs typeface="Yu Gothic"/>
              </a:rPr>
              <a:t>注：右列は大卒全体平均ではなく、G-MARCH以上・代表6校の参考推計。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F78660E-C10E-441D-8CE3-279EC1814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6019800"/>
            <a:ext cx="11125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750" b="0">
                <a:solidFill>
                  <a:srgbClr val="667085"/>
                </a:solidFill>
                <a:latin typeface="Yu Gothic"/>
                <a:ea typeface="Yu Gothic"/>
                <a:cs typeface="Yu Gothic"/>
              </a:defRPr>
            </a:pPr>
            <a:r>
              <a:rPr sz="750" b="0">
                <a:solidFill>
                  <a:srgbClr val="667085"/>
                </a:solidFill>
                <a:latin typeface="Yu Gothic"/>
                <a:ea typeface="Yu Gothic"/>
                <a:cs typeface="Yu Gothic"/>
              </a:rPr>
              <a:t>出典：厚生労働省「令和6年賃金構造基本統計調査」／JILPT「ユースフル労働統計2025」／OpenWork「出身大学別年収ランキング2022」</a:t>
            </a:r>
          </a:p>
        </p:txBody>
      </p:sp>
    </p:spTree>
    <p:extLst>
      <p:ext uri="{BB962C8B-B14F-4D97-AF65-F5344CB8AC3E}">
        <p14:creationId xmlns:p14="http://schemas.microsoft.com/office/powerpoint/2010/main" val="1781645489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BD066D0-9539-4379-BA99-C1E5BE5D8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276225"/>
            <a:ext cx="76200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74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214384-2444-4DC7-8ED4-01768F7EF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950" y="26670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667085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667085"/>
                </a:solidFill>
                <a:latin typeface="Yu Gothic"/>
                <a:ea typeface="Yu Gothic"/>
                <a:cs typeface="Yu Gothic"/>
              </a:rPr>
              <a:t>02｜大学群別の参考推計</a:t>
            </a:r>
          </a:p>
        </p:txBody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082b15c9a7424e"/>
          <a:stretch xmlns:a="http://schemas.openxmlformats.org/drawingml/2006/main"/>
        </p:blipFill>
        <p:spPr>
          <a:xfrm xmlns:a="http://schemas.openxmlformats.org/drawingml/2006/main">
            <a:off x="9749289" y="295275"/>
            <a:ext cx="1704071" cy="3619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BF128C-A520-4BE2-A636-9AA8E6979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7239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000" b="1">
                <a:solidFill>
                  <a:srgbClr val="152255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52255"/>
                </a:solidFill>
                <a:latin typeface="Yu Gothic"/>
                <a:ea typeface="Yu Gothic"/>
                <a:cs typeface="Yu Gothic"/>
              </a:rPr>
              <a:t>70歳まで働くと、大学群の差は1億円単位になる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CFD5AC-4A31-4368-B2DD-65F574BE4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150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FB750D-B208-453A-B948-FDE45FF7B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6448425"/>
            <a:ext cx="885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667085"/>
                </a:solidFill>
                <a:latin typeface="Yu Gothic"/>
                <a:ea typeface="Yu Gothic"/>
                <a:cs typeface="Yu Gothic"/>
              </a:defRPr>
            </a:pPr>
            <a:r>
              <a:rPr sz="825" b="0">
                <a:solidFill>
                  <a:srgbClr val="667085"/>
                </a:solidFill>
                <a:latin typeface="Yu Gothic"/>
                <a:ea typeface="Yu Gothic"/>
                <a:cs typeface="Yu Gothic"/>
              </a:rPr>
              <a:t>TOKYO BIG HOUSE 最終面接資料｜別紙・社外秘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6F1D82-5ABA-41B2-B246-A245F546D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44200" y="6419850"/>
            <a:ext cx="914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>
                <a:solidFill>
                  <a:srgbClr val="152255"/>
                </a:solidFill>
                <a:latin typeface="Yu Gothic"/>
                <a:ea typeface="Yu Gothic"/>
                <a:cs typeface="Yu Gothic"/>
              </a:defRPr>
            </a:pPr>
            <a:r>
              <a:rPr sz="900" b="1">
                <a:solidFill>
                  <a:srgbClr val="152255"/>
                </a:solidFill>
                <a:latin typeface="Yu Gothic"/>
                <a:ea typeface="Yu Gothic"/>
                <a:cs typeface="Yu Gothic"/>
              </a:rPr>
              <a:t>A.03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8E609D-21B1-4CDE-8F48-2915BE79F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1381125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667085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667085"/>
                </a:solidFill>
                <a:latin typeface="Yu Gothic"/>
                <a:ea typeface="Yu Gothic"/>
                <a:cs typeface="Yu Gothic"/>
              </a:rPr>
              <a:t>男性・退職金なし｜20〜69歳累計｜大学群別は30歳想定年収比から換算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56F7E6-48A4-4136-9CF9-E3A187043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53000"/>
            <a:ext cx="10382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66708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069AEB-7CD2-40C1-929B-16F0E6C0B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0150" y="3365205"/>
            <a:ext cx="1428750" cy="1587795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6670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0C28FB-2D87-4EFE-9520-7D16F1017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7750" y="2946105"/>
            <a:ext cx="1733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667085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667085"/>
                </a:solidFill>
                <a:latin typeface="Yu Gothic"/>
                <a:ea typeface="Yu Gothic"/>
                <a:cs typeface="Yu Gothic"/>
              </a:rPr>
              <a:t>2.56億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484BD8-95ED-428A-820C-F930DBFE7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5400" y="4305300"/>
            <a:ext cx="1238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05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30代前半平均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05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470万円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FAB2A7-642E-428B-917F-8B44CF4DD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6775" y="51244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52255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152255"/>
                </a:solidFill>
                <a:latin typeface="Yu Gothic"/>
                <a:ea typeface="Yu Gothic"/>
                <a:cs typeface="Yu Gothic"/>
              </a:rPr>
              <a:t>高卒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34FA6B-9CDC-4C47-8C83-238D3A5CE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6775" y="54864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0">
                <a:solidFill>
                  <a:srgbClr val="667085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67085"/>
                </a:solidFill>
                <a:latin typeface="Yu Gothic"/>
                <a:ea typeface="Yu Gothic"/>
                <a:cs typeface="Yu Gothic"/>
              </a:rPr>
              <a:t>厚労省＋JILPT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4FBA17-040F-4567-A908-0A484CB35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19525" y="2968256"/>
            <a:ext cx="1428750" cy="1984744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DDE8FA"/>
          </a:solidFill>
          <a:ln xmlns:a="http://schemas.openxmlformats.org/drawingml/2006/main" w="9525">
            <a:solidFill>
              <a:srgbClr val="4D79C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B63B63-5E7C-4533-A508-D764E7E66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67125" y="2549156"/>
            <a:ext cx="1733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4D79C7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4D79C7"/>
                </a:solidFill>
                <a:latin typeface="Yu Gothic"/>
                <a:ea typeface="Yu Gothic"/>
                <a:cs typeface="Yu Gothic"/>
              </a:rPr>
              <a:t>3.20億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49AC74-CB49-4CE6-AA89-02C8E8FC1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14775" y="4305300"/>
            <a:ext cx="1238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050" b="1">
                <a:solidFill>
                  <a:srgbClr val="152255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152255"/>
                </a:solidFill>
                <a:latin typeface="Yu Gothic"/>
                <a:ea typeface="Yu Gothic"/>
                <a:cs typeface="Yu Gothic"/>
              </a:rPr>
              <a:t>30歳参考年収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050" b="1">
                <a:solidFill>
                  <a:srgbClr val="152255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152255"/>
                </a:solidFill>
                <a:latin typeface="Yu Gothic"/>
                <a:ea typeface="Yu Gothic"/>
                <a:cs typeface="Yu Gothic"/>
              </a:rPr>
              <a:t>490万円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C8C85F-800B-4CDF-92BF-F5A49ECB1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86150" y="51244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52255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152255"/>
                </a:solidFill>
                <a:latin typeface="Yu Gothic"/>
                <a:ea typeface="Yu Gothic"/>
                <a:cs typeface="Yu Gothic"/>
              </a:rPr>
              <a:t>G-MARCH未満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B1F099-7580-4876-A7B8-3F9ED8670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86150" y="54864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0">
                <a:solidFill>
                  <a:srgbClr val="667085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67085"/>
                </a:solidFill>
                <a:latin typeface="Yu Gothic"/>
                <a:ea typeface="Yu Gothic"/>
                <a:cs typeface="Yu Gothic"/>
              </a:rPr>
              <a:t>大卒平均を代用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AD236E-B908-422D-9DFB-2E8745280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38900" y="2707758"/>
            <a:ext cx="1428750" cy="2245242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4D79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3392265-A237-4BD6-ABB0-8EA2AC7B3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86500" y="2288658"/>
            <a:ext cx="1733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4D79C7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4D79C7"/>
                </a:solidFill>
                <a:latin typeface="Yu Gothic"/>
                <a:ea typeface="Yu Gothic"/>
                <a:cs typeface="Yu Gothic"/>
              </a:rPr>
              <a:t>3.62億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51630B8-A3A9-4E10-AD48-BA372D0EE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34150" y="4305300"/>
            <a:ext cx="1238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05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30歳参考年収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05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554万円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927B68-509E-408C-BF0A-A8EC0843A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05525" y="51244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52255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152255"/>
                </a:solidFill>
                <a:latin typeface="Yu Gothic"/>
                <a:ea typeface="Yu Gothic"/>
                <a:cs typeface="Yu Gothic"/>
              </a:rPr>
              <a:t>G-MARCH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6968BED-5FD8-4DE6-BBC8-B339190AB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05525" y="54864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0">
                <a:solidFill>
                  <a:srgbClr val="667085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67085"/>
                </a:solidFill>
                <a:latin typeface="Yu Gothic"/>
                <a:ea typeface="Yu Gothic"/>
                <a:cs typeface="Yu Gothic"/>
              </a:rPr>
              <a:t>代表3校で換算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113A753-0B24-4D55-9BB4-AC37D8804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58275" y="2410047"/>
            <a:ext cx="1428750" cy="2542953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474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C8F6513-D524-4BD3-B10B-89A37378C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53525" y="4305300"/>
            <a:ext cx="1238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05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30歳参考年収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05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628万円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0F46BF8-92F4-48C0-9111-26E03A5A5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24900" y="51244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52255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152255"/>
                </a:solidFill>
                <a:latin typeface="Yu Gothic"/>
                <a:ea typeface="Yu Gothic"/>
                <a:cs typeface="Yu Gothic"/>
              </a:rPr>
              <a:t>早慶上智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354DCC3-CBDD-4B57-8701-0F760DEF1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24900" y="54864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0">
                <a:solidFill>
                  <a:srgbClr val="667085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67085"/>
                </a:solidFill>
                <a:latin typeface="Yu Gothic"/>
                <a:ea typeface="Yu Gothic"/>
                <a:cs typeface="Yu Gothic"/>
              </a:rPr>
              <a:t>3校平均で換算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6B3DBB9-0487-45FB-BA14-8E6C686AB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34400" y="1657350"/>
            <a:ext cx="28003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0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C798994-7255-4AC1-8263-44F8093B9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67750" y="1752600"/>
            <a:ext cx="25336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125" b="1">
                <a:solidFill>
                  <a:srgbClr val="F47421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F47421"/>
                </a:solidFill>
                <a:latin typeface="Yu Gothic"/>
                <a:ea typeface="Yu Gothic"/>
                <a:cs typeface="Yu Gothic"/>
              </a:rPr>
              <a:t>早慶上智 4.10億円｜高卒差 +1.54億円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125" b="1">
                <a:solidFill>
                  <a:srgbClr val="F47421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F47421"/>
                </a:solidFill>
                <a:latin typeface="Yu Gothic"/>
                <a:ea typeface="Yu Gothic"/>
                <a:cs typeface="Yu Gothic"/>
              </a:rPr>
              <a:t>30歳参考年収 約628万円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415F4ED-9CB6-487A-AA1E-53F59C582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581025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675" b="0">
                <a:solidFill>
                  <a:srgbClr val="667085"/>
                </a:solidFill>
                <a:latin typeface="Yu Gothic"/>
                <a:ea typeface="Yu Gothic"/>
                <a:cs typeface="Yu Gothic"/>
              </a:defRPr>
            </a:pPr>
            <a:r>
              <a:rPr sz="675" b="0">
                <a:solidFill>
                  <a:srgbClr val="667085"/>
                </a:solidFill>
                <a:latin typeface="Yu Gothic"/>
                <a:ea typeface="Yu Gothic"/>
                <a:cs typeface="Yu Gothic"/>
              </a:rPr>
              <a:t>70歳まで：JILPTの60歳までの生涯賃金に、厚労省2024年の60〜64歳・65〜69歳年収を各5年加算。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675" b="0">
                <a:solidFill>
                  <a:srgbClr val="667085"/>
                </a:solidFill>
                <a:latin typeface="Yu Gothic"/>
                <a:ea typeface="Yu Gothic"/>
                <a:cs typeface="Yu Gothic"/>
              </a:defRPr>
            </a:pPr>
            <a:r>
              <a:rPr sz="675" b="0">
                <a:solidFill>
                  <a:srgbClr val="667085"/>
                </a:solidFill>
                <a:latin typeface="Yu Gothic"/>
                <a:ea typeface="Yu Gothic"/>
                <a:cs typeface="Yu Gothic"/>
              </a:rPr>
              <a:t>大学群は大卒3.20億円を基準にOpenWorkの30歳年収比で換算。退職金なし・20〜69歳・継続就業を仮定した参考推計です。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F714900-E579-4385-988F-5240AA216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6019800"/>
            <a:ext cx="11125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750" b="0">
                <a:solidFill>
                  <a:srgbClr val="667085"/>
                </a:solidFill>
                <a:latin typeface="Yu Gothic"/>
                <a:ea typeface="Yu Gothic"/>
                <a:cs typeface="Yu Gothic"/>
              </a:defRPr>
            </a:pPr>
            <a:r>
              <a:rPr sz="750" b="0">
                <a:solidFill>
                  <a:srgbClr val="667085"/>
                </a:solidFill>
                <a:latin typeface="Yu Gothic"/>
                <a:ea typeface="Yu Gothic"/>
                <a:cs typeface="Yu Gothic"/>
              </a:rPr>
              <a:t>出典：厚生労働省「令和6年賃金構造基本統計調査」／JILPT「ユースフル労働統計2025」／OpenWork「出身大学別年収ランキング2022」「30歳の推定平均年収」</a:t>
            </a:r>
          </a:p>
        </p:txBody>
      </p:sp>
    </p:spTree>
    <p:extLst>
      <p:ext uri="{BB962C8B-B14F-4D97-AF65-F5344CB8AC3E}">
        <p14:creationId xmlns:p14="http://schemas.microsoft.com/office/powerpoint/2010/main" val="1918907262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0D173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9F14AD2-3243-4C66-A76E-BAB1FE4D6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276225"/>
            <a:ext cx="76200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74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6BF69F-5334-4FA5-90EF-6EB02ED29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950" y="26670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03｜今から選べるもの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40F0BA-E2EE-4B70-9ADF-1A8FCCE62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20250" y="247650"/>
            <a:ext cx="19621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97f381ba144054"/>
          <a:stretch xmlns:a="http://schemas.openxmlformats.org/drawingml/2006/main"/>
        </p:blipFill>
        <p:spPr>
          <a:xfrm xmlns:a="http://schemas.openxmlformats.org/drawingml/2006/main">
            <a:off x="9749289" y="295275"/>
            <a:ext cx="1704071" cy="36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673E66-0B22-43E6-BB10-649867D49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7239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07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307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学歴に頼らず稼ぐなら、3つを間違えない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4C6EEE-3D71-4EB8-B040-148B938B9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150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2507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68265F-2888-484D-BD43-C6EE7AAE9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6448425"/>
            <a:ext cx="885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B8C0DB"/>
                </a:solidFill>
                <a:latin typeface="Yu Gothic"/>
                <a:ea typeface="Yu Gothic"/>
                <a:cs typeface="Yu Gothic"/>
              </a:defRPr>
            </a:pPr>
            <a:r>
              <a:rPr sz="825" b="0">
                <a:solidFill>
                  <a:srgbClr val="B8C0DB"/>
                </a:solidFill>
                <a:latin typeface="Yu Gothic"/>
                <a:ea typeface="Yu Gothic"/>
                <a:cs typeface="Yu Gothic"/>
              </a:rPr>
              <a:t>TOKYO BIG HOUSE 最終面接資料｜別紙・社外秘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2D3844-1CAB-4271-8B0E-3BC663E32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44200" y="6419850"/>
            <a:ext cx="914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9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A.04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11419F-B061-4806-B05F-81EC9BEC1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1371600"/>
            <a:ext cx="876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DCE1F0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DCE1F0"/>
                </a:solidFill>
                <a:latin typeface="Yu Gothic"/>
                <a:ea typeface="Yu Gothic"/>
                <a:cs typeface="Yu Gothic"/>
              </a:rPr>
              <a:t>学歴は過去。業界・商材・環境は、今から選べる。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89CFE1-6147-43C9-9B63-D4E2E2DCB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203835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F47421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F47421"/>
                </a:solidFill>
                <a:latin typeface="Yu Gothic"/>
                <a:ea typeface="Yu Gothic"/>
                <a:cs typeface="Yu Gothic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8F9DEA-E624-4014-A650-1D92F8032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2419350"/>
            <a:ext cx="314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27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業界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1355C6-9F36-46D9-A99D-31A47B046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086100"/>
            <a:ext cx="104775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474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0C7BEB-86BC-4BF3-A21D-6F8B21B07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371850"/>
            <a:ext cx="3143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年齢とともに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年収曲線が伸びるか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7F14D0-E6D0-424B-BD32-9DF081F02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4457700"/>
            <a:ext cx="314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B8C0DB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B8C0DB"/>
                </a:solidFill>
                <a:latin typeface="Yu Gothic"/>
                <a:ea typeface="Yu Gothic"/>
                <a:cs typeface="Yu Gothic"/>
              </a:rPr>
              <a:t>同じ仕事量でも、業界の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B8C0DB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B8C0DB"/>
                </a:solidFill>
                <a:latin typeface="Yu Gothic"/>
                <a:ea typeface="Yu Gothic"/>
                <a:cs typeface="Yu Gothic"/>
              </a:rPr>
              <a:t>賃金水準は違う。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B791E3-AD04-4AC0-8F96-0FF7EA25A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057400"/>
            <a:ext cx="0" cy="2971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2507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077D22-D97A-43F3-83E9-0C67FEED3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86250" y="203835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F47421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F47421"/>
                </a:solidFill>
                <a:latin typeface="Yu Gothic"/>
                <a:ea typeface="Yu Gothic"/>
                <a:cs typeface="Yu Gothic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05BB9A-B68A-412A-BADE-63D0CA240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86250" y="2419350"/>
            <a:ext cx="314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27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商材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DD16C2-59EF-437D-A040-ACF4452CB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86250" y="3086100"/>
            <a:ext cx="104775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474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473E18-4FD4-4EB3-B765-F51C84899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86250" y="3371850"/>
            <a:ext cx="3143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単価が高く、成果が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報酬につながるか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9189CAA-C6C4-42CF-8464-1FF2E871D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86250" y="4457700"/>
            <a:ext cx="314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B8C0DB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B8C0DB"/>
                </a:solidFill>
                <a:latin typeface="Yu Gothic"/>
                <a:ea typeface="Yu Gothic"/>
                <a:cs typeface="Yu Gothic"/>
              </a:rPr>
              <a:t>住宅のように、1件の価値が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B8C0DB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B8C0DB"/>
                </a:solidFill>
                <a:latin typeface="Yu Gothic"/>
                <a:ea typeface="Yu Gothic"/>
                <a:cs typeface="Yu Gothic"/>
              </a:rPr>
              <a:t>大きい商材を選ぶ。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3BFF72F-573A-4FE6-B936-08707DB40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057400"/>
            <a:ext cx="0" cy="2971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2507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4890E8E-8F38-4DBC-A486-99EF8BB6A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39100" y="203835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F47421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F47421"/>
                </a:solidFill>
                <a:latin typeface="Yu Gothic"/>
                <a:ea typeface="Yu Gothic"/>
                <a:cs typeface="Yu Gothic"/>
              </a:rPr>
              <a:t>03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AE86CEE-6A6B-4495-A031-0835E472D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39100" y="2419350"/>
            <a:ext cx="314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27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環境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47EEBCC-3003-4167-BFA7-839AFBA1B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39100" y="3086100"/>
            <a:ext cx="104775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474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2FAD8CF-F976-406B-AF17-94D63B67B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39100" y="3371850"/>
            <a:ext cx="3143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席・打席・育成が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本当に用意されているか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8268483-B462-4A97-8268-5E63423D5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39100" y="4457700"/>
            <a:ext cx="314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B8C0DB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B8C0DB"/>
                </a:solidFill>
                <a:latin typeface="Yu Gothic"/>
                <a:ea typeface="Yu Gothic"/>
                <a:cs typeface="Yu Gothic"/>
              </a:rPr>
              <a:t>昇格の席と、毎日の反復量で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B8C0DB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B8C0DB"/>
                </a:solidFill>
                <a:latin typeface="Yu Gothic"/>
                <a:ea typeface="Yu Gothic"/>
                <a:cs typeface="Yu Gothic"/>
              </a:rPr>
              <a:t>成長速度が変わる。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9C908F3-1CEB-44D0-92CF-7296D511E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5410200"/>
            <a:ext cx="108204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377BD7B-62F1-4486-96EB-F94E2DE3B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5524500"/>
            <a:ext cx="10363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152255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152255"/>
                </a:solidFill>
                <a:latin typeface="Yu Gothic"/>
                <a:ea typeface="Yu Gothic"/>
                <a:cs typeface="Yu Gothic"/>
              </a:rPr>
              <a:t>学歴で決まるのは平均。あなたの上限は、これからの選択で変えられる。</a:t>
            </a:r>
          </a:p>
        </p:txBody>
      </p:sp>
    </p:spTree>
    <p:extLst>
      <p:ext uri="{BB962C8B-B14F-4D97-AF65-F5344CB8AC3E}">
        <p14:creationId xmlns:p14="http://schemas.microsoft.com/office/powerpoint/2010/main" val="1510823044"/>
      </p:ext>
    </p:extLst>
  </p:cSld>
</p:sld>
</file>

<file path=ppt/theme/theme1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