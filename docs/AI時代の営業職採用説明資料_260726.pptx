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430"/>
                </a:solidFill>
                <a:latin typeface="Calibri"/>
              </a:rPr>
              <a:t>米・ソフトウェア開発者の雇用指数（2022年末=100）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22〜25歳（若手）</c:v>
                </c:pt>
              </c:strCache>
            </c:strRef>
          </c:tx>
          <c:spPr>
            <a:solidFill>
              <a:srgbClr val="B3524C"/>
            </a:solidFill>
            <a:ln w="38100" cap="flat">
              <a:solidFill>
                <a:srgbClr val="B352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3524C"/>
              </a:solidFill>
              <a:ln w="9525" cap="flat">
                <a:solidFill>
                  <a:srgbClr val="B352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2022末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93</c:v>
                </c:pt>
                <c:pt idx="2">
                  <c:v>87</c:v>
                </c:pt>
                <c:pt idx="3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26歳以上（年長層）</c:v>
                </c:pt>
              </c:strCache>
            </c:strRef>
          </c:tx>
          <c:spPr>
            <a:solidFill>
              <a:srgbClr val="9AA6B8"/>
            </a:solidFill>
            <a:ln w="38100" cap="flat">
              <a:solidFill>
                <a:srgbClr val="9AA6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6B8"/>
              </a:solidFill>
              <a:ln w="9525" cap="flat">
                <a:solidFill>
                  <a:srgbClr val="9AA6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2022末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102</c:v>
                </c:pt>
                <c:pt idx="2">
                  <c:v>104</c:v>
                </c:pt>
                <c:pt idx="3">
                  <c:v>105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7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70"/>
        </c:scaling>
        <c:delete val="0"/>
        <c:axPos val="l"/>
        <c:majorGridlines>
          <c:spPr>
            <a:ln w="12700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75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D475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430"/>
                </a:solidFill>
                <a:latin typeface="Calibri"/>
              </a:rPr>
              <a:t>生成AIの利用・活用率の国際比較（%）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個人の生成AI利用経験率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D475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日本</c:v>
                  </c:pt>
                  <c:pt idx="1">
                    <c:v>米国</c:v>
                  </c:pt>
                  <c:pt idx="2">
                    <c:v>ドイツ</c:v>
                  </c:pt>
                  <c:pt idx="3">
                    <c:v>中国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26.7</c:v>
                </c:pt>
                <c:pt idx="1">
                  <c:v>68.8</c:v>
                </c:pt>
                <c:pt idx="2">
                  <c:v>59.2</c:v>
                </c:pt>
                <c:pt idx="3">
                  <c:v>81.2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企業の活用方針あり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D475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日本</c:v>
                  </c:pt>
                  <c:pt idx="1">
                    <c:v>米国</c:v>
                  </c:pt>
                  <c:pt idx="2">
                    <c:v>ドイツ</c:v>
                  </c:pt>
                  <c:pt idx="3">
                    <c:v>中国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49.7</c:v>
                </c:pt>
                <c:pt idx="1">
                  <c:v>84.8</c:v>
                </c:pt>
                <c:pt idx="2">
                  <c:v>76.4</c:v>
                </c:pt>
                <c:pt idx="3">
                  <c:v>92.8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D475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75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D475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430"/>
                </a:solidFill>
                <a:latin typeface="Calibri"/>
              </a:rPr>
              <a:t>日本の生産年齢人口の見通し（万人）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生産年齢人口(15-64歳)</c:v>
                </c:pt>
              </c:strCache>
            </c:strRef>
          </c:tx>
          <c:spPr>
            <a:solidFill>
              <a:srgbClr val="C9871F"/>
            </a:solidFill>
            <a:ln w="38100" cap="flat">
              <a:solidFill>
                <a:srgbClr val="C987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9871F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9871F"/>
              </a:solidFill>
              <a:ln w="9525" cap="flat">
                <a:solidFill>
                  <a:srgbClr val="C987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2032</c:v>
                  </c:pt>
                  <c:pt idx="2">
                    <c:v>2043</c:v>
                  </c:pt>
                  <c:pt idx="3">
                    <c:v>2050</c:v>
                  </c:pt>
                  <c:pt idx="4">
                    <c:v>2062</c:v>
                  </c:pt>
                  <c:pt idx="5">
                    <c:v>2070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7509</c:v>
                </c:pt>
                <c:pt idx="1">
                  <c:v>7000</c:v>
                </c:pt>
                <c:pt idx="2">
                  <c:v>6000</c:v>
                </c:pt>
                <c:pt idx="3">
                  <c:v>5540</c:v>
                </c:pt>
                <c:pt idx="4">
                  <c:v>5000</c:v>
                </c:pt>
                <c:pt idx="5">
                  <c:v>4535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C9871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"/>
          <c:min val="4000"/>
        </c:scaling>
        <c:delete val="0"/>
        <c:axPos val="l"/>
        <c:majorGridlines>
          <c:spPr>
            <a:ln w="12700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475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035040" cy="603504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206240" cy="4206240"/>
          </a:xfrm>
          <a:prstGeom prst="ellipse">
            <a:avLst/>
          </a:prstGeom>
          <a:solidFill>
            <a:srgbClr val="1F305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東京ビッグハウス株式会社  ／  採用説明資料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AI時代に、なぜ</a:t>
            </a:r>
            <a:pPr algn="l"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“人の営業”</a:t>
            </a:r>
            <a:pPr algn="l"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の</a:t>
            </a:r>
            <a:endParaRPr lang="en-US" sz="5200" dirty="0"/>
          </a:p>
          <a:p>
            <a:pPr algn="l"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価値が上がるのか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4297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― データで考える、住宅営業という仕事の10年後 ―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172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本資料の数字はすべて出典付き（末尾一覧）。社内数値は2026年7月時点の実績・公表値。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VOICE ／ まず、正直に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「AIで仕事、なくなるかも」その不安は正しい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就活生のあなたが</a:t>
            </a:r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AIと仕事の関係を意識するのは、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むしろ当然です。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3063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この資料は、その不安に“会社の宣伝”ではなく「事実」で向き合うために作りました。まず、いまの学生のリアルなデータから。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53949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出典：マイナビキャリアリサーチLab「2027年卒 大学生キャリア意向調査（AI利用）」2026年5月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691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84.9%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006840" y="1691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の27卒が就活でAIを利用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（前年比 +18ポイント）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365760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794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11.4%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006840" y="3794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が「AIに代替されにくい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業界・職種を選ぶようになった」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と回答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／ 作り手たちの警告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AIを“作っている当事者”が、こう言っている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5623560" cy="4160520"/>
          </a:xfrm>
          <a:prstGeom prst="roundRect">
            <a:avLst>
              <a:gd name="adj" fmla="val 197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783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Anthropic（Claude開発元）CEO　ダリオ・アモデイ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19456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「AIは今後1〜5年で、
</a:t>
            </a:r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エントリーレベルの
ホワイトカラー職の“半分”
</a:t>
            </a:r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を消し得る。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失業率は10〜20%になり得る」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32688" y="48006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金融・法律・コンサル・ITの初級職を名指し。“技術の作り手には、何が来るのかを正直に語る義務がある”（2025年）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508760"/>
            <a:ext cx="517550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39128" y="1618488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/ 60%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778240" y="1636776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世界の雇用がAIの影響下に。先進国は約60%（＝日本も含む）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78240" y="24963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IMF, 2024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46520" y="2935224"/>
            <a:ext cx="5175504" cy="1298448"/>
          </a:xfrm>
          <a:prstGeom prst="roundRect">
            <a:avLst>
              <a:gd name="adj" fmla="val 6338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39128" y="3044952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9,200万件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78240" y="3063240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が2030年までに消失。1.7億件が新たに生まれる裏で“大転換”が起きる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0" y="392277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Future of Jobs 2025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4361688"/>
            <a:ext cx="5175504" cy="1298448"/>
          </a:xfrm>
          <a:prstGeom prst="roundRect">
            <a:avLst>
              <a:gd name="adj" fmla="val 6338"/>
            </a:avLst>
          </a:prstGeom>
          <a:solidFill>
            <a:srgbClr val="F7EBE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4471416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5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“全員”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778240" y="4489704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「単調な知的労働は、AIが全員を置き換える」― J.ヒントン（ノーベル賞・AIのゴッドファーザー）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78240" y="534924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報道, 2024-25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出典：Axios(D.アモデイ,2025) ／ IMF(2024) ／ WEF Future of Jobs 2025 ／ 報道(G.ヒントン)。数値は“影響・〜し得る”であり確定した消滅数ではない。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 ／ 米国の現実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「予測」ではない。米国では“若手から”減り始めた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5623560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49808" y="1709928"/>
          <a:ext cx="5257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95528" y="41513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※模式図：スタンフォード大論文の報告値（若手はピーク比約20%減・年長層は安定〜微増）をもとに作成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82512" y="1572768"/>
            <a:ext cx="5230368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56832" y="16459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348472" y="1645920"/>
            <a:ext cx="2990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AIに晒されやすい職種で22〜25歳の雇用が“相対的に”減少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スタンフォード大, 2025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82512" y="2542032"/>
            <a:ext cx="5230368" cy="859536"/>
          </a:xfrm>
          <a:prstGeom prst="roundRect">
            <a:avLst>
              <a:gd name="adj" fmla="val 9574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56832" y="261518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348472" y="2615184"/>
            <a:ext cx="2990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米・新卒(22〜27歳)の失業率。全体(約4%)を上回る“歴史的逆転”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NY連銀, 2026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82512" y="3511296"/>
            <a:ext cx="5230368" cy="859536"/>
          </a:xfrm>
          <a:prstGeom prst="roundRect">
            <a:avLst>
              <a:gd name="adj" fmla="val 9574"/>
            </a:avLst>
          </a:prstGeom>
          <a:solidFill>
            <a:srgbClr val="F7EBE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56832" y="358444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5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14,000人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48472" y="3584448"/>
            <a:ext cx="2990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Amazonが削減。CEO「AIで、今より少ない人数で仕事が回る」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Forbes/CNBC, 2025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4553712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78408" y="46817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最初に消えたのは、“経験の浅い若手が最初に任される定型業務”。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78408" y="5120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データ入力・一次リサーチ・下書き…AIは“新人の仕事”から置き換える。米国で最も打撃を受けているのは20代前半。“炭鉱のカナリア”は、若者だった。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出典：Stanford Digital Economy Lab「Canaries in the Coal Mine?」2025 ／ NY連銀 ／ Forbes/CNBC。※因果をAIと断定はできない（景気要因も併存）。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／ 時間差はある、しかし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日本で危機が“遅れて”見えるのは、少子高齢化のせい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E9F1F4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16824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なぜ“遅れて”見えるか ― 時間の猶予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32688" y="22402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1305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2040年に約1,100万人の労働供給不足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3288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だからAIは“失業”でなく“省人化”として歓迎される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" y="341071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30098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終身・メンバーシップ型雇用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職務をAIが代替しても別職務へ移れ、失業として表面化しにくい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0488" y="1481328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0528" y="16824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なぜ“確実に”来るか ― 不可逆のトレンド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56248" y="2203704"/>
            <a:ext cx="146304" cy="146304"/>
          </a:xfrm>
          <a:prstGeom prst="ellipse">
            <a:avLst/>
          </a:prstGeom>
          <a:solidFill>
            <a:srgbClr val="C9871F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0939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生成AI利用率：日本26.7% / 米68.8% / 中81.2%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2423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各国は急伸中。日本が追いつくのは時間の問題（→次頁）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56248" y="3026664"/>
            <a:ext cx="146304" cy="146304"/>
          </a:xfrm>
          <a:prstGeom prst="ellipse">
            <a:avLst/>
          </a:prstGeom>
          <a:solidFill>
            <a:srgbClr val="C9871F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291693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事務職の需要 約▲42%・販売 約▲26%（2050年）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3246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AI導入の遅れは一時的でも、需要減は“構造的”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56248" y="3849624"/>
            <a:ext cx="146304" cy="146304"/>
          </a:xfrm>
          <a:prstGeom prst="ellipse">
            <a:avLst/>
          </a:prstGeom>
          <a:solidFill>
            <a:srgbClr val="C9871F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73989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生産年齢人口 7,509万→5,540万人（2020→2050）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40690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働き手そのものが約▲26%。若者はさらに希少に（→次頁）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864608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8408" y="4864608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猶予があるうちに </a:t>
            </a:r>
            <a:pPr algn="l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“AIに代替されない力”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を身につけた人だけが、次の10年で強い。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出典：リクルートワークス研究所「未来予測2040」／総務省「情報通信白書」令和7年版／経産省「未来人材ビジョン」／社人研 令和5年推計。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IN NUMBERS ／ 数字で見る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“追いつく”のは時間の問題。そして、働き手は減り続ける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54864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49808" y="1709928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41248" y="50474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日本だけが低い＝“まだ来ていない”だけ。各国は前年から急伸しており、このギャップは必ず埋まる。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27648" y="1572768"/>
            <a:ext cx="5285232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graphicFrame>
        <p:nvGraphicFramePr>
          <p:cNvPr id="10" name="Chart 1" descr=""/>
          <p:cNvGraphicFramePr/>
          <p:nvPr/>
        </p:nvGraphicFramePr>
        <p:xfrm>
          <a:off x="6510528" y="1709928"/>
          <a:ext cx="491947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601968" y="5047488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2050年に▲26%。若者は“希少”になるが、AIが定型業務を担えば「定型しかできない若手」の価値は上がらない。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6928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問われるのは「若いこと」ではなく「AIに代替されない力を持つ若手かどうか」。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出典：総務省「情報通信白書」令和7年版(2024年度調査) ／ 国立社会保障・人口問題研究所「将来推計人口(令和5年推計)」出生中位。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／ 何が消えて、何が残るか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では、AIに“残る”のはどんな仕事か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分かれ目は「職業名」ではなく仕事の中身が「定型」か「創造性・信頼・交渉を要する対人」か。ここに、危機を“チャンス”に変える鍵がある。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267712"/>
            <a:ext cx="544068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2267712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B3524C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551176"/>
            <a:ext cx="5440680" cy="283464"/>
          </a:xfrm>
          <a:prstGeom prst="rect">
            <a:avLst/>
          </a:prstGeom>
          <a:solidFill>
            <a:srgbClr val="B3524C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6771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AIに代替されやすい（高リスク）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テレアポ／電話勧誘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1688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3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代替確率 0.99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6968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レジ・定型販売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61688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3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6968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小売販売員（定型接客）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61688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3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6968" y="4754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定型的な事務・データ入力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61688" y="4754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3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高リスク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0488" y="2267712"/>
            <a:ext cx="544068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0488" y="2267712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2E7D57"/>
          </a:solidFill>
          <a:ln/>
        </p:spPr>
      </p:sp>
      <p:sp>
        <p:nvSpPr>
          <p:cNvPr id="21" name="Shape 19"/>
          <p:cNvSpPr/>
          <p:nvPr/>
        </p:nvSpPr>
        <p:spPr>
          <a:xfrm>
            <a:off x="6190488" y="2551176"/>
            <a:ext cx="5440680" cy="283464"/>
          </a:xfrm>
          <a:prstGeom prst="rect">
            <a:avLst/>
          </a:prstGeom>
          <a:solidFill>
            <a:srgbClr val="2E7D57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226771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残る＝価値が上がる（低リスク）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0528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創造性・提案力を要する仕事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0528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社会的知性・信頼構築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10528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交渉・折衝を伴う対人商談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10528" y="4754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＝住宅の高額・対面コンサル営業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305288" y="4754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★当社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出典：Frey &amp; Osborne (2013) / 野村総合研究所×オックスフォード大学 (2015)。確率は米国O*NETベース・要現物確認。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／ 伸びる力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AI時代に“需要が伸びるスキル”の上位は、営業の力そのもの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5361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世界経済フォーラム『Future of Jobs 2025』が挙げる“いま最重要の中核スキル”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リーダーシップ・社会的影響力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38928" y="22860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4960" cy="201168"/>
          </a:xfrm>
          <a:prstGeom prst="roundRect">
            <a:avLst>
              <a:gd name="adj" fmla="val 50000"/>
            </a:avLst>
          </a:prstGeom>
          <a:solidFill>
            <a:srgbClr val="DCE3EC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2615184"/>
            <a:ext cx="4639666" cy="20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1272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共感と傾聴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38928" y="3127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456432"/>
            <a:ext cx="5394960" cy="201168"/>
          </a:xfrm>
          <a:prstGeom prst="roundRect">
            <a:avLst>
              <a:gd name="adj" fmla="val 50000"/>
            </a:avLst>
          </a:prstGeom>
          <a:solidFill>
            <a:srgbClr val="DCE3EC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456432"/>
            <a:ext cx="3884371" cy="20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9684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サービス志向・顧客対応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38928" y="39684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297680"/>
            <a:ext cx="5394960" cy="201168"/>
          </a:xfrm>
          <a:prstGeom prst="roundRect">
            <a:avLst>
              <a:gd name="adj" fmla="val 50000"/>
            </a:avLst>
          </a:prstGeom>
          <a:solidFill>
            <a:srgbClr val="DCE3EC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4297680"/>
            <a:ext cx="3398825" cy="20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8097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レジリエンス・柔軟性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38928" y="48097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138928"/>
            <a:ext cx="5394960" cy="201168"/>
          </a:xfrm>
          <a:prstGeom prst="roundRect">
            <a:avLst>
              <a:gd name="adj" fmla="val 50000"/>
            </a:avLst>
          </a:prstGeom>
          <a:solidFill>
            <a:srgbClr val="DCE3EC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5138928"/>
            <a:ext cx="4855464" cy="20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5080" y="1874520"/>
            <a:ext cx="5257800" cy="3840480"/>
          </a:xfrm>
          <a:prstGeom prst="roundRect">
            <a:avLst>
              <a:gd name="adj" fmla="val 2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2103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いまのAIが“届いていない”領域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25146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AI利用は「コンピュータ・数学」タスクに集中。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身体・対面・関係性を要する仕事の利用は極端に低い。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34290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</a:t>
            </a:r>
            <a:pPr indent="0" marL="0">
              <a:lnSpc>
                <a:spcPts val="2400"/>
              </a:lnSpc>
              <a:buNone/>
            </a:pPr>
            <a:r>
              <a:rPr lang="en-US" sz="17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信頼構築や人間関係のマネジメントは、AIが再現しにくい</a:t>
            </a:r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」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720840" y="47091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― Anthropic Economic Index / OpenAI「GPTs are GPTs」より（対人・身体を伴う仕事ほどAIの影響・利用が小さい）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出典：WEF Future of Jobs Report 2025 ／ Anthropic Economic Index (2025-) ／ OpenAI (2023)。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／ 事業の土台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住宅は“人生最大の買い物”。だから最後は人に相談する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約2.2倍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販売職の有効求人倍率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172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全職種平均1.2倍の約2倍＝人材の希少性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0288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12万人超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9028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東京圏への転入超過（2025年）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3172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当社商圏に人と世帯が集まり続ける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39328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E7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約55%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33932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注文住宅の事業者選択理由 第1位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3172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「信頼できる住宅メーカー／不動産業者」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02336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8408" y="4206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情報収集は「ネット」。でも最終判断は「人（担当者）」。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78408" y="47091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数千万円・一生に一度・一件ごとに条件が違う買い物では、AIやネットで調べ尽くした人ほど、最後は「この人から買いたい」で決める。この“決めさせる力”こそ住宅営業の中核価値。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出典：厚労省 一般職業紹介状況 ／ 総務省 住民基本台帳人口移動報告2025 ／ 国交省 住宅市場動向調査 令和6年度。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WAY ／ AIは敵ではなく武器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AIが“雑務”を巻き取り、人は「商談」に集中する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営業担当者が実際に「売る」ことに使えている時間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DCE3EC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57400"/>
            <a:ext cx="4425696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057400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売る時間 40%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21224" y="2057400"/>
            <a:ext cx="6272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 60% ＝ 事務・データ入力・社内会議など“非営業業務”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4290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-34% / -36%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41248" y="41422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AIで見込み客リサーチ・メール作成の時間を削減できると営業が期待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5968" y="34290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90288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90288" y="41422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国内営業が顧客対応に使えている業務時間。「もっと商談に時間を使いたい」が本音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65008" y="34290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9328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当社の取り組み：営業を“商談に集中”させる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9328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反響の一次対応を専任チーム化（2026年 インサイドセールス職を新設）し、外勤営業は商談・クロージングに集中する分業体制へ。AIツールの活用実例は説明会でご紹介。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AIは営業を“消す”のではなく、営業から“雑務を消す”。空いた時間はすべて、人にしかできない商談と信頼構築へ。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出典：Salesforce「State of Sales」第7版(2026) ／ HubSpot「日本の営業実態調査」2024 ／ 社内：第21期営業人員計画。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GAIN ／ あなたが得るもの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AI時代に価値が上がる力を、稼ぎながら身につける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報酬：若いうちから、正当に稼げる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2860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20代で年収 </a:t>
            </a:r>
            <a:pPr indent="0" marL="0">
              <a:buNone/>
            </a:pPr>
            <a:r>
              <a:rPr lang="en-US" sz="26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1,000万円</a:t>
            </a:r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の実例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6968" y="28803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営業メンバー平均年収750万円以上・平均年齢27歳。1年目からの主任登用実績あり（数値は媒体公表値・実績ベース）。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0488" y="16002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0528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成長：ゼロから、体系的に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22860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未経験入社 </a:t>
            </a:r>
            <a:pPr indent="0" marL="0">
              <a:buNone/>
            </a:pPr>
            <a:r>
              <a:rPr lang="en-US" sz="2600" b="1" dirty="0">
                <a:solidFill>
                  <a:srgbClr val="2E7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10528" y="28803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入社後90日の立ち上げプログラム＋直属上司以外のメンター制。対人折衝・交渉・信頼構築（7章の“伸びるスキル”）を毎日鍛える。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79476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78408" y="3977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ここで身につく力は、会社を越えて価値が上がり続ける“個人資産”。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78408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対人折衝・交渉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30168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課題発見・提案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81928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信頼構築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33688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レジリエンス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※給与は実績ベース（平均とトップ層を明確に区分して説明します）。制度は2026年7月時点。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／ 正直であること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第三者評価と、きつい部分の“正直な開示”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9F1F4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第三者評価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2286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働きがいのある会社ランキング
</a:t>
            </a:r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7年連続入賞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6968" y="3337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（100名以上部門・実績）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164592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0528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正直に言う、きつい部分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0528" y="2267712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直近1年の営業離職率は約24%。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成果主義で、立ち上がり期は大変です。だから、90日立ち上げプログラム・直属外メンター・初年度は歩合ゼロの月でも調整手当で下支えし、離職率15%以下へ改善に取り組んでいます。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4069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数字を盛らない。ネガも隠さない。</a:t>
            </a:r>
            <a:pPr algn="ctr"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3D4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　― それが、口コミの時代にいちばん強い採用ブランドだから。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口コミサイト（OpenWork等）もぜひ見比べてください。良い点も課題も、面接で率直にお答えします。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社内数値：2026年7月時点の実績（第21期 営業人員計画より）。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108960"/>
            <a:ext cx="5852160" cy="585216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AIは確実に来る。だから、AIに奪われない場所を選ぶ。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08176" y="16276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AIに残るのは創造性・信頼・交渉を要する対人業務。住宅の高額対面コンサル営業はその中核。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66928" y="267004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70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08176" y="25603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当社はAIを“武器”として使う側。AIが雑務を巻き取り、人は商談と信頼構築に集中する。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66928" y="360273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602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08176" y="349300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だからここで得る力（対人折衝・交渉・信頼構築）は、AI時代に価値が上がり続ける個人資産になる。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66928" y="47548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24128" y="475488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まずは、話を聞きに来ませんか。</a:t>
            </a:r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3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　応募当日連絡・現場同行あり・最短1週間で内定。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出典一覧（掲載前に原典を目視確認すること）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マイナビキャリアリサーチLab「2027年卒 大学生キャリア意向調査（AI利用）」2026年5月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Axios「A white-collar bloodbath」（D.アモデイ発言）2025年5月 ／ IMF「Gen-AI and the Future of Work」2024年1月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Economic Forum「Future of Jobs Report 2025」2025年1月 ／ Goldman Sachs 2023 ／ McKinsey・OECD 2023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Digital Economy Lab「Canaries in the Coal Mine?」2025年8月（Brynjolfsson et al.）※3章のグラフは論文報告値の模式図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NY連銀「The Labor Market for Recent College Graduates」2026 ／ Challenger 2025 ／ Forbes・CNBC（Amazon/Microsoft）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 &amp; Osborne (2013) ／ 野村総合研究所×オックスフォード大学 (2015)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Economic Index (2025-) ／ OpenAI「GPTs are GPTs」(2023)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Salesforce「State of Sales」第7版, 2026 ／ HubSpot「日本の営業実態調査」2024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リクルートワークス研究所「未来予測2040」2023 ／ 総務省「情報通信白書」令和7年版（2024年度調査）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国立社会保障・人口問題研究所「将来推計人口（令和5年推計）」出生中位 ／ 経済産業省「未来人材ビジョン」2022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厚生労働省「一般職業紹介状況」／ 総務省「住民基本台帳人口移動報告2025」／ 国交省「住宅市場動向調査 令和6年度」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社内数値：東京ビッグハウス 第21期営業人員計画・採用媒体公表値（2026年7月時点）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注：外部データは検索結果の一次ソース引用に基づく。確定時に各原典URLで数値・調査年・母数を最終確認。数値の多くは“影響／〜し得る”であり確定した消滅数ではない点に留意。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AI時代の営業職採用説明資料（学生向け）</dc:title>
  <dc:subject>PptxGenJS Presentation</dc:subject>
  <dc:creator>Tokyo Big House</dc:creator>
  <cp:lastModifiedBy>Tokyo Big House</cp:lastModifiedBy>
  <cp:revision>1</cp:revision>
  <dcterms:created xsi:type="dcterms:W3CDTF">2026-07-23T21:29:25Z</dcterms:created>
  <dcterms:modified xsi:type="dcterms:W3CDTF">2026-07-23T21:29:25Z</dcterms:modified>
</cp:coreProperties>
</file>